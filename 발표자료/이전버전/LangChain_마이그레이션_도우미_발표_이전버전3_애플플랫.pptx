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~ 0:40]</a:t>
            </a:r>
          </a:p>
          <a:p>
            <a:r>
              <a:t>훅: ChatGPT가 짜 준 코드, 그대로 실행해 보신 적 있으신가요?</a:t>
            </a:r>
          </a:p>
          <a:p/>
          <a:p>
            <a:r>
              <a:t>안녕하세요, 4팀 발표를 맡은 [이름]입니다.</a:t>
            </a:r>
          </a:p>
          <a:p>
            <a:r>
              <a:t>시작하기 전에 하나 여쭤보겠습니다.</a:t>
            </a:r>
          </a:p>
          <a:p>
            <a:r>
              <a:t>ChatGPT가 짜 준 코드, 그대로 실행해 보신 적 있으신가요?</a:t>
            </a:r>
          </a:p>
          <a:p>
            <a:r>
              <a:t>(잠깐 멈춤)</a:t>
            </a:r>
          </a:p>
          <a:p>
            <a:r>
              <a:t>잘 돌아가면 다행인데요. 라이브러리 코드는 그렇지 않은 경우가 많습니다.</a:t>
            </a:r>
          </a:p>
          <a:p>
            <a:r>
              <a:t>오늘은 LLM이 준 코드를 믿어도 되는지에 대한 이야기입니다.</a:t>
            </a:r>
          </a:p>
          <a:p/>
          <a:p>
            <a:r>
              <a:t>→ 넘기는 말: 제가 실제로 받아 본 코드를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 ~ 1:30]</a:t>
            </a:r>
          </a:p>
          <a:p>
            <a:r>
              <a:t>훅: 첫 줄부터 에러입니다.</a:t>
            </a:r>
          </a:p>
          <a:p/>
          <a:p>
            <a:r>
              <a:t>LLM에게 LangChain 코드를 부탁하면 이런 코드를 줍니다.</a:t>
            </a:r>
          </a:p>
          <a:p>
            <a:r>
              <a:t>최신 LangChain에서 실행하면, 첫 줄부터 에러입니다.</a:t>
            </a:r>
          </a:p>
          <a:p>
            <a:r>
              <a:t>LangChain이 1.0에서 패키지를 나누고, 자주 쓰던 LLMChain 같은 기능을 뺐기 때문입니다.</a:t>
            </a:r>
          </a:p>
          <a:p>
            <a:r>
              <a:t>코드는 맞아 보이는데, 지금은 돌아가지 않는 코드입니다.</a:t>
            </a:r>
          </a:p>
          <a:p/>
          <a:p>
            <a:r>
              <a:t>→ 넘기는 말: 이게 저만 겪는 문제일까요?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~ 2:30]</a:t>
            </a:r>
          </a:p>
          <a:p>
            <a:r>
              <a:t>훅: 열 번 중 여섯 번은 실패합니다.</a:t>
            </a:r>
          </a:p>
          <a:p/>
          <a:p>
            <a:r>
              <a:t>연구 결과를 보면, 문서가 부족할 때 LLM이 만든 코드는 42%만 목표 버전에서 돌아갑니다.</a:t>
            </a:r>
          </a:p>
          <a:p>
            <a:r>
              <a:t>문서를 줘도 66% 정도입니다.</a:t>
            </a:r>
          </a:p>
          <a:p>
            <a:r>
              <a:t>이유는 학습 데이터에 있습니다. 인터넷 코드 대부분이 옛 버전이라, LLM은 옛 방식을 답합니다.</a:t>
            </a:r>
          </a:p>
          <a:p>
            <a:r>
              <a:t>이걸 '버전 지체 환각'이라고 부릅니다.</a:t>
            </a:r>
          </a:p>
          <a:p/>
          <a:p>
            <a:r>
              <a:t>→ 넘기는 말: 그런데 진짜 문제는 따로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 ~ 3:00]</a:t>
            </a:r>
          </a:p>
          <a:p>
            <a:r>
              <a:t>훅: LLM은 자기 답이 틀렸다는 걸 모릅니다.</a:t>
            </a:r>
          </a:p>
          <a:p/>
          <a:p>
            <a:r>
              <a:t>LLM은 자기 답이 틀렸다는 걸 모릅니다.</a:t>
            </a:r>
          </a:p>
          <a:p>
            <a:r>
              <a:t>그래서 틀린 코드를 자신 있게 줍니다.</a:t>
            </a:r>
          </a:p>
          <a:p>
            <a:r>
              <a:t>결국 개발자가 에러를 하나씩 검색하며 고쳐야 합니다.</a:t>
            </a:r>
          </a:p>
          <a:p/>
          <a:p>
            <a:r>
              <a:t>→ 넘기는 말: 그래서 저희는 두 가지를 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 ~ 3:50]</a:t>
            </a:r>
          </a:p>
          <a:p>
            <a:r>
              <a:t>훅: 근거, 그리고 검사. 이 두 가지가 전부입니다.</a:t>
            </a:r>
          </a:p>
          <a:p/>
          <a:p>
            <a:r>
              <a:t>첫째, 기억이 아니라 근거로 고칩니다. 옛 경로와 새 경로를 잇는 대응표, 그리고 최신 공식 문서를 보고 고칩니다.</a:t>
            </a:r>
          </a:p>
          <a:p>
            <a:r>
              <a:t>둘째, 고친 코드를 검사합니다. 틀리면 이유를 들고 다시 고칩니다.</a:t>
            </a:r>
          </a:p>
          <a:p>
            <a:r>
              <a:t>근거, 그리고 검사. 이 두 가지가 저희 챗봇의 전부입니다.</a:t>
            </a:r>
          </a:p>
          <a:p/>
          <a:p>
            <a:r>
              <a:t>→ 넘기는 말: 이 두 가지가 어떻게 이어지는지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[3:50 ~ 5:00]</a:t>
            </a:r>
          </a:p>
          <a:p>
            <a:r>
              <a:t>훅: 검사에 실패하면, 이유를 들고 다시 찾습니다.</a:t>
            </a:r>
          </a:p>
          <a:p/>
          <a:p>
            <a:r>
              <a:t>흐름은 네 단계입니다.</a:t>
            </a:r>
          </a:p>
          <a:p>
            <a:r>
              <a:t>먼저 바꿀 곳을 찾고, 근거를 찾고, 그 근거로 고치고, 마지막에 검사합니다.</a:t>
            </a:r>
          </a:p>
          <a:p>
            <a:r>
              <a:t>검사에 실패하면 실패 이유를 들고 다시 근거를 찾습니다. 이때 틀렸던 근거는 빼고 찾습니다. 최대 세 번입니다.</a:t>
            </a:r>
          </a:p>
          <a:p>
            <a:r>
              <a:t>이 단계들을 LangGraph로 잇는 일은 1번이 맡았습니다.</a:t>
            </a:r>
          </a:p>
          <a:p/>
          <a:p>
            <a:r>
              <a:t>→ 넘기는 말: 그럼 근거는 어디서 올까요?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 ~ 6:00]</a:t>
            </a:r>
          </a:p>
          <a:p>
            <a:r>
              <a:t>훅: 옛 경로와 새 경로를 잇는 대응표가 9,155줄입니다.</a:t>
            </a:r>
          </a:p>
          <a:p/>
          <a:p>
            <a:r>
              <a:t>근거는 2번이 만들었습니다.</a:t>
            </a:r>
          </a:p>
          <a:p>
            <a:r>
              <a:t>옛 import 경로를 새 경로로 잇는 대응표가 9,155줄입니다.</a:t>
            </a:r>
          </a:p>
          <a:p>
            <a:r>
              <a:t>여기에 공식 문서 295개를 잘게 나눠, 필요한 부분을 바로 찾을 수 있게 했습니다.</a:t>
            </a:r>
          </a:p>
          <a:p>
            <a:r>
              <a:t>그리고 바뀐 줄마다 어떤 근거를 썼는지 ID가 붙습니다. 나중에 왜 이렇게 바꿨는지 따라갈 수 있습니다.</a:t>
            </a:r>
          </a:p>
          <a:p/>
          <a:p>
            <a:r>
              <a:t>→ 넘기는 말: 근거로 고친 코드, 이제 검사합니다.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[6:00 ~ 7:00]</a:t>
            </a:r>
          </a:p>
          <a:p>
            <a:r>
              <a:t>훅: 검사에는 LLM을 쓰지 않습니다.</a:t>
            </a:r>
          </a:p>
          <a:p/>
          <a:p>
            <a:r>
              <a:t>검사는 3번이 만들었습니다. 모두 11가지인데, LLM을 쓰지 않습니다.</a:t>
            </a:r>
          </a:p>
          <a:p>
            <a:r>
              <a:t>이유는 간단합니다. 검사하는 LLM도 같은 옛 지식을 갖고 있기 때문입니다.</a:t>
            </a:r>
          </a:p>
          <a:p>
            <a:r>
              <a:t>그래서 코드로 확인합니다. 새 경로가 정말 있는지, 근거 없이 바뀐 줄은 없는지, 결과 모양이 그대로인지 봅니다.</a:t>
            </a:r>
          </a:p>
          <a:p>
            <a:r>
              <a:t>근거 없이 바뀐 줄은 곧 환각이라서, 바로 걸러 냅니다.</a:t>
            </a:r>
          </a:p>
          <a:p/>
          <a:p>
            <a:r>
              <a:t>→ 넘기는 말: 이 결과를 사용자는 어떻게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[7:00 ~ 8:00]</a:t>
            </a:r>
          </a:p>
          <a:p>
            <a:r>
              <a:t>훅: 코드를 넣고, 말로 부탁하면 됩니다.</a:t>
            </a:r>
          </a:p>
          <a:p/>
          <a:p>
            <a:r>
              <a:t>제가 맡은 화면입니다.</a:t>
            </a:r>
          </a:p>
          <a:p>
            <a:r>
              <a:t>코드를 넣고 '0.2로 되돌려 줘'처럼 말로 부탁하면 됩니다. 버전을 적지 않으면 최신으로 바꿉니다.</a:t>
            </a:r>
          </a:p>
          <a:p>
            <a:r>
              <a:t>기다리는 동안 지금 어느 단계인지, 검사에서 떨어져 다시 고치는 중인지가 실시간으로 보입니다.</a:t>
            </a:r>
          </a:p>
          <a:p>
            <a:r>
              <a:t>결과가 나오면 지운 줄은 빨강, 새 줄은 초록으로 보이고, 근거와 11가지 검사 결과도 탭으로 볼 수 있습니다.</a:t>
            </a:r>
          </a:p>
          <a:p>
            <a:r>
              <a:t>대화는 TiDB에 저장돼서, 언제든 다시 열어 볼 수 있습니다.</a:t>
            </a:r>
          </a:p>
          <a:p/>
          <a:p>
            <a:r>
              <a:t>→ 넘기는 말: 실제로 돌려 본 결과를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[8:00 ~ 9:10]</a:t>
            </a:r>
          </a:p>
          <a:p>
            <a:r>
              <a:t>훅: 처음 두 번은 떨어지고, 세 번째에 통과했습니다.</a:t>
            </a:r>
          </a:p>
          <a:p/>
          <a:p>
            <a:r>
              <a:t>어제 실제로 돌려 본 결과입니다.</a:t>
            </a:r>
          </a:p>
          <a:p>
            <a:r>
              <a:t>왼쪽은 예전 방식의 LLMChain 코드입니다. 오른쪽처럼 최신 방식으로 바뀌었습니다.</a:t>
            </a:r>
          </a:p>
          <a:p>
            <a:r>
              <a:t>중요한 건 과정입니다. 처음 두 번은 검사에 걸렸고, 실패 이유를 들고 다시 고쳐서 세 번째에 통과했습니다.</a:t>
            </a:r>
          </a:p>
          <a:p>
            <a:r>
              <a:t>바뀐 여섯 줄 모두 근거가 붙었습니다. 같은 코드를 두 번 돌렸고, 두 번 모두 세 번째에 통과했습니다.</a:t>
            </a:r>
          </a:p>
          <a:p/>
          <a:p>
            <a:r>
              <a:t>→ 넘기는 말: 그럼 일반 LLM보다 얼마나 나을까요?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[9:10 ~ 10:00]</a:t>
            </a:r>
          </a:p>
          <a:p>
            <a:r>
              <a:t>훅: 같은 질문, 같은 모델, 같은 채점으로 비교했습니다.</a:t>
            </a:r>
          </a:p>
          <a:p/>
          <a:p>
            <a:r>
              <a:t>일반 LLM과 비교하려고, 실제 사용자가 보낼 법한 질문 30개를 만들었습니다.</a:t>
            </a:r>
          </a:p>
          <a:p>
            <a:r>
              <a:t>요청 문장과 옛 코드가 함께 들어 있고, 열 가지 유형을 세 개씩 담았습니다.</a:t>
            </a:r>
          </a:p>
          <a:p>
            <a:r>
              <a:t>30개 모두 최신 버전에서 실제로 깨지는 코드인지 미리 확인했습니다.</a:t>
            </a:r>
          </a:p>
          <a:p>
            <a:r>
              <a:t>비교는 공정하게 했습니다. 같은 질문, 같은 모델, 같은 채점 기준입니다.</a:t>
            </a:r>
          </a:p>
          <a:p/>
          <a:p>
            <a:r>
              <a:t>→ 넘기는 말: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~ 11:00]</a:t>
            </a:r>
          </a:p>
          <a:p>
            <a:r>
              <a:t>훅: [결과 한 문장: 예) 일반 LLM의 [__]배입니다]</a:t>
            </a:r>
          </a:p>
          <a:p/>
          <a:p>
            <a:r>
              <a:t>[실험 결과가 나오면 채워 주세요]</a:t>
            </a:r>
          </a:p>
          <a:p>
            <a:r>
              <a:t>일반 LLM은 [__]%, 저희 챗봇은 [__]%였습니다.</a:t>
            </a:r>
          </a:p>
          <a:p>
            <a:r>
              <a:t>특히 [__] 유형에서 차이가 가장 컸습니다.</a:t>
            </a:r>
          </a:p>
          <a:p>
            <a:r>
              <a:t>다시 고치는 과정 덕분에, 첫 시도 [__]%에서 [__]%까지 올라갔습니다.</a:t>
            </a:r>
          </a:p>
          <a:p/>
          <a:p>
            <a:r>
              <a:t>→ 넘기는 말: 물론 한계도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[11:00 ~ 12:10]</a:t>
            </a:r>
          </a:p>
          <a:p>
            <a:r>
              <a:t>훅: 검사를 통과했다고, 정답은 아닙니다.</a:t>
            </a:r>
          </a:p>
          <a:p/>
          <a:p>
            <a:r>
              <a:t>한계도 분명히 말씀드리겠습니다.</a:t>
            </a:r>
          </a:p>
          <a:p>
            <a:r>
              <a:t>검사를 통과했다고 정답은 아닙니다. 지금은 코드를 검사할 뿐, 실제로 실행한 결과가 맞는지는 아직 보지 않습니다.</a:t>
            </a:r>
          </a:p>
          <a:p>
            <a:r>
              <a:t>또 검사하고 다시 고치느라, 한 번 바꾸는 데 1분 정도 걸립니다.</a:t>
            </a:r>
          </a:p>
          <a:p>
            <a:r>
              <a:t>다음 단계는 실제 실행까지 확인하는 것, 그리고 변환을 더 빠르게 만드는 것입니다.</a:t>
            </a:r>
          </a:p>
          <a:p/>
          <a:p>
            <a:r>
              <a:t>→ 넘기는 말: 마지막으로 정리하겠습니다.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[12:10 ~ 13:00 (+ 질문)]</a:t>
            </a:r>
          </a:p>
          <a:p>
            <a:r>
              <a:t>훅: 라이브러리가 바뀌어도, 근거와 함께.</a:t>
            </a:r>
          </a:p>
          <a:p/>
          <a:p>
            <a:r>
              <a:t>라이브러리는 앞으로도 계속 바뀝니다.</a:t>
            </a:r>
          </a:p>
          <a:p>
            <a:r>
              <a:t>저희 챗봇은 그때마다, 근거와 함께 검사한 코드를 드립니다.</a:t>
            </a:r>
          </a:p>
          <a:p>
            <a:r>
              <a:t>1번부터 4번까지 네 명이 그래프, 데이터, 검증, 화면을 나눠 만들었습니다.</a:t>
            </a:r>
          </a:p>
          <a:p>
            <a:r>
              <a:t>감사합니다. 질문 받겠습니다.</a:t>
            </a:r>
          </a:p>
          <a:p/>
          <a:p>
            <a:r>
              <a:t>→ 넘기는 말: (질문이 나오면 부록 1~3장을 꺼내 답하기)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[질문용]</a:t>
            </a:r>
          </a:p>
          <a:p>
            <a:r>
              <a:t>훅: 대화 기록은 이렇게 저장합니다.</a:t>
            </a:r>
          </a:p>
          <a:p/>
          <a:p>
            <a:r>
              <a:t>users에는 아이디가 중복 없이 들어가고, chat_history에는 질문 하나와 답 하나가 한 행으로 들어갑니다.</a:t>
            </a:r>
          </a:p>
          <a:p>
            <a:r>
              <a:t>새 대화를 누르면 새 session_id가 생기고, 목록은 session_id로 묶어 보여 줍니다.</a:t>
            </a:r>
          </a:p>
          <a:p>
            <a:r>
              <a:t>TiDB에 연결할 수 없으면 화면이 멈추지 않고 로컬 저장으로 넘어갑니다.</a:t>
            </a:r>
          </a:p>
          <a:p/>
          <a:p>
            <a:r>
              <a:t>→ 넘기는 말: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[질문용]</a:t>
            </a:r>
          </a:p>
          <a:p>
            <a:r>
              <a:t>훅: 검사 항목 전체입니다.</a:t>
            </a:r>
          </a:p>
          <a:p/>
          <a:p>
            <a:r>
              <a:t>문법, 근거 ID가 이번에 보여 준 근거인지, 기록 없이 바뀐 줄이 없는지, 옛 import가 남았는지, 새 경로가 1.x에 있는지,</a:t>
            </a:r>
          </a:p>
          <a:p>
            <a:r>
              <a:t>옛 메서드, 안 쓰는 import, 반환값 보존, 정의 안 된 이름, 출력 꺼내기, 체인 입출력 키까지 봅니다.</a:t>
            </a:r>
          </a:p>
          <a:p>
            <a:r>
              <a:t>오류는 다시 고칠 이유가 되고, 경고는 결과에 표시만 합니다.</a:t>
            </a:r>
          </a:p>
          <a:p/>
          <a:p>
            <a:r>
              <a:t>→ 넘기는 말: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[질문용]</a:t>
            </a:r>
          </a:p>
          <a:p>
            <a:r>
              <a:t>훅: 평가 질문 구성입니다.</a:t>
            </a:r>
          </a:p>
          <a:p/>
          <a:p>
            <a:r>
              <a:t>열 가지 유형을 세 개씩, 쉬움 7, 중간 15, 어려움 8입니다.</a:t>
            </a:r>
          </a:p>
          <a:p>
            <a:r>
              <a:t>옛 버전으로 되돌리는 질문 6개까지 36개 모두, 옛 코드가 실제로 깨지는지와 기대하는 답이 실제로 되는지 미리 확인했습니다.</a:t>
            </a:r>
          </a:p>
          <a:p/>
          <a:p>
            <a:r>
              <a:t>→ 넘기는 말: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SKN35 3rd 4Team · LangChain 버전 마이그레이션 코드 어시스턴트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LLM이 준 코드,</a:t>
            </a:r>
          </a:p>
          <a:p>
            <a:pPr algn="l">
              <a:lnSpc>
                <a:spcPct val="105000"/>
              </a:lnSpc>
            </a:pPr>
            <a:r>
              <a:rPr sz="66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믿어도 될까요?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발표 [이름] · 2026-10-15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02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554480"/>
            <a:ext cx="9601200" cy="329184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5F5F7"/>
                </a:solidFill>
                <a:latin typeface="Consolas"/>
                <a:ea typeface="Consolas"/>
                <a:cs typeface="Consolas"/>
              </a:rPr>
              <a:t>&gt;&gt;&gt; from langchain.chat_models import ChatOpenAI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7180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6961"/>
                </a:solidFill>
                <a:latin typeface="Consolas"/>
                <a:ea typeface="Consolas"/>
                <a:cs typeface="Consolas"/>
              </a:rPr>
              <a:t>ImportError:</a:t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6961"/>
                </a:solidFill>
                <a:latin typeface="Consolas"/>
                <a:ea typeface="Consolas"/>
                <a:cs typeface="Consolas"/>
              </a:rPr>
              <a:t>cannot import name 'ChatOpenAI'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2120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LLM이 준 코드를 LangChain 1.4.4에서 실행한 결과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03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42%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문서가 부족할 때, LLM 코드가 목표 버전에서 돌아가는 비율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When LLMs Lag Behind, 2026 · 문서를 줘도 66%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04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틀려도, 모릅니다.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결국 사람이 에러를 하나씩 검색하며 고칩니다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05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그래서, 두 번 확인합니다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25880" y="26974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근거로 고치고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38912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기억이 아니라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대응표 · 공식 문서를 보고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12280" y="26974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7033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검사로 확인합니다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38912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고친 코드를 검사하고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틀리면 다시 고칩니다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만든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06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네 단계, 실패하면 다시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9467" y="251460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9467" y="28346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찾기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467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analyzer · 1번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28619" y="3383280"/>
            <a:ext cx="356616" cy="0"/>
          </a:xfrm>
          <a:prstGeom prst="line">
            <a:avLst/>
          </a:prstGeom>
          <a:ln w="25400">
            <a:solidFill>
              <a:srgbClr val="AEAE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58387" y="251460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58387" y="28346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387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retriever · 2번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7539" y="3383280"/>
            <a:ext cx="356616" cy="0"/>
          </a:xfrm>
          <a:prstGeom prst="line">
            <a:avLst/>
          </a:prstGeom>
          <a:ln w="25400">
            <a:solidFill>
              <a:srgbClr val="AEAE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47307" y="251460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47307" y="28346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고치기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rewriter · 3번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6459" y="3383280"/>
            <a:ext cx="356616" cy="0"/>
          </a:xfrm>
          <a:prstGeom prst="line">
            <a:avLst/>
          </a:prstGeom>
          <a:ln w="25400">
            <a:solidFill>
              <a:srgbClr val="AEAE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36227" y="251460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0071E3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36227" y="28346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6227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DCEBFF"/>
                </a:solidFill>
                <a:latin typeface="맑은 고딕"/>
                <a:ea typeface="맑은 고딕"/>
                <a:cs typeface="맑은 고딕"/>
              </a:rPr>
              <a:t>verifier · 3번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79227" y="4251960"/>
            <a:ext cx="0" cy="685800"/>
          </a:xfrm>
          <a:prstGeom prst="line">
            <a:avLst/>
          </a:prstGeom>
          <a:ln w="31750">
            <a:solidFill>
              <a:srgbClr val="FF9F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701387" y="4937760"/>
            <a:ext cx="5577840" cy="0"/>
          </a:xfrm>
          <a:prstGeom prst="line">
            <a:avLst/>
          </a:prstGeom>
          <a:ln w="31750">
            <a:solidFill>
              <a:srgbClr val="FF9F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701387" y="4297680"/>
            <a:ext cx="0" cy="640080"/>
          </a:xfrm>
          <a:prstGeom prst="line">
            <a:avLst/>
          </a:prstGeom>
          <a:ln w="31750">
            <a:solidFill>
              <a:srgbClr val="FF9F0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01387" y="5074920"/>
            <a:ext cx="55778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실패하면 이유를 들고 다시 · 최대 3번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만든 것 · 2번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07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9,155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옛 경로를 새 경로로 잇는 대응표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295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공식 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4892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11,945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검색 조각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4892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바뀐 줄마다 근거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만든 것 · 3번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08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1168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가지 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8346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LLM 없이, 코드로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754880"/>
            <a:ext cx="3291840" cy="420624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E7B34"/>
                </a:solidFill>
                <a:latin typeface="맑은 고딕"/>
                <a:ea typeface="맑은 고딕"/>
                <a:cs typeface="맑은 고딕"/>
              </a:rPr>
              <a:t>새 경로가 진짜 있나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754880"/>
            <a:ext cx="3291840" cy="420624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89120" y="482803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E7B34"/>
                </a:solidFill>
                <a:latin typeface="맑은 고딕"/>
                <a:ea typeface="맑은 고딕"/>
                <a:cs typeface="맑은 고딕"/>
              </a:rPr>
              <a:t>기록 없이 바뀐 줄은 없나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4754880"/>
            <a:ext cx="3291840" cy="420624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09560" y="482803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E7B34"/>
                </a:solidFill>
                <a:latin typeface="맑은 고딕"/>
                <a:ea typeface="맑은 고딕"/>
                <a:cs typeface="맑은 고딕"/>
              </a:rPr>
              <a:t>결과 모양이 그대로인가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외 8가지 · 부록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만든 것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09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결과와 근거를 한 화면에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822960" y="1965960"/>
            <a:ext cx="0" cy="0"/>
          </a:xfrm>
          <a:prstGeom prst="line">
            <a:avLst/>
          </a:prstGeom>
          <a:ln w="25400">
            <a:solidFill>
              <a:srgbClr val="AEA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[화면 캡처]</a:t>
            </a:r>
          </a:p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확인용 예제를 보낸 뒤 결과 패널 (검증 배지 · 전후 비교 빨강 · 초록)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결과 · 실제 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세 번째에 통과했습니다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118872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0" y="126187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E7B34"/>
                </a:solidFill>
                <a:latin typeface="맑은 고딕"/>
                <a:ea typeface="맑은 고딕"/>
                <a:cs typeface="맑은 고딕"/>
              </a:rPr>
              <a:t>검사 통과 · 3회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6961"/>
                </a:solidFill>
                <a:latin typeface="맑은 고딕"/>
                <a:ea typeface="맑은 고딕"/>
                <a:cs typeface="맑은 고딕"/>
              </a:rPr>
              <a:t>이전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5F7"/>
                </a:solidFill>
                <a:latin typeface="Consolas"/>
                <a:ea typeface="Consolas"/>
                <a:cs typeface="Consolas"/>
              </a:rPr>
              <a:t>from langchain.chains import LLMChain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5F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5F7"/>
                </a:solidFill>
                <a:latin typeface="Consolas"/>
                <a:ea typeface="Consolas"/>
                <a:cs typeface="Consolas"/>
              </a:rPr>
              <a:t>chain = LLMChain(llm=llm, prompt=prompt)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5F7"/>
                </a:solidFill>
                <a:latin typeface="Consolas"/>
                <a:ea typeface="Consolas"/>
                <a:cs typeface="Consolas"/>
              </a:rPr>
              <a:t>chain.run(word='크다')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64D2FF"/>
                </a:solidFill>
                <a:latin typeface="맑은 고딕"/>
                <a:ea typeface="맑은 고딕"/>
                <a:cs typeface="맑은 고딕"/>
              </a:rPr>
              <a:t>이후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036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5F7"/>
                </a:solidFill>
                <a:latin typeface="Consolas"/>
                <a:ea typeface="Consolas"/>
                <a:cs typeface="Consolas"/>
              </a:rPr>
              <a:t>from langchain_core.output_parsers \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5F7"/>
                </a:solidFill>
                <a:latin typeface="Consolas"/>
                <a:ea typeface="Consolas"/>
                <a:cs typeface="Consolas"/>
              </a:rPr>
              <a:t>    import StrOutputParser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5F7"/>
                </a:solidFill>
                <a:latin typeface="Consolas"/>
                <a:ea typeface="Consolas"/>
                <a:cs typeface="Consolas"/>
              </a:rPr>
              <a:t>chain = prompt | llm | StrOutputParser()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5F5F7"/>
                </a:solidFill>
                <a:latin typeface="Consolas"/>
                <a:ea typeface="Consolas"/>
                <a:cs typeface="Consolas"/>
              </a:rPr>
              <a:t>chain.invoke({'word': '크다'})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바뀐 6줄 모두 근거 ID  ·  못 바꾼 줄 0  ·  약 1분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결과 ·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114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01168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개의 실무형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8346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실제 사용자처럼, 요청 문장 + 옛 코드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754880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같은 질문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754880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11880" y="48280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같은 모델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5080" y="48280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같은 채점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검사 통과율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우리 챗봇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[__]%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0312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일반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1752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0" b="1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[__]%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질문 30개 · 같은 모델 · verifier와 같은 채점 기준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8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통과 ≠ 정답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06908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377440" y="42245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다음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6177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실제 실행 결과까지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6908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0" y="42245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다음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6177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1분 걸리는 변환을 더 빠르게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라이브러리가 바뀌어도,</a:t>
            </a:r>
          </a:p>
          <a:p>
            <a:pPr algn="l">
              <a:lnSpc>
                <a:spcPct val="108000"/>
              </a:lnSpc>
            </a:pPr>
            <a:r>
              <a:rPr sz="60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근거와 함께.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감사합니다 · 질문 받겠습니다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461772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47548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1번 · [이름]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0749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그래프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61772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40480" y="47548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2번 · [이름]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50749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데이터 · 검색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1772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37960" y="47548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3번 · [이름]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0749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변환 ·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461772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0" y="47548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4번 · [이름]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0749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화면 · DB · 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943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github.com/SKN35shimsungwook/langchain-migration-assistant  ·  [배포 주소]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부록 · 대화 기록 (TiDB)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부록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사용자 한 명, 대화 여러 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4754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23042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834639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8346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91839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918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UQ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749039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490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103120"/>
            <a:ext cx="4754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49440" y="23042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chat_history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346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834639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8346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2918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291839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2918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FK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490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session_id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749039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37490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IDX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2062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663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6634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6634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1206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1206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577840" y="3291840"/>
            <a:ext cx="1005840" cy="0"/>
          </a:xfrm>
          <a:prstGeom prst="line">
            <a:avLst/>
          </a:prstGeom>
          <a:ln w="31750">
            <a:solidFill>
              <a:srgbClr val="0071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577840" y="28803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1 : 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57200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질문 + 답 = 한 행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새 대화 = 새 session_id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가입 때 아이디 중복 검사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부록 · 검사 11가지 (3번)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부록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LLM 없이, 코드로 11가지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문법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49039" y="21671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514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근거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1168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21671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변경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01168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0" y="21671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514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남은 옛 import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4612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97280" y="34015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49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import 존재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24612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49039" y="34015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749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남은 옛 메서드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24612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0" y="34015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안 쓰는 import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24612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0" y="34015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749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반환값 보존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48056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97280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83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정의 안 된 이름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448056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749039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983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출력 꺼내기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480560"/>
            <a:ext cx="24231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0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4C759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83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체인 입출력 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부록 · 평가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2815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AEAEB2"/>
                </a:solidFill>
                <a:latin typeface="맑은 고딕"/>
                <a:ea typeface="맑은 고딕"/>
                <a:cs typeface="맑은 고딕"/>
              </a:rPr>
              <a:t>부록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10가지 유형 × 3개 = 30개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import 경로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4368" y="20574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944368" y="20574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로더 · 분할기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20574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65776" y="20574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임베딩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87183" y="20574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87183" y="20574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LLMChain → LCEL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8592" y="20574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08592" y="20574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체인 조합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9718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4368" y="29718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944368" y="29718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메모리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9718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65776" y="29718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87183" y="29718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87183" y="29718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출력 파서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08592" y="2971800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50800" dir="5400000" algn="t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08592" y="2971800"/>
            <a:ext cx="19385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맑은 고딕"/>
                <a:ea typeface="맑은 고딕"/>
                <a:cs typeface="맑은 고딕"/>
              </a:rPr>
              <a:t>실무 상황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3434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83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쉬움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3434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983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3434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983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어려움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3434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071E3"/>
                </a:solidFill>
                <a:latin typeface="맑은 고딕"/>
                <a:ea typeface="맑은 고딕"/>
                <a:cs typeface="맑은 고딕"/>
              </a:rPr>
              <a:t>36/36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9834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E6E73"/>
                </a:solidFill>
                <a:latin typeface="맑은 고딕"/>
                <a:ea typeface="맑은 고딕"/>
                <a:cs typeface="맑은 고딕"/>
              </a:rPr>
              <a:t>미리 확인 · 버전 오가기 6 포함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