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SKN35 3기 4팀입니다. 저희는 옛 버전 LangChain 코드를 넣고 바꿀 버전을 고르면, 그 버전에서 돌아가는 코드로 고쳐 주고 정말 돌아가는지 확인까지 해 주는 챗봇을 만들었습니다. 핵심은 '근거'와 '검증' 두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LangChain을 LLM에게 물어보면 복잡한 질문일수록 옛 버전 코드를 줍니다. 왼쪽은 그 코드를 LangChain 1.4.4에서 실제로 실행한 결과입니다. 첫 줄부터 에러가 납니다. 더 큰 문제는 LLM이 이게 틀렸다는 걸 모른다는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현상을 '버전 지체 환각'이라고 부르겠습니다. 문서가 부족하면 LLM 코드 중 약 43%만 실행되고, 문서를 줘도 66% 정도입니다. 문서만 주는 것으로는 부족하고, 실제로 확인하는 단계가 필요하다는 뜻입니다. (출처: arXiv 2604.09515, arXiv 2507.12367)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 해결책은 이중 검증입니다. 첫째, 기억이 아니라 대응표와 최신 공식 문서를 근거로 고칩니다. 둘째, 고친 코드를 verifier가 8가지로 검사합니다. 틀리면 실패 이유를 들고 근거를 다시 찾되, 이미 틀린 근거는 빼고 다시 고칩니다. 최대 3번입니다. 그래서 답변에는 코드뿐 아니라 바뀐 줄마다 근거 ID와 몇 번 만에 통과했는지가 함께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2번이 만든 근거 데이터입니다. 옛 import 경로를 1.x 경로로 잇는 대응표가 9,155줄, .run 같은 옛 메서드를 잇는 메서드 대응표가 42개 있습니다. 최신 공식 문서 271개와 옛 마이그레이션 가이드 24개를 11,945개 조각으로 나눠 Chroma에 넣었고, 단어 검색 BM25와 벡터 검색을 합친 하이브리드 검색으로 찾습니다. 버전별로 어떤 도구가 있는지도 23개 패키지 버전에서 뽑아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질문이 들어오면 네 단계를 거칩니다. 1번이 만든 analyzer가 코드에서 바꿀 부분을 찾고, 2번의 retriever가 대응표와 문서에서 근거를 찾습니다. 3번의 rewriter가 바뀐 줄마다 근거 ID를 붙여 코드를 다시 쓰고, 핵심인 verifier가 LLM 없이 8가지를 검사합니다. 실패하면 실패 이유를 들고 retriever로 돌아가는데, 이미 틀린 근거는 빼고 다시 찾습니다. 최대 3번입니다. 단계 연결과 다시 갈지 판단은 1번이 LangGraph로 맡았고, 결과는 제가 만든 화면에 보여 주고 대화는 TiDB에 저장합니다.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verifier가 이 프로젝트의 핵심입니다. LLM에게 맞았는지 묻지 않고, 코드로 8가지를 검사합니다. 문법, 근거 ID가 이번에 실제로 보여 준 근거인지, 변경 기록과 실제 코드가 같은지, 옛 import가 남았는지, 새 경로가 1.x에 진짜 있는지, 옛 메서드가 남았는지, 안 쓰는 import, 반환값이 그대로인지입니다. 오류는 재시도 이유가 되고, 경고는 결과에 표시합니다. LLM에게 검증을 맡기지 않은 이유는 검증하는 LLM도 같은 옛 지식을 갖고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맡은 화면입니다. ChatGPT처럼 왼쪽에 대화 목록이 있고, '새 대화'를 누를 때마다 세션이 하나 생겨서 그 안의 질문은 TiDB에 이어서 저장됩니다. 위에서 지금 코드 버전과 바꿀 버전을 고르는데, 최신으로 올리는 것뿐 아니라 옛 버전으로 되돌리는 것도 됩니다. 오른쪽 결과 패널에는 검증 배지, 고치기 전과 후, 그리고 바뀐 줄마다 근거 ID가 나옵니다. 지금 캡처의 근거 ID는 2번 대응표의 실제 값이고, 변환 결과는 그래프 연결 전 임시 결과입니다. [그래프 연결 후 캡처로 교체]</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공정하게 비교하려고 규칙을 먼저 정했습니다. 실제 사용자가 보낼 법한 요청 문장과 옛 코드로 질문 35개를 만들었습니다. 1.x로 올리는 질문 29개는 10가지 유형이고, 옛 버전으로 되돌리거나 중간 버전으로만 올리는 질문 6개를 더했습니다. 35개 모두 실제로 깨지는 코드인지, 기대 답이 실제로 import 되는지 미리 확인했습니다. 일반 LLM과 우리 챗봇은 같은 모델, 같은 질문을 쓰고, 채점은 verifier와 같은 기준으로 했습니다. 지표는 검증 통과율, 바뀐 줄에 근거가 붙은 비율, 재시도로 오른 통과율 세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화면으로 직접 보여드리겠습니다. 0.0.300의 LLMChain 코드를 넣고 바꿀 버전으로 LangChain 1.x를 고르겠습니다. 첫 번째와 두 번째 시도는 검증에서 실패하고, 실패 이유를 들고 근거를 다시 찾습니다. 세 번째에 prompt | llm | StrOutputParser() 형태로 바뀌며 통과합니다. 결과 패널에서 몇 번 만에 통과했는지, 바뀐 줄마다 어떤 근거를 썼는지 볼 수 있습니다. [실제 실행 결과에 맞게 수정]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결과입니다. 검증 통과율은 일반 LLM이 [__]%, 우리 챗봇이 [__]%였습니다. 특히 [__] 유형에서 차이가 가장 컸습니다. 그리고 우리 챗봇이 바꾼 줄 중 [__]%에 근거 ID가 붙어 있었습니다. [실험 결과를 보고 제목과 설명 수정]</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시도만 보면 통과율이 [__]%인데, 실패 이유로 근거를 다시 찾아 고치면 최종 [__]%까지 올라갑니다. 확인하고 다시 고치는 루프가 [__]%p를 만들었습니다. 일반 LLM에는 이 루프가 없어서 틀려도 그대로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만들면서 예상하지 못한 것을 세 가지 발견했습니다. 첫째, langchain-community는 import만 해도 지원 종료 경고가 나옵니다. 둘째, 옛 체인을 langchain_classic에서 가져오면 import는 되지만 최신 방식은 아닙니다. 그래서 대응표와 화면에서 '옛 창고'로 따로 표시했습니다. 셋째, 버전 되돌리기를 만들면서 버전별 도구 목록을 비교해 보니, 0.0.300부터 0.3.30까지는 자주 쓰는 경로가 거의 같았습니다. 크게 바뀌는 것은 1.x와의 사이입니다.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한계도 말씀드리겠습니다. 가장 큰 한계는 통과가 곧 정답은 아니라는 점입니다. import와 메서드까지는 검사하지만, 함수에 넣는 값이나 실행 결과가 맞는지는 잡지 못합니다. 또 다시 쓰기는 1.x로 올리는 쪽이 중심이고, 옛 버전으로 되돌리는 것은 지금 화면 쪽에서 도구 목록을 비교해 처리합니다. 다음 단계로 가짜 LLM을 넣은 실제 실행 테스트, 목표 버전을 그래프 전체에 넘기기, 테스트셋과 대상 라이브러리 확장을 생각하고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가치를 세 가지로 정리하겠습니다. 첫째, 개발자가 버전 에러를 하나씩 검색하는 시간을 줄여 줍니다. 둘째, 바뀐 줄마다 근거와 검사 결과가 붙어 있어서 믿고 쓸 수 있습니다. 셋째, 구조가 대응표와 문서, 검사 환경에만 의존하기 때문에 다른 라이브러리에도 그대로 적용할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 팀은 이렇게 역할을 나눠 진행했습니다. 감사합니다. 질문 받겠습니다. [예상 질문] 통과하면 정답인가 → 한계 슬라이드, import · 메서드까지 검사 / 35개로 충분한가 → 유형 · 난이도별 경향 확인이 목적 / 왜 LLM에게 검증을 맡기지 않았나 → 검증 LLM도 같은 옛 지식을 가짐 / 근거를 지어낼 수 있지 않나 → verifier가 이번에 보여 준 근거 ID만 인정 / 옛 버전으로 되돌리기는 → 버전별 도구 목록을 비교해서 화면에서 지원</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685800" y="685800"/>
            <a:ext cx="10789920" cy="365760"/>
          </a:xfrm>
          <a:prstGeom prst="rect">
            <a:avLst/>
          </a:prstGeom>
          <a:noFill/>
        </p:spPr>
        <p:txBody>
          <a:bodyPr wrap="square" lIns="0" rIns="0" tIns="0" bIns="0" anchor="t">
            <a:spAutoFit/>
          </a:bodyPr>
          <a:lstStyle/>
          <a:p>
            <a:pPr algn="l">
              <a:lnSpc>
                <a:spcPct val="115000"/>
              </a:lnSpc>
            </a:pPr>
            <a:r>
              <a:rPr sz="1500" b="1">
                <a:solidFill>
                  <a:srgbClr val="7FB2F0"/>
                </a:solidFill>
                <a:latin typeface="맑은 고딕"/>
                <a:ea typeface="맑은 고딕"/>
                <a:cs typeface="맑은 고딕"/>
              </a:rPr>
              <a:t>SKN35 · LLM 연동 내외부 문서 기반 질의응답 시스템</a:t>
            </a:r>
          </a:p>
        </p:txBody>
      </p:sp>
      <p:sp>
        <p:nvSpPr>
          <p:cNvPr id="3" name="TextBox 2"/>
          <p:cNvSpPr txBox="1"/>
          <p:nvPr/>
        </p:nvSpPr>
        <p:spPr>
          <a:xfrm>
            <a:off x="685800" y="2057400"/>
            <a:ext cx="10789920" cy="1828800"/>
          </a:xfrm>
          <a:prstGeom prst="rect">
            <a:avLst/>
          </a:prstGeom>
          <a:noFill/>
        </p:spPr>
        <p:txBody>
          <a:bodyPr wrap="square" lIns="0" rIns="0" tIns="0" bIns="0" anchor="t">
            <a:spAutoFit/>
          </a:bodyPr>
          <a:lstStyle/>
          <a:p>
            <a:pPr algn="l">
              <a:lnSpc>
                <a:spcPct val="110000"/>
              </a:lnSpc>
            </a:pPr>
            <a:r>
              <a:rPr sz="5400" b="1">
                <a:solidFill>
                  <a:srgbClr val="F2F1EC"/>
                </a:solidFill>
                <a:latin typeface="맑은 고딕"/>
                <a:ea typeface="맑은 고딕"/>
                <a:cs typeface="맑은 고딕"/>
              </a:rPr>
              <a:t>LangChain 버전</a:t>
            </a:r>
          </a:p>
          <a:p>
            <a:pPr algn="l">
              <a:lnSpc>
                <a:spcPct val="110000"/>
              </a:lnSpc>
            </a:pPr>
            <a:r>
              <a:rPr sz="5400" b="1">
                <a:solidFill>
                  <a:srgbClr val="F2F1EC"/>
                </a:solidFill>
                <a:latin typeface="맑은 고딕"/>
                <a:ea typeface="맑은 고딕"/>
                <a:cs typeface="맑은 고딕"/>
              </a:rPr>
              <a:t>마이그레이션 도우미</a:t>
            </a:r>
          </a:p>
        </p:txBody>
      </p:sp>
      <p:sp>
        <p:nvSpPr>
          <p:cNvPr id="4" name="TextBox 3"/>
          <p:cNvSpPr txBox="1"/>
          <p:nvPr/>
        </p:nvSpPr>
        <p:spPr>
          <a:xfrm>
            <a:off x="685800" y="3977639"/>
            <a:ext cx="10789920" cy="548640"/>
          </a:xfrm>
          <a:prstGeom prst="rect">
            <a:avLst/>
          </a:prstGeom>
          <a:noFill/>
        </p:spPr>
        <p:txBody>
          <a:bodyPr wrap="square" lIns="0" rIns="0" tIns="0" bIns="0" anchor="t">
            <a:spAutoFit/>
          </a:bodyPr>
          <a:lstStyle/>
          <a:p>
            <a:pPr algn="l">
              <a:lnSpc>
                <a:spcPct val="115000"/>
              </a:lnSpc>
            </a:pPr>
            <a:r>
              <a:rPr sz="2100" b="0">
                <a:solidFill>
                  <a:srgbClr val="B9C3CF"/>
                </a:solidFill>
                <a:latin typeface="맑은 고딕"/>
                <a:ea typeface="맑은 고딕"/>
                <a:cs typeface="맑은 고딕"/>
              </a:rPr>
              <a:t>옛 버전 코드를 원하는 버전에서 돌아가는 코드로, 근거와 검증까지 함께</a:t>
            </a:r>
          </a:p>
        </p:txBody>
      </p:sp>
      <p:sp>
        <p:nvSpPr>
          <p:cNvPr id="5" name="TextBox 4"/>
          <p:cNvSpPr txBox="1"/>
          <p:nvPr/>
        </p:nvSpPr>
        <p:spPr>
          <a:xfrm>
            <a:off x="685800" y="5989320"/>
            <a:ext cx="10789920" cy="365760"/>
          </a:xfrm>
          <a:prstGeom prst="rect">
            <a:avLst/>
          </a:prstGeom>
          <a:noFill/>
        </p:spPr>
        <p:txBody>
          <a:bodyPr wrap="square" lIns="0" rIns="0" tIns="0" bIns="0" anchor="t">
            <a:spAutoFit/>
          </a:bodyPr>
          <a:lstStyle/>
          <a:p>
            <a:pPr algn="l">
              <a:lnSpc>
                <a:spcPct val="115000"/>
              </a:lnSpc>
            </a:pPr>
            <a:r>
              <a:rPr sz="1400" b="0">
                <a:solidFill>
                  <a:srgbClr val="B9C3CF"/>
                </a:solidFill>
                <a:latin typeface="맑은 고딕"/>
                <a:ea typeface="맑은 고딕"/>
                <a:cs typeface="맑은 고딕"/>
              </a:rPr>
              <a:t>SKN35 3rd 4Team · 발표 [발표자 이름] · 2026-10-15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문제</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ChatGPT가 준 LangChain 코드, 실행하면 깨집니다</a:t>
            </a:r>
          </a:p>
        </p:txBody>
      </p:sp>
      <p:sp>
        <p:nvSpPr>
          <p:cNvPr id="4" name="Rounded Rectangle 3"/>
          <p:cNvSpPr/>
          <p:nvPr/>
        </p:nvSpPr>
        <p:spPr>
          <a:xfrm>
            <a:off x="685800" y="1828800"/>
            <a:ext cx="6035040" cy="2834640"/>
          </a:xfrm>
          <a:prstGeom prst="roundRect">
            <a:avLst>
              <a:gd name="adj" fmla="val 6000"/>
            </a:avLst>
          </a:prstGeom>
          <a:solidFill>
            <a:srgbClr val="14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057400"/>
            <a:ext cx="5486400" cy="274320"/>
          </a:xfrm>
          <a:prstGeom prst="rect">
            <a:avLst/>
          </a:prstGeom>
          <a:noFill/>
        </p:spPr>
        <p:txBody>
          <a:bodyPr wrap="square" lIns="0" rIns="0" tIns="0" bIns="0" anchor="t">
            <a:spAutoFit/>
          </a:bodyPr>
          <a:lstStyle/>
          <a:p>
            <a:pPr algn="l">
              <a:lnSpc>
                <a:spcPct val="115000"/>
              </a:lnSpc>
            </a:pPr>
            <a:r>
              <a:rPr sz="1300" b="0">
                <a:solidFill>
                  <a:srgbClr val="8FA0B3"/>
                </a:solidFill>
                <a:latin typeface="Consolas"/>
                <a:ea typeface="Consolas"/>
                <a:cs typeface="Consolas"/>
              </a:rPr>
              <a:t># LLM이 흔히 주는 코드</a:t>
            </a:r>
          </a:p>
        </p:txBody>
      </p:sp>
      <p:sp>
        <p:nvSpPr>
          <p:cNvPr id="6" name="TextBox 5"/>
          <p:cNvSpPr txBox="1"/>
          <p:nvPr/>
        </p:nvSpPr>
        <p:spPr>
          <a:xfrm>
            <a:off x="960120" y="2423160"/>
            <a:ext cx="5486400" cy="731520"/>
          </a:xfrm>
          <a:prstGeom prst="rect">
            <a:avLst/>
          </a:prstGeom>
          <a:noFill/>
        </p:spPr>
        <p:txBody>
          <a:bodyPr wrap="square" lIns="0" rIns="0" tIns="0" bIns="0" anchor="t">
            <a:spAutoFit/>
          </a:bodyPr>
          <a:lstStyle/>
          <a:p>
            <a:pPr algn="l">
              <a:lnSpc>
                <a:spcPct val="140000"/>
              </a:lnSpc>
            </a:pPr>
            <a:r>
              <a:rPr sz="1500" b="0">
                <a:solidFill>
                  <a:srgbClr val="E8ECF1"/>
                </a:solidFill>
                <a:latin typeface="Consolas"/>
                <a:ea typeface="Consolas"/>
                <a:cs typeface="Consolas"/>
              </a:rPr>
              <a:t>from langchain.chat_models import ChatOpenAI</a:t>
            </a:r>
          </a:p>
          <a:p>
            <a:pPr algn="l">
              <a:lnSpc>
                <a:spcPct val="140000"/>
              </a:lnSpc>
            </a:pPr>
            <a:r>
              <a:rPr sz="1500" b="0">
                <a:solidFill>
                  <a:srgbClr val="E8ECF1"/>
                </a:solidFill>
                <a:latin typeface="Consolas"/>
                <a:ea typeface="Consolas"/>
                <a:cs typeface="Consolas"/>
              </a:rPr>
              <a:t>from langchain.chains import LLMChain</a:t>
            </a:r>
          </a:p>
        </p:txBody>
      </p:sp>
      <p:cxnSp>
        <p:nvCxnSpPr>
          <p:cNvPr id="7" name="Connector 6"/>
          <p:cNvCxnSpPr/>
          <p:nvPr/>
        </p:nvCxnSpPr>
        <p:spPr>
          <a:xfrm>
            <a:off x="960120" y="3246120"/>
            <a:ext cx="5486400" cy="0"/>
          </a:xfrm>
          <a:prstGeom prst="line">
            <a:avLst/>
          </a:prstGeom>
          <a:ln w="9525">
            <a:solidFill>
              <a:srgbClr val="3444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3429000"/>
            <a:ext cx="5486400" cy="274320"/>
          </a:xfrm>
          <a:prstGeom prst="rect">
            <a:avLst/>
          </a:prstGeom>
          <a:noFill/>
        </p:spPr>
        <p:txBody>
          <a:bodyPr wrap="square" lIns="0" rIns="0" tIns="0" bIns="0" anchor="t">
            <a:spAutoFit/>
          </a:bodyPr>
          <a:lstStyle/>
          <a:p>
            <a:pPr algn="l">
              <a:lnSpc>
                <a:spcPct val="115000"/>
              </a:lnSpc>
            </a:pPr>
            <a:r>
              <a:rPr sz="1300" b="0">
                <a:solidFill>
                  <a:srgbClr val="8FA0B3"/>
                </a:solidFill>
                <a:latin typeface="Consolas"/>
                <a:ea typeface="Consolas"/>
                <a:cs typeface="Consolas"/>
              </a:rPr>
              <a:t># LangChain 1.4.4에서 실행 결과</a:t>
            </a:r>
          </a:p>
        </p:txBody>
      </p:sp>
      <p:sp>
        <p:nvSpPr>
          <p:cNvPr id="9" name="TextBox 8"/>
          <p:cNvSpPr txBox="1"/>
          <p:nvPr/>
        </p:nvSpPr>
        <p:spPr>
          <a:xfrm>
            <a:off x="960120" y="3794760"/>
            <a:ext cx="5486400" cy="731520"/>
          </a:xfrm>
          <a:prstGeom prst="rect">
            <a:avLst/>
          </a:prstGeom>
          <a:noFill/>
        </p:spPr>
        <p:txBody>
          <a:bodyPr wrap="square" lIns="0" rIns="0" tIns="0" bIns="0" anchor="t">
            <a:spAutoFit/>
          </a:bodyPr>
          <a:lstStyle/>
          <a:p>
            <a:pPr algn="l">
              <a:lnSpc>
                <a:spcPct val="140000"/>
              </a:lnSpc>
            </a:pPr>
            <a:r>
              <a:rPr sz="1300" b="0">
                <a:solidFill>
                  <a:srgbClr val="F2A27E"/>
                </a:solidFill>
                <a:latin typeface="Consolas"/>
                <a:ea typeface="Consolas"/>
                <a:cs typeface="Consolas"/>
              </a:rPr>
              <a:t>ImportError: cannot import name 'ChatOpenAI'</a:t>
            </a:r>
          </a:p>
          <a:p>
            <a:pPr algn="l">
              <a:lnSpc>
                <a:spcPct val="140000"/>
              </a:lnSpc>
            </a:pPr>
            <a:r>
              <a:rPr sz="1300" b="0">
                <a:solidFill>
                  <a:srgbClr val="F2A27E"/>
                </a:solidFill>
                <a:latin typeface="Consolas"/>
                <a:ea typeface="Consolas"/>
                <a:cs typeface="Consolas"/>
              </a:rPr>
              <a:t>ModuleNotFoundError: No module named 'langchain.chains'</a:t>
            </a:r>
          </a:p>
        </p:txBody>
      </p:sp>
      <p:sp>
        <p:nvSpPr>
          <p:cNvPr id="10" name="TextBox 9"/>
          <p:cNvSpPr txBox="1"/>
          <p:nvPr/>
        </p:nvSpPr>
        <p:spPr>
          <a:xfrm>
            <a:off x="7178040" y="1828800"/>
            <a:ext cx="4389120" cy="457200"/>
          </a:xfrm>
          <a:prstGeom prst="rect">
            <a:avLst/>
          </a:prstGeom>
          <a:noFill/>
        </p:spPr>
        <p:txBody>
          <a:bodyPr wrap="square" lIns="0" rIns="0" tIns="0" bIns="0" anchor="t">
            <a:spAutoFit/>
          </a:bodyPr>
          <a:lstStyle/>
          <a:p>
            <a:pPr algn="l">
              <a:lnSpc>
                <a:spcPct val="115000"/>
              </a:lnSpc>
            </a:pPr>
            <a:r>
              <a:rPr sz="2200" b="1">
                <a:solidFill>
                  <a:srgbClr val="1B2433"/>
                </a:solidFill>
                <a:latin typeface="맑은 고딕"/>
                <a:ea typeface="맑은 고딕"/>
                <a:cs typeface="맑은 고딕"/>
              </a:rPr>
              <a:t>첫 줄부터 에러</a:t>
            </a:r>
          </a:p>
        </p:txBody>
      </p:sp>
      <p:sp>
        <p:nvSpPr>
          <p:cNvPr id="11" name="TextBox 10"/>
          <p:cNvSpPr txBox="1"/>
          <p:nvPr/>
        </p:nvSpPr>
        <p:spPr>
          <a:xfrm>
            <a:off x="7178040" y="2286000"/>
            <a:ext cx="4389120" cy="914400"/>
          </a:xfrm>
          <a:prstGeom prst="rect">
            <a:avLst/>
          </a:prstGeom>
          <a:noFill/>
        </p:spPr>
        <p:txBody>
          <a:bodyPr wrap="square" lIns="0" rIns="0" tIns="0" bIns="0" anchor="t">
            <a:spAutoFit/>
          </a:bodyPr>
          <a:lstStyle/>
          <a:p>
            <a:pPr algn="l">
              <a:lnSpc>
                <a:spcPct val="135000"/>
              </a:lnSpc>
            </a:pPr>
            <a:r>
              <a:rPr sz="1700" b="0">
                <a:solidFill>
                  <a:srgbClr val="4A5363"/>
                </a:solidFill>
                <a:latin typeface="맑은 고딕"/>
                <a:ea typeface="맑은 고딕"/>
                <a:cs typeface="맑은 고딕"/>
              </a:rPr>
              <a:t>LangChain 1.0에서 패키지가 나뉘고, 옛 체인과 에이전트가 빠졌습니다.</a:t>
            </a:r>
          </a:p>
        </p:txBody>
      </p:sp>
      <p:sp>
        <p:nvSpPr>
          <p:cNvPr id="12" name="TextBox 11"/>
          <p:cNvSpPr txBox="1"/>
          <p:nvPr/>
        </p:nvSpPr>
        <p:spPr>
          <a:xfrm>
            <a:off x="7178040" y="3383280"/>
            <a:ext cx="4389120" cy="457200"/>
          </a:xfrm>
          <a:prstGeom prst="rect">
            <a:avLst/>
          </a:prstGeom>
          <a:noFill/>
        </p:spPr>
        <p:txBody>
          <a:bodyPr wrap="square" lIns="0" rIns="0" tIns="0" bIns="0" anchor="t">
            <a:spAutoFit/>
          </a:bodyPr>
          <a:lstStyle/>
          <a:p>
            <a:pPr algn="l">
              <a:lnSpc>
                <a:spcPct val="115000"/>
              </a:lnSpc>
            </a:pPr>
            <a:r>
              <a:rPr sz="2200" b="1">
                <a:solidFill>
                  <a:srgbClr val="1B2433"/>
                </a:solidFill>
                <a:latin typeface="맑은 고딕"/>
                <a:ea typeface="맑은 고딕"/>
                <a:cs typeface="맑은 고딕"/>
              </a:rPr>
              <a:t>더 큰 문제</a:t>
            </a:r>
          </a:p>
        </p:txBody>
      </p:sp>
      <p:sp>
        <p:nvSpPr>
          <p:cNvPr id="13" name="TextBox 12"/>
          <p:cNvSpPr txBox="1"/>
          <p:nvPr/>
        </p:nvSpPr>
        <p:spPr>
          <a:xfrm>
            <a:off x="7178040" y="3840480"/>
            <a:ext cx="4389120" cy="731520"/>
          </a:xfrm>
          <a:prstGeom prst="rect">
            <a:avLst/>
          </a:prstGeom>
          <a:noFill/>
        </p:spPr>
        <p:txBody>
          <a:bodyPr wrap="square" lIns="0" rIns="0" tIns="0" bIns="0" anchor="t">
            <a:spAutoFit/>
          </a:bodyPr>
          <a:lstStyle/>
          <a:p>
            <a:pPr algn="l">
              <a:lnSpc>
                <a:spcPct val="135000"/>
              </a:lnSpc>
            </a:pPr>
            <a:r>
              <a:rPr sz="1700" b="0">
                <a:solidFill>
                  <a:srgbClr val="4A5363"/>
                </a:solidFill>
                <a:latin typeface="맑은 고딕"/>
                <a:ea typeface="맑은 고딕"/>
                <a:cs typeface="맑은 고딕"/>
              </a:rPr>
              <a:t>LLM은 자기 답이 틀렸다는 것을 </a:t>
            </a:r>
            <a:r>
              <a:rPr sz="1700" b="1">
                <a:solidFill>
                  <a:srgbClr val="1B2433"/>
                </a:solidFill>
                <a:latin typeface="맑은 고딕"/>
                <a:ea typeface="맑은 고딕"/>
                <a:cs typeface="맑은 고딕"/>
              </a:rPr>
              <a:t>모릅니다.</a:t>
            </a:r>
          </a:p>
        </p:txBody>
      </p:sp>
      <p:sp>
        <p:nvSpPr>
          <p:cNvPr id="14" name="TextBox 13"/>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원인: 버전 지체 환각</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인터넷에는 옛 버전 코드가 더 많습니다</a:t>
            </a:r>
          </a:p>
        </p:txBody>
      </p:sp>
      <p:sp>
        <p:nvSpPr>
          <p:cNvPr id="4" name="TextBox 3"/>
          <p:cNvSpPr txBox="1"/>
          <p:nvPr/>
        </p:nvSpPr>
        <p:spPr>
          <a:xfrm>
            <a:off x="685800" y="1572768"/>
            <a:ext cx="10789920" cy="457200"/>
          </a:xfrm>
          <a:prstGeom prst="rect">
            <a:avLst/>
          </a:prstGeom>
          <a:noFill/>
        </p:spPr>
        <p:txBody>
          <a:bodyPr wrap="square" lIns="0" rIns="0" tIns="0" bIns="0" anchor="t">
            <a:spAutoFit/>
          </a:bodyPr>
          <a:lstStyle/>
          <a:p>
            <a:pPr algn="l">
              <a:lnSpc>
                <a:spcPct val="115000"/>
              </a:lnSpc>
            </a:pPr>
            <a:r>
              <a:rPr sz="1600" b="0">
                <a:solidFill>
                  <a:srgbClr val="4A5363"/>
                </a:solidFill>
                <a:latin typeface="맑은 고딕"/>
                <a:ea typeface="맑은 고딕"/>
                <a:cs typeface="맑은 고딕"/>
              </a:rPr>
              <a:t>LLM은 데이터가 많은 쪽을 따라갑니다. 라이브러리는 빨리 바뀌어도, 학습 데이터 속 코드는 대부분 과거 버전입니다.</a:t>
            </a:r>
          </a:p>
        </p:txBody>
      </p:sp>
      <p:sp>
        <p:nvSpPr>
          <p:cNvPr id="5" name="Rounded Rectangle 4"/>
          <p:cNvSpPr/>
          <p:nvPr/>
        </p:nvSpPr>
        <p:spPr>
          <a:xfrm>
            <a:off x="685800" y="2331720"/>
            <a:ext cx="3429000" cy="21945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60120" y="2560320"/>
            <a:ext cx="2880360" cy="731520"/>
          </a:xfrm>
          <a:prstGeom prst="rect">
            <a:avLst/>
          </a:prstGeom>
          <a:noFill/>
        </p:spPr>
        <p:txBody>
          <a:bodyPr wrap="square" lIns="0" rIns="0" tIns="0" bIns="0" anchor="t">
            <a:spAutoFit/>
          </a:bodyPr>
          <a:lstStyle/>
          <a:p>
            <a:pPr algn="l">
              <a:lnSpc>
                <a:spcPct val="115000"/>
              </a:lnSpc>
            </a:pPr>
            <a:r>
              <a:rPr sz="4000" b="1">
                <a:solidFill>
                  <a:srgbClr val="1F5FAE"/>
                </a:solidFill>
                <a:latin typeface="맑은 고딕"/>
                <a:ea typeface="맑은 고딕"/>
                <a:cs typeface="맑은 고딕"/>
              </a:rPr>
              <a:t>42.55%</a:t>
            </a:r>
          </a:p>
        </p:txBody>
      </p:sp>
      <p:sp>
        <p:nvSpPr>
          <p:cNvPr id="7" name="TextBox 6"/>
          <p:cNvSpPr txBox="1"/>
          <p:nvPr/>
        </p:nvSpPr>
        <p:spPr>
          <a:xfrm>
            <a:off x="960120" y="3337560"/>
            <a:ext cx="2880360"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문서가 부족할 때, LLM 코드 중 목표 버전에서 실행되는 비율</a:t>
            </a:r>
          </a:p>
        </p:txBody>
      </p:sp>
      <p:sp>
        <p:nvSpPr>
          <p:cNvPr id="8" name="TextBox 7"/>
          <p:cNvSpPr txBox="1"/>
          <p:nvPr/>
        </p:nvSpPr>
        <p:spPr>
          <a:xfrm>
            <a:off x="960120" y="4069079"/>
            <a:ext cx="288036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When LLMs Lag Behind, 2026</a:t>
            </a:r>
          </a:p>
        </p:txBody>
      </p:sp>
      <p:sp>
        <p:nvSpPr>
          <p:cNvPr id="9" name="Rounded Rectangle 8"/>
          <p:cNvSpPr/>
          <p:nvPr/>
        </p:nvSpPr>
        <p:spPr>
          <a:xfrm>
            <a:off x="4343400" y="2331720"/>
            <a:ext cx="3429000" cy="21945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7720" y="2560320"/>
            <a:ext cx="2880360" cy="731520"/>
          </a:xfrm>
          <a:prstGeom prst="rect">
            <a:avLst/>
          </a:prstGeom>
          <a:noFill/>
        </p:spPr>
        <p:txBody>
          <a:bodyPr wrap="square" lIns="0" rIns="0" tIns="0" bIns="0" anchor="t">
            <a:spAutoFit/>
          </a:bodyPr>
          <a:lstStyle/>
          <a:p>
            <a:pPr algn="l">
              <a:lnSpc>
                <a:spcPct val="115000"/>
              </a:lnSpc>
            </a:pPr>
            <a:r>
              <a:rPr sz="4000" b="1">
                <a:solidFill>
                  <a:srgbClr val="1F5FAE"/>
                </a:solidFill>
                <a:latin typeface="맑은 고딕"/>
                <a:ea typeface="맑은 고딕"/>
                <a:cs typeface="맑은 고딕"/>
              </a:rPr>
              <a:t>66.36%</a:t>
            </a:r>
          </a:p>
        </p:txBody>
      </p:sp>
      <p:sp>
        <p:nvSpPr>
          <p:cNvPr id="11" name="TextBox 10"/>
          <p:cNvSpPr txBox="1"/>
          <p:nvPr/>
        </p:nvSpPr>
        <p:spPr>
          <a:xfrm>
            <a:off x="4617720" y="3337560"/>
            <a:ext cx="2880360"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구조화된 문서를 줘도 실행되는 비율</a:t>
            </a:r>
          </a:p>
        </p:txBody>
      </p:sp>
      <p:sp>
        <p:nvSpPr>
          <p:cNvPr id="12" name="TextBox 11"/>
          <p:cNvSpPr txBox="1"/>
          <p:nvPr/>
        </p:nvSpPr>
        <p:spPr>
          <a:xfrm>
            <a:off x="4617720" y="4069079"/>
            <a:ext cx="288036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When LLMs Lag Behind, 2026</a:t>
            </a:r>
          </a:p>
        </p:txBody>
      </p:sp>
      <p:sp>
        <p:nvSpPr>
          <p:cNvPr id="13" name="Rounded Rectangle 12"/>
          <p:cNvSpPr/>
          <p:nvPr/>
        </p:nvSpPr>
        <p:spPr>
          <a:xfrm>
            <a:off x="8001000" y="2331720"/>
            <a:ext cx="3429000" cy="21945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75320" y="2560320"/>
            <a:ext cx="2880360" cy="731520"/>
          </a:xfrm>
          <a:prstGeom prst="rect">
            <a:avLst/>
          </a:prstGeom>
          <a:noFill/>
        </p:spPr>
        <p:txBody>
          <a:bodyPr wrap="square" lIns="0" rIns="0" tIns="0" bIns="0" anchor="t">
            <a:spAutoFit/>
          </a:bodyPr>
          <a:lstStyle/>
          <a:p>
            <a:pPr algn="l">
              <a:lnSpc>
                <a:spcPct val="115000"/>
              </a:lnSpc>
            </a:pPr>
            <a:r>
              <a:rPr sz="4000" b="1">
                <a:solidFill>
                  <a:srgbClr val="1F5FAE"/>
                </a:solidFill>
                <a:latin typeface="맑은 고딕"/>
                <a:ea typeface="맑은 고딕"/>
                <a:cs typeface="맑은 고딕"/>
              </a:rPr>
              <a:t>48~51%</a:t>
            </a:r>
          </a:p>
        </p:txBody>
      </p:sp>
      <p:sp>
        <p:nvSpPr>
          <p:cNvPr id="15" name="TextBox 14"/>
          <p:cNvSpPr txBox="1"/>
          <p:nvPr/>
        </p:nvSpPr>
        <p:spPr>
          <a:xfrm>
            <a:off x="8275320" y="3337560"/>
            <a:ext cx="2880360"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최신 상용 모델의 버전 지정 코드 생성 성공률</a:t>
            </a:r>
          </a:p>
        </p:txBody>
      </p:sp>
      <p:sp>
        <p:nvSpPr>
          <p:cNvPr id="16" name="TextBox 15"/>
          <p:cNvSpPr txBox="1"/>
          <p:nvPr/>
        </p:nvSpPr>
        <p:spPr>
          <a:xfrm>
            <a:off x="8275320" y="4069079"/>
            <a:ext cx="288036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GitChameleon 2.0, 2025</a:t>
            </a:r>
          </a:p>
        </p:txBody>
      </p:sp>
      <p:sp>
        <p:nvSpPr>
          <p:cNvPr id="17" name="TextBox 16"/>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해결</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근거로 고치고, 검사로 한 번 더 확인합니다</a:t>
            </a:r>
          </a:p>
        </p:txBody>
      </p:sp>
      <p:graphicFrame>
        <p:nvGraphicFramePr>
          <p:cNvPr id="4" name="Table 3"/>
          <p:cNvGraphicFramePr>
            <a:graphicFrameLocks noGrp="1"/>
          </p:cNvGraphicFramePr>
          <p:nvPr/>
        </p:nvGraphicFramePr>
        <p:xfrm>
          <a:off x="685800" y="1828800"/>
          <a:ext cx="10817352" cy="3401568"/>
        </p:xfrm>
        <a:graphic>
          <a:graphicData uri="http://schemas.openxmlformats.org/drawingml/2006/table">
            <a:tbl>
              <a:tblPr firstRow="1" bandRow="1">
                <a:tableStyleId>{5940675A-B579-460E-94D1-54222C63F5DA}</a:tableStyleId>
              </a:tblPr>
              <a:tblGrid>
                <a:gridCol w="1737360"/>
                <a:gridCol w="3291840"/>
                <a:gridCol w="5788152"/>
              </a:tblGrid>
              <a:tr h="566928">
                <a:tc>
                  <a:txBody>
                    <a:bodyPr wrap="square"/>
                    <a:lstStyle/>
                    <a:p>
                      <a:r>
                        <a:rPr sz="1500" b="1">
                          <a:solidFill>
                            <a:srgbClr val="1B2433"/>
                          </a:solidFill>
                          <a:latin typeface="맑은 고딕"/>
                          <a:ea typeface="맑은 고딕"/>
                        </a:rPr>
                        <a:t>구분</a:t>
                      </a:r>
                    </a:p>
                  </a:txBody>
                  <a:tcPr marL="109728" marR="109728" marT="45720" marB="45720" anchor="ctr">
                    <a:solidFill>
                      <a:srgbClr val="ECEBE5"/>
                    </a:solidFill>
                  </a:tcPr>
                </a:tc>
                <a:tc>
                  <a:txBody>
                    <a:bodyPr wrap="square"/>
                    <a:lstStyle/>
                    <a:p>
                      <a:r>
                        <a:rPr sz="1500" b="1">
                          <a:solidFill>
                            <a:srgbClr val="1B2433"/>
                          </a:solidFill>
                          <a:latin typeface="맑은 고딕"/>
                          <a:ea typeface="맑은 고딕"/>
                        </a:rPr>
                        <a:t>일반 LLM</a:t>
                      </a:r>
                    </a:p>
                  </a:txBody>
                  <a:tcPr marL="109728" marR="109728" marT="45720" marB="45720" anchor="ctr">
                    <a:solidFill>
                      <a:srgbClr val="ECEBE5"/>
                    </a:solidFill>
                  </a:tcPr>
                </a:tc>
                <a:tc>
                  <a:txBody>
                    <a:bodyPr wrap="square"/>
                    <a:lstStyle/>
                    <a:p>
                      <a:r>
                        <a:rPr sz="1500" b="1">
                          <a:solidFill>
                            <a:srgbClr val="1B2433"/>
                          </a:solidFill>
                          <a:latin typeface="맑은 고딕"/>
                          <a:ea typeface="맑은 고딕"/>
                        </a:rPr>
                        <a:t>우리 챗봇</a:t>
                      </a:r>
                    </a:p>
                  </a:txBody>
                  <a:tcPr marL="109728" marR="109728" marT="45720" marB="45720" anchor="ctr">
                    <a:solidFill>
                      <a:srgbClr val="ECEBE5"/>
                    </a:solidFill>
                  </a:tcPr>
                </a:tc>
              </a:tr>
              <a:tr h="566928">
                <a:tc>
                  <a:txBody>
                    <a:bodyPr wrap="square"/>
                    <a:lstStyle/>
                    <a:p>
                      <a:r>
                        <a:rPr sz="1500" b="1">
                          <a:solidFill>
                            <a:srgbClr val="1B2433"/>
                          </a:solidFill>
                          <a:latin typeface="맑은 고딕"/>
                          <a:ea typeface="맑은 고딕"/>
                        </a:rPr>
                        <a:t>근거</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학습 데이터 (옛 버전이 다수)</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import · 메서드 대응표 + 최신 공식 문서 검색 (RAG)</a:t>
                      </a:r>
                    </a:p>
                  </a:txBody>
                  <a:tcPr marL="109728" marR="109728" marT="45720" marB="45720" anchor="ctr">
                    <a:solidFill>
                      <a:srgbClr val="FFFFFF"/>
                    </a:solidFill>
                  </a:tcPr>
                </a:tc>
              </a:tr>
              <a:tr h="566928">
                <a:tc>
                  <a:txBody>
                    <a:bodyPr wrap="square"/>
                    <a:lstStyle/>
                    <a:p>
                      <a:r>
                        <a:rPr sz="1500" b="1">
                          <a:solidFill>
                            <a:srgbClr val="1B2433"/>
                          </a:solidFill>
                          <a:latin typeface="맑은 고딕"/>
                          <a:ea typeface="맑은 고딕"/>
                        </a:rPr>
                        <a:t>확인</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없음</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verifier가 8가지 검사 (문법, import 존재, 남은 옛 import 등)</a:t>
                      </a:r>
                    </a:p>
                  </a:txBody>
                  <a:tcPr marL="109728" marR="109728" marT="45720" marB="45720" anchor="ctr">
                    <a:solidFill>
                      <a:srgbClr val="FFFFFF"/>
                    </a:solidFill>
                  </a:tcPr>
                </a:tc>
              </a:tr>
              <a:tr h="566928">
                <a:tc>
                  <a:txBody>
                    <a:bodyPr wrap="square"/>
                    <a:lstStyle/>
                    <a:p>
                      <a:r>
                        <a:rPr sz="1500" b="1">
                          <a:solidFill>
                            <a:srgbClr val="1B2433"/>
                          </a:solidFill>
                          <a:latin typeface="맑은 고딕"/>
                          <a:ea typeface="맑은 고딕"/>
                        </a:rPr>
                        <a:t>틀렸을 때</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모름</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실패 이유로 근거를 다시 찾고, 틀린 근거는 빼고 다시 고침 (최대 3회)</a:t>
                      </a:r>
                    </a:p>
                  </a:txBody>
                  <a:tcPr marL="109728" marR="109728" marT="45720" marB="45720" anchor="ctr">
                    <a:solidFill>
                      <a:srgbClr val="FFFFFF"/>
                    </a:solidFill>
                  </a:tcPr>
                </a:tc>
              </a:tr>
              <a:tr h="566928">
                <a:tc>
                  <a:txBody>
                    <a:bodyPr wrap="square"/>
                    <a:lstStyle/>
                    <a:p>
                      <a:r>
                        <a:rPr sz="1500" b="1">
                          <a:solidFill>
                            <a:srgbClr val="1B2433"/>
                          </a:solidFill>
                          <a:latin typeface="맑은 고딕"/>
                          <a:ea typeface="맑은 고딕"/>
                        </a:rPr>
                        <a:t>답변</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코드만</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고친 코드 + 바뀐 줄마다 근거 ID + 시도 횟수</a:t>
                      </a:r>
                    </a:p>
                  </a:txBody>
                  <a:tcPr marL="109728" marR="109728" marT="45720" marB="45720" anchor="ctr">
                    <a:solidFill>
                      <a:srgbClr val="FFFFFF"/>
                    </a:solidFill>
                  </a:tcPr>
                </a:tc>
              </a:tr>
              <a:tr h="566928">
                <a:tc>
                  <a:txBody>
                    <a:bodyPr wrap="square"/>
                    <a:lstStyle/>
                    <a:p>
                      <a:r>
                        <a:rPr sz="1500" b="1">
                          <a:solidFill>
                            <a:srgbClr val="1B2433"/>
                          </a:solidFill>
                          <a:latin typeface="맑은 고딕"/>
                          <a:ea typeface="맑은 고딕"/>
                        </a:rPr>
                        <a:t>버전</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대부분 최신으로만</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지금 버전 → 바꿀 버전 선택 (0.0.300 ~ 1.x, 되돌리기 포함)</a:t>
                      </a:r>
                    </a:p>
                  </a:txBody>
                  <a:tcPr marL="109728" marR="109728" marT="45720" marB="45720" anchor="ctr">
                    <a:solidFill>
                      <a:srgbClr val="FFFFFF"/>
                    </a:solidFill>
                  </a:tcPr>
                </a:tc>
              </a:tr>
            </a:tbl>
          </a:graphicData>
        </a:graphic>
      </p:graphicFrame>
      <p:sp>
        <p:nvSpPr>
          <p:cNvPr id="5" name="TextBox 4"/>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근거 데이터 · 2번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고칠 때 볼 근거를 미리 만들어 두었습니다</a:t>
            </a:r>
          </a:p>
        </p:txBody>
      </p:sp>
      <p:sp>
        <p:nvSpPr>
          <p:cNvPr id="4" name="Rounded Rectangle 3"/>
          <p:cNvSpPr/>
          <p:nvPr/>
        </p:nvSpPr>
        <p:spPr>
          <a:xfrm>
            <a:off x="685800" y="1828800"/>
            <a:ext cx="2560320" cy="1965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057400"/>
            <a:ext cx="2011679" cy="731520"/>
          </a:xfrm>
          <a:prstGeom prst="rect">
            <a:avLst/>
          </a:prstGeom>
          <a:noFill/>
        </p:spPr>
        <p:txBody>
          <a:bodyPr wrap="square" lIns="0" rIns="0" tIns="0" bIns="0" anchor="t">
            <a:spAutoFit/>
          </a:bodyPr>
          <a:lstStyle/>
          <a:p>
            <a:pPr algn="l">
              <a:lnSpc>
                <a:spcPct val="115000"/>
              </a:lnSpc>
            </a:pPr>
            <a:r>
              <a:rPr sz="3200" b="1">
                <a:solidFill>
                  <a:srgbClr val="1F5FAE"/>
                </a:solidFill>
                <a:latin typeface="맑은 고딕"/>
                <a:ea typeface="맑은 고딕"/>
                <a:cs typeface="맑은 고딕"/>
              </a:rPr>
              <a:t>9,155줄</a:t>
            </a:r>
          </a:p>
        </p:txBody>
      </p:sp>
      <p:sp>
        <p:nvSpPr>
          <p:cNvPr id="6" name="TextBox 5"/>
          <p:cNvSpPr txBox="1"/>
          <p:nvPr/>
        </p:nvSpPr>
        <p:spPr>
          <a:xfrm>
            <a:off x="960120" y="2834640"/>
            <a:ext cx="2011679"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import 대응표</a:t>
            </a:r>
          </a:p>
          <a:p>
            <a:pPr algn="l">
              <a:lnSpc>
                <a:spcPct val="130000"/>
              </a:lnSpc>
            </a:pPr>
            <a:r>
              <a:rPr sz="1500" b="0">
                <a:solidFill>
                  <a:srgbClr val="1B2433"/>
                </a:solidFill>
                <a:latin typeface="맑은 고딕"/>
                <a:ea typeface="맑은 고딕"/>
                <a:cs typeface="맑은 고딕"/>
              </a:rPr>
              <a:t>옛 경로 → 1.x 경로</a:t>
            </a:r>
          </a:p>
        </p:txBody>
      </p:sp>
      <p:sp>
        <p:nvSpPr>
          <p:cNvPr id="7" name="Rounded Rectangle 6"/>
          <p:cNvSpPr/>
          <p:nvPr/>
        </p:nvSpPr>
        <p:spPr>
          <a:xfrm>
            <a:off x="3429000" y="1828800"/>
            <a:ext cx="2560320" cy="1965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703320" y="2057400"/>
            <a:ext cx="2011679" cy="731520"/>
          </a:xfrm>
          <a:prstGeom prst="rect">
            <a:avLst/>
          </a:prstGeom>
          <a:noFill/>
        </p:spPr>
        <p:txBody>
          <a:bodyPr wrap="square" lIns="0" rIns="0" tIns="0" bIns="0" anchor="t">
            <a:spAutoFit/>
          </a:bodyPr>
          <a:lstStyle/>
          <a:p>
            <a:pPr algn="l">
              <a:lnSpc>
                <a:spcPct val="115000"/>
              </a:lnSpc>
            </a:pPr>
            <a:r>
              <a:rPr sz="3200" b="1">
                <a:solidFill>
                  <a:srgbClr val="1F5FAE"/>
                </a:solidFill>
                <a:latin typeface="맑은 고딕"/>
                <a:ea typeface="맑은 고딕"/>
                <a:cs typeface="맑은 고딕"/>
              </a:rPr>
              <a:t>42개</a:t>
            </a:r>
          </a:p>
        </p:txBody>
      </p:sp>
      <p:sp>
        <p:nvSpPr>
          <p:cNvPr id="9" name="TextBox 8"/>
          <p:cNvSpPr txBox="1"/>
          <p:nvPr/>
        </p:nvSpPr>
        <p:spPr>
          <a:xfrm>
            <a:off x="3703320" y="2834640"/>
            <a:ext cx="2011679"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메서드 대응표</a:t>
            </a:r>
          </a:p>
          <a:p>
            <a:pPr algn="l">
              <a:lnSpc>
                <a:spcPct val="130000"/>
              </a:lnSpc>
            </a:pPr>
            <a:r>
              <a:rPr sz="1500" b="0">
                <a:solidFill>
                  <a:srgbClr val="1B2433"/>
                </a:solidFill>
                <a:latin typeface="맑은 고딕"/>
                <a:ea typeface="맑은 고딕"/>
                <a:cs typeface="맑은 고딕"/>
              </a:rPr>
              <a:t>.run() → .invoke() 등</a:t>
            </a:r>
          </a:p>
        </p:txBody>
      </p:sp>
      <p:sp>
        <p:nvSpPr>
          <p:cNvPr id="10" name="Rounded Rectangle 9"/>
          <p:cNvSpPr/>
          <p:nvPr/>
        </p:nvSpPr>
        <p:spPr>
          <a:xfrm>
            <a:off x="6172200" y="1828800"/>
            <a:ext cx="2560320" cy="1965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46520" y="2057400"/>
            <a:ext cx="2011679" cy="731520"/>
          </a:xfrm>
          <a:prstGeom prst="rect">
            <a:avLst/>
          </a:prstGeom>
          <a:noFill/>
        </p:spPr>
        <p:txBody>
          <a:bodyPr wrap="square" lIns="0" rIns="0" tIns="0" bIns="0" anchor="t">
            <a:spAutoFit/>
          </a:bodyPr>
          <a:lstStyle/>
          <a:p>
            <a:pPr algn="l">
              <a:lnSpc>
                <a:spcPct val="115000"/>
              </a:lnSpc>
            </a:pPr>
            <a:r>
              <a:rPr sz="3200" b="1">
                <a:solidFill>
                  <a:srgbClr val="1F5FAE"/>
                </a:solidFill>
                <a:latin typeface="맑은 고딕"/>
                <a:ea typeface="맑은 고딕"/>
                <a:cs typeface="맑은 고딕"/>
              </a:rPr>
              <a:t>295개</a:t>
            </a:r>
          </a:p>
        </p:txBody>
      </p:sp>
      <p:sp>
        <p:nvSpPr>
          <p:cNvPr id="12" name="TextBox 11"/>
          <p:cNvSpPr txBox="1"/>
          <p:nvPr/>
        </p:nvSpPr>
        <p:spPr>
          <a:xfrm>
            <a:off x="6446520" y="2834640"/>
            <a:ext cx="2011679"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공식 문서</a:t>
            </a:r>
          </a:p>
          <a:p>
            <a:pPr algn="l">
              <a:lnSpc>
                <a:spcPct val="130000"/>
              </a:lnSpc>
            </a:pPr>
            <a:r>
              <a:rPr sz="1500" b="0">
                <a:solidFill>
                  <a:srgbClr val="1B2433"/>
                </a:solidFill>
                <a:latin typeface="맑은 고딕"/>
                <a:ea typeface="맑은 고딕"/>
                <a:cs typeface="맑은 고딕"/>
              </a:rPr>
              <a:t>최신 271 · 가이드 24</a:t>
            </a:r>
          </a:p>
        </p:txBody>
      </p:sp>
      <p:sp>
        <p:nvSpPr>
          <p:cNvPr id="13" name="Rounded Rectangle 12"/>
          <p:cNvSpPr/>
          <p:nvPr/>
        </p:nvSpPr>
        <p:spPr>
          <a:xfrm>
            <a:off x="8915400" y="1828800"/>
            <a:ext cx="2560320" cy="1965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89720" y="2057400"/>
            <a:ext cx="2011679" cy="731520"/>
          </a:xfrm>
          <a:prstGeom prst="rect">
            <a:avLst/>
          </a:prstGeom>
          <a:noFill/>
        </p:spPr>
        <p:txBody>
          <a:bodyPr wrap="square" lIns="0" rIns="0" tIns="0" bIns="0" anchor="t">
            <a:spAutoFit/>
          </a:bodyPr>
          <a:lstStyle/>
          <a:p>
            <a:pPr algn="l">
              <a:lnSpc>
                <a:spcPct val="115000"/>
              </a:lnSpc>
            </a:pPr>
            <a:r>
              <a:rPr sz="3200" b="1">
                <a:solidFill>
                  <a:srgbClr val="1F5FAE"/>
                </a:solidFill>
                <a:latin typeface="맑은 고딕"/>
                <a:ea typeface="맑은 고딕"/>
                <a:cs typeface="맑은 고딕"/>
              </a:rPr>
              <a:t>11,945개</a:t>
            </a:r>
          </a:p>
        </p:txBody>
      </p:sp>
      <p:sp>
        <p:nvSpPr>
          <p:cNvPr id="15" name="TextBox 14"/>
          <p:cNvSpPr txBox="1"/>
          <p:nvPr/>
        </p:nvSpPr>
        <p:spPr>
          <a:xfrm>
            <a:off x="9189720" y="2834640"/>
            <a:ext cx="2011679"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검색용 조각 (청크)</a:t>
            </a:r>
          </a:p>
          <a:p>
            <a:pPr algn="l">
              <a:lnSpc>
                <a:spcPct val="130000"/>
              </a:lnSpc>
            </a:pPr>
            <a:r>
              <a:rPr sz="1500" b="0">
                <a:solidFill>
                  <a:srgbClr val="1B2433"/>
                </a:solidFill>
                <a:latin typeface="맑은 고딕"/>
                <a:ea typeface="맑은 고딕"/>
                <a:cs typeface="맑은 고딕"/>
              </a:rPr>
              <a:t>Chroma + BM25 검색</a:t>
            </a:r>
          </a:p>
        </p:txBody>
      </p:sp>
      <p:sp>
        <p:nvSpPr>
          <p:cNvPr id="16" name="TextBox 15"/>
          <p:cNvSpPr txBox="1"/>
          <p:nvPr/>
        </p:nvSpPr>
        <p:spPr>
          <a:xfrm>
            <a:off x="685800" y="4114800"/>
            <a:ext cx="107899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출처 4가지</a:t>
            </a:r>
          </a:p>
        </p:txBody>
      </p:sp>
      <p:graphicFrame>
        <p:nvGraphicFramePr>
          <p:cNvPr id="17" name="Table 16"/>
          <p:cNvGraphicFramePr>
            <a:graphicFrameLocks noGrp="1"/>
          </p:cNvGraphicFramePr>
          <p:nvPr/>
        </p:nvGraphicFramePr>
        <p:xfrm>
          <a:off x="685800" y="4526280"/>
          <a:ext cx="10817352" cy="914400"/>
        </p:xfrm>
        <a:graphic>
          <a:graphicData uri="http://schemas.openxmlformats.org/drawingml/2006/table">
            <a:tbl>
              <a:tblPr firstRow="1" bandRow="1">
                <a:tableStyleId>{5940675A-B579-460E-94D1-54222C63F5DA}</a:tableStyleId>
              </a:tblPr>
              <a:tblGrid>
                <a:gridCol w="2697480"/>
                <a:gridCol w="2697480"/>
                <a:gridCol w="2697480"/>
                <a:gridCol w="2724912"/>
              </a:tblGrid>
              <a:tr h="457200">
                <a:tc>
                  <a:txBody>
                    <a:bodyPr wrap="square"/>
                    <a:lstStyle/>
                    <a:p>
                      <a:r>
                        <a:rPr sz="1300" b="1">
                          <a:solidFill>
                            <a:srgbClr val="1B2433"/>
                          </a:solidFill>
                          <a:latin typeface="맑은 고딕"/>
                          <a:ea typeface="맑은 고딕"/>
                        </a:rPr>
                        <a:t>PyPI 패키지 코드</a:t>
                      </a:r>
                    </a:p>
                  </a:txBody>
                  <a:tcPr marL="109728" marR="109728" marT="45720" marB="45720" anchor="ctr">
                    <a:solidFill>
                      <a:srgbClr val="ECEBE5"/>
                    </a:solidFill>
                  </a:tcPr>
                </a:tc>
                <a:tc>
                  <a:txBody>
                    <a:bodyPr wrap="square"/>
                    <a:lstStyle/>
                    <a:p>
                      <a:r>
                        <a:rPr sz="1300" b="1">
                          <a:solidFill>
                            <a:srgbClr val="1B2433"/>
                          </a:solidFill>
                          <a:latin typeface="맑은 고딕"/>
                          <a:ea typeface="맑은 고딕"/>
                        </a:rPr>
                        <a:t>langchain-cli 변환 규칙</a:t>
                      </a:r>
                    </a:p>
                  </a:txBody>
                  <a:tcPr marL="109728" marR="109728" marT="45720" marB="45720" anchor="ctr">
                    <a:solidFill>
                      <a:srgbClr val="ECEBE5"/>
                    </a:solidFill>
                  </a:tcPr>
                </a:tc>
                <a:tc>
                  <a:txBody>
                    <a:bodyPr wrap="square"/>
                    <a:lstStyle/>
                    <a:p>
                      <a:r>
                        <a:rPr sz="1300" b="1">
                          <a:solidFill>
                            <a:srgbClr val="1B2433"/>
                          </a:solidFill>
                          <a:latin typeface="맑은 고딕"/>
                          <a:ea typeface="맑은 고딕"/>
                        </a:rPr>
                        <a:t>최신 공식 문서</a:t>
                      </a:r>
                    </a:p>
                  </a:txBody>
                  <a:tcPr marL="109728" marR="109728" marT="45720" marB="45720" anchor="ctr">
                    <a:solidFill>
                      <a:srgbClr val="ECEBE5"/>
                    </a:solidFill>
                  </a:tcPr>
                </a:tc>
                <a:tc>
                  <a:txBody>
                    <a:bodyPr wrap="square"/>
                    <a:lstStyle/>
                    <a:p>
                      <a:r>
                        <a:rPr sz="1300" b="1">
                          <a:solidFill>
                            <a:srgbClr val="1B2433"/>
                          </a:solidFill>
                          <a:latin typeface="맑은 고딕"/>
                          <a:ea typeface="맑은 고딕"/>
                        </a:rPr>
                        <a:t>0.3.30 옛 마이그레이션 가이드</a:t>
                      </a:r>
                    </a:p>
                  </a:txBody>
                  <a:tcPr marL="109728" marR="109728" marT="45720" marB="45720" anchor="ctr">
                    <a:solidFill>
                      <a:srgbClr val="ECEBE5"/>
                    </a:solidFill>
                  </a:tcPr>
                </a:tc>
              </a:tr>
              <a:tr h="457200">
                <a:tc>
                  <a:txBody>
                    <a:bodyPr wrap="square"/>
                    <a:lstStyle/>
                    <a:p>
                      <a:r>
                        <a:rPr sz="1300" b="0">
                          <a:solidFill>
                            <a:srgbClr val="1B2433"/>
                          </a:solidFill>
                          <a:latin typeface="맑은 고딕"/>
                          <a:ea typeface="맑은 고딕"/>
                        </a:rPr>
                        <a:t>버전별 도구 목록 23개</a:t>
                      </a:r>
                    </a:p>
                  </a:txBody>
                  <a:tcPr marL="109728" marR="109728" marT="45720" marB="45720" anchor="ctr">
                    <a:solidFill>
                      <a:srgbClr val="FFFFFF"/>
                    </a:solidFill>
                  </a:tcPr>
                </a:tc>
                <a:tc>
                  <a:txBody>
                    <a:bodyPr wrap="square"/>
                    <a:lstStyle/>
                    <a:p>
                      <a:r>
                        <a:rPr sz="1300" b="0">
                          <a:solidFill>
                            <a:srgbClr val="1B2433"/>
                          </a:solidFill>
                          <a:latin typeface="맑은 고딕"/>
                          <a:ea typeface="맑은 고딕"/>
                        </a:rPr>
                        <a:t>공식 자동 변환 규칙</a:t>
                      </a:r>
                    </a:p>
                  </a:txBody>
                  <a:tcPr marL="109728" marR="109728" marT="45720" marB="45720" anchor="ctr">
                    <a:solidFill>
                      <a:srgbClr val="FFFFFF"/>
                    </a:solidFill>
                  </a:tcPr>
                </a:tc>
                <a:tc>
                  <a:txBody>
                    <a:bodyPr wrap="square"/>
                    <a:lstStyle/>
                    <a:p>
                      <a:r>
                        <a:rPr sz="1300" b="0">
                          <a:solidFill>
                            <a:srgbClr val="1B2433"/>
                          </a:solidFill>
                          <a:latin typeface="맑은 고딕"/>
                          <a:ea typeface="맑은 고딕"/>
                        </a:rPr>
                        <a:t>임베딩: text-embedding-3-small</a:t>
                      </a:r>
                    </a:p>
                  </a:txBody>
                  <a:tcPr marL="109728" marR="109728" marT="45720" marB="45720" anchor="ctr">
                    <a:solidFill>
                      <a:srgbClr val="FFFFFF"/>
                    </a:solidFill>
                  </a:tcPr>
                </a:tc>
                <a:tc>
                  <a:txBody>
                    <a:bodyPr wrap="square"/>
                    <a:lstStyle/>
                    <a:p>
                      <a:r>
                        <a:rPr sz="1300" b="0">
                          <a:solidFill>
                            <a:srgbClr val="1B2433"/>
                          </a:solidFill>
                          <a:latin typeface="맑은 고딕"/>
                          <a:ea typeface="맑은 고딕"/>
                        </a:rPr>
                        <a:t>옛 방식 → 새 방식 설명</a:t>
                      </a:r>
                    </a:p>
                  </a:txBody>
                  <a:tcPr marL="109728" marR="109728" marT="45720" marB="45720" anchor="ctr">
                    <a:solidFill>
                      <a:srgbClr val="FFFFFF"/>
                    </a:solidFill>
                  </a:tcPr>
                </a:tc>
              </a:tr>
            </a:tbl>
          </a:graphicData>
        </a:graphic>
      </p:graphicFrame>
      <p:sp>
        <p:nvSpPr>
          <p:cNvPr id="18" name="TextBox 17"/>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5 · 2026-10-14 팀 저장소 dev 기준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시스템 구조</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네 단계를 거치고, 실패하면 되돌아갑니다</a:t>
            </a:r>
          </a:p>
        </p:txBody>
      </p:sp>
      <p:sp>
        <p:nvSpPr>
          <p:cNvPr id="4" name="Rounded Rectangle 3"/>
          <p:cNvSpPr/>
          <p:nvPr/>
        </p:nvSpPr>
        <p:spPr>
          <a:xfrm>
            <a:off x="685800" y="2148840"/>
            <a:ext cx="1874519"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2313432"/>
            <a:ext cx="1508760" cy="274320"/>
          </a:xfrm>
          <a:prstGeom prst="rect">
            <a:avLst/>
          </a:prstGeom>
          <a:noFill/>
        </p:spPr>
        <p:txBody>
          <a:bodyPr wrap="square" lIns="0" rIns="0" tIns="0" bIns="0" anchor="t">
            <a:spAutoFit/>
          </a:bodyPr>
          <a:lstStyle/>
          <a:p>
            <a:pPr algn="l">
              <a:lnSpc>
                <a:spcPct val="115000"/>
              </a:lnSpc>
            </a:pPr>
            <a:r>
              <a:rPr sz="1200" b="0">
                <a:solidFill>
                  <a:srgbClr val="8A8F98"/>
                </a:solidFill>
                <a:latin typeface="맑은 고딕"/>
                <a:ea typeface="맑은 고딕"/>
                <a:cs typeface="맑은 고딕"/>
              </a:rPr>
              <a:t>담당 1번</a:t>
            </a:r>
          </a:p>
        </p:txBody>
      </p:sp>
      <p:sp>
        <p:nvSpPr>
          <p:cNvPr id="6" name="TextBox 5"/>
          <p:cNvSpPr txBox="1"/>
          <p:nvPr/>
        </p:nvSpPr>
        <p:spPr>
          <a:xfrm>
            <a:off x="868680" y="2587752"/>
            <a:ext cx="150876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① analyzer</a:t>
            </a:r>
          </a:p>
        </p:txBody>
      </p:sp>
      <p:sp>
        <p:nvSpPr>
          <p:cNvPr id="7" name="TextBox 6"/>
          <p:cNvSpPr txBox="1"/>
          <p:nvPr/>
        </p:nvSpPr>
        <p:spPr>
          <a:xfrm>
            <a:off x="868680" y="2990088"/>
            <a:ext cx="1508760" cy="731520"/>
          </a:xfrm>
          <a:prstGeom prst="rect">
            <a:avLst/>
          </a:prstGeom>
          <a:noFill/>
        </p:spPr>
        <p:txBody>
          <a:bodyPr wrap="square" lIns="0" rIns="0" tIns="0" bIns="0" anchor="t">
            <a:spAutoFit/>
          </a:bodyPr>
          <a:lstStyle/>
          <a:p>
            <a:pPr algn="l">
              <a:lnSpc>
                <a:spcPct val="125000"/>
              </a:lnSpc>
            </a:pPr>
            <a:r>
              <a:rPr sz="1300" b="0">
                <a:solidFill>
                  <a:srgbClr val="4A5363"/>
                </a:solidFill>
                <a:latin typeface="맑은 고딕"/>
                <a:ea typeface="맑은 고딕"/>
                <a:cs typeface="맑은 고딕"/>
              </a:rPr>
              <a:t>바꿀 부분 찾기</a:t>
            </a:r>
          </a:p>
        </p:txBody>
      </p:sp>
      <p:cxnSp>
        <p:nvCxnSpPr>
          <p:cNvPr id="8" name="Connector 7"/>
          <p:cNvCxnSpPr/>
          <p:nvPr/>
        </p:nvCxnSpPr>
        <p:spPr>
          <a:xfrm>
            <a:off x="2596896" y="2944368"/>
            <a:ext cx="283464" cy="0"/>
          </a:xfrm>
          <a:prstGeom prst="line">
            <a:avLst/>
          </a:prstGeom>
          <a:ln w="19050">
            <a:solidFill>
              <a:srgbClr val="8A8F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916936" y="2148840"/>
            <a:ext cx="1874519"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99816" y="2313432"/>
            <a:ext cx="1508760" cy="274320"/>
          </a:xfrm>
          <a:prstGeom prst="rect">
            <a:avLst/>
          </a:prstGeom>
          <a:noFill/>
        </p:spPr>
        <p:txBody>
          <a:bodyPr wrap="square" lIns="0" rIns="0" tIns="0" bIns="0" anchor="t">
            <a:spAutoFit/>
          </a:bodyPr>
          <a:lstStyle/>
          <a:p>
            <a:pPr algn="l">
              <a:lnSpc>
                <a:spcPct val="115000"/>
              </a:lnSpc>
            </a:pPr>
            <a:r>
              <a:rPr sz="1200" b="0">
                <a:solidFill>
                  <a:srgbClr val="8A8F98"/>
                </a:solidFill>
                <a:latin typeface="맑은 고딕"/>
                <a:ea typeface="맑은 고딕"/>
                <a:cs typeface="맑은 고딕"/>
              </a:rPr>
              <a:t>담당 2번</a:t>
            </a:r>
          </a:p>
        </p:txBody>
      </p:sp>
      <p:sp>
        <p:nvSpPr>
          <p:cNvPr id="11" name="TextBox 10"/>
          <p:cNvSpPr txBox="1"/>
          <p:nvPr/>
        </p:nvSpPr>
        <p:spPr>
          <a:xfrm>
            <a:off x="3099816" y="2587752"/>
            <a:ext cx="150876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② retriever</a:t>
            </a:r>
          </a:p>
        </p:txBody>
      </p:sp>
      <p:sp>
        <p:nvSpPr>
          <p:cNvPr id="12" name="TextBox 11"/>
          <p:cNvSpPr txBox="1"/>
          <p:nvPr/>
        </p:nvSpPr>
        <p:spPr>
          <a:xfrm>
            <a:off x="3099816" y="2990088"/>
            <a:ext cx="1508760" cy="731520"/>
          </a:xfrm>
          <a:prstGeom prst="rect">
            <a:avLst/>
          </a:prstGeom>
          <a:noFill/>
        </p:spPr>
        <p:txBody>
          <a:bodyPr wrap="square" lIns="0" rIns="0" tIns="0" bIns="0" anchor="t">
            <a:spAutoFit/>
          </a:bodyPr>
          <a:lstStyle/>
          <a:p>
            <a:pPr algn="l">
              <a:lnSpc>
                <a:spcPct val="125000"/>
              </a:lnSpc>
            </a:pPr>
            <a:r>
              <a:rPr sz="1300" b="0">
                <a:solidFill>
                  <a:srgbClr val="4A5363"/>
                </a:solidFill>
                <a:latin typeface="맑은 고딕"/>
                <a:ea typeface="맑은 고딕"/>
                <a:cs typeface="맑은 고딕"/>
              </a:rPr>
              <a:t>대응표 정확 매칭</a:t>
            </a:r>
          </a:p>
          <a:p>
            <a:pPr algn="l">
              <a:lnSpc>
                <a:spcPct val="125000"/>
              </a:lnSpc>
            </a:pPr>
            <a:r>
              <a:rPr sz="1300" b="0">
                <a:solidFill>
                  <a:srgbClr val="4A5363"/>
                </a:solidFill>
                <a:latin typeface="맑은 고딕"/>
                <a:ea typeface="맑은 고딕"/>
                <a:cs typeface="맑은 고딕"/>
              </a:rPr>
              <a:t>+ 하이브리드 검색</a:t>
            </a:r>
          </a:p>
        </p:txBody>
      </p:sp>
      <p:cxnSp>
        <p:nvCxnSpPr>
          <p:cNvPr id="13" name="Connector 12"/>
          <p:cNvCxnSpPr/>
          <p:nvPr/>
        </p:nvCxnSpPr>
        <p:spPr>
          <a:xfrm>
            <a:off x="4828032" y="2944368"/>
            <a:ext cx="283464" cy="0"/>
          </a:xfrm>
          <a:prstGeom prst="line">
            <a:avLst/>
          </a:prstGeom>
          <a:ln w="19050">
            <a:solidFill>
              <a:srgbClr val="8A8F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48072" y="2148840"/>
            <a:ext cx="1874519"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30952" y="2313432"/>
            <a:ext cx="1508760" cy="274320"/>
          </a:xfrm>
          <a:prstGeom prst="rect">
            <a:avLst/>
          </a:prstGeom>
          <a:noFill/>
        </p:spPr>
        <p:txBody>
          <a:bodyPr wrap="square" lIns="0" rIns="0" tIns="0" bIns="0" anchor="t">
            <a:spAutoFit/>
          </a:bodyPr>
          <a:lstStyle/>
          <a:p>
            <a:pPr algn="l">
              <a:lnSpc>
                <a:spcPct val="115000"/>
              </a:lnSpc>
            </a:pPr>
            <a:r>
              <a:rPr sz="1200" b="0">
                <a:solidFill>
                  <a:srgbClr val="8A8F98"/>
                </a:solidFill>
                <a:latin typeface="맑은 고딕"/>
                <a:ea typeface="맑은 고딕"/>
                <a:cs typeface="맑은 고딕"/>
              </a:rPr>
              <a:t>담당 3번</a:t>
            </a:r>
          </a:p>
        </p:txBody>
      </p:sp>
      <p:sp>
        <p:nvSpPr>
          <p:cNvPr id="16" name="TextBox 15"/>
          <p:cNvSpPr txBox="1"/>
          <p:nvPr/>
        </p:nvSpPr>
        <p:spPr>
          <a:xfrm>
            <a:off x="5330952" y="2587752"/>
            <a:ext cx="150876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③ rewriter</a:t>
            </a:r>
          </a:p>
        </p:txBody>
      </p:sp>
      <p:sp>
        <p:nvSpPr>
          <p:cNvPr id="17" name="TextBox 16"/>
          <p:cNvSpPr txBox="1"/>
          <p:nvPr/>
        </p:nvSpPr>
        <p:spPr>
          <a:xfrm>
            <a:off x="5330952" y="2990088"/>
            <a:ext cx="1508760" cy="731520"/>
          </a:xfrm>
          <a:prstGeom prst="rect">
            <a:avLst/>
          </a:prstGeom>
          <a:noFill/>
        </p:spPr>
        <p:txBody>
          <a:bodyPr wrap="square" lIns="0" rIns="0" tIns="0" bIns="0" anchor="t">
            <a:spAutoFit/>
          </a:bodyPr>
          <a:lstStyle/>
          <a:p>
            <a:pPr algn="l">
              <a:lnSpc>
                <a:spcPct val="125000"/>
              </a:lnSpc>
            </a:pPr>
            <a:r>
              <a:rPr sz="1300" b="0">
                <a:solidFill>
                  <a:srgbClr val="4A5363"/>
                </a:solidFill>
                <a:latin typeface="맑은 고딕"/>
                <a:ea typeface="맑은 고딕"/>
                <a:cs typeface="맑은 고딕"/>
              </a:rPr>
              <a:t>근거 ID를 붙여</a:t>
            </a:r>
          </a:p>
          <a:p>
            <a:pPr algn="l">
              <a:lnSpc>
                <a:spcPct val="125000"/>
              </a:lnSpc>
            </a:pPr>
            <a:r>
              <a:rPr sz="1300" b="0">
                <a:solidFill>
                  <a:srgbClr val="4A5363"/>
                </a:solidFill>
                <a:latin typeface="맑은 고딕"/>
                <a:ea typeface="맑은 고딕"/>
                <a:cs typeface="맑은 고딕"/>
              </a:rPr>
              <a:t>코드 다시 쓰기</a:t>
            </a:r>
          </a:p>
        </p:txBody>
      </p:sp>
      <p:cxnSp>
        <p:nvCxnSpPr>
          <p:cNvPr id="18" name="Connector 17"/>
          <p:cNvCxnSpPr/>
          <p:nvPr/>
        </p:nvCxnSpPr>
        <p:spPr>
          <a:xfrm>
            <a:off x="7059168" y="2944368"/>
            <a:ext cx="283464" cy="0"/>
          </a:xfrm>
          <a:prstGeom prst="line">
            <a:avLst/>
          </a:prstGeom>
          <a:ln w="19050">
            <a:solidFill>
              <a:srgbClr val="8A8F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79208" y="2148840"/>
            <a:ext cx="1874519" cy="1600200"/>
          </a:xfrm>
          <a:prstGeom prst="roundRect">
            <a:avLst>
              <a:gd name="adj" fmla="val 6000"/>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562088" y="2313432"/>
            <a:ext cx="1508760" cy="274320"/>
          </a:xfrm>
          <a:prstGeom prst="rect">
            <a:avLst/>
          </a:prstGeom>
          <a:noFill/>
        </p:spPr>
        <p:txBody>
          <a:bodyPr wrap="square" lIns="0" rIns="0" tIns="0" bIns="0" anchor="t">
            <a:spAutoFit/>
          </a:bodyPr>
          <a:lstStyle/>
          <a:p>
            <a:pPr algn="l">
              <a:lnSpc>
                <a:spcPct val="115000"/>
              </a:lnSpc>
            </a:pPr>
            <a:r>
              <a:rPr sz="1200" b="0">
                <a:solidFill>
                  <a:srgbClr val="D6E5F8"/>
                </a:solidFill>
                <a:latin typeface="맑은 고딕"/>
                <a:ea typeface="맑은 고딕"/>
                <a:cs typeface="맑은 고딕"/>
              </a:rPr>
              <a:t>담당 3번</a:t>
            </a:r>
          </a:p>
        </p:txBody>
      </p:sp>
      <p:sp>
        <p:nvSpPr>
          <p:cNvPr id="21" name="TextBox 20"/>
          <p:cNvSpPr txBox="1"/>
          <p:nvPr/>
        </p:nvSpPr>
        <p:spPr>
          <a:xfrm>
            <a:off x="7562088" y="2587752"/>
            <a:ext cx="1508760" cy="365760"/>
          </a:xfrm>
          <a:prstGeom prst="rect">
            <a:avLst/>
          </a:prstGeom>
          <a:noFill/>
        </p:spPr>
        <p:txBody>
          <a:bodyPr wrap="square" lIns="0" rIns="0" tIns="0" bIns="0" anchor="t">
            <a:spAutoFit/>
          </a:bodyPr>
          <a:lstStyle/>
          <a:p>
            <a:pPr algn="l">
              <a:lnSpc>
                <a:spcPct val="115000"/>
              </a:lnSpc>
            </a:pPr>
            <a:r>
              <a:rPr sz="1700" b="1">
                <a:solidFill>
                  <a:srgbClr val="FFFFFF"/>
                </a:solidFill>
                <a:latin typeface="맑은 고딕"/>
                <a:ea typeface="맑은 고딕"/>
                <a:cs typeface="맑은 고딕"/>
              </a:rPr>
              <a:t>④ verifier</a:t>
            </a:r>
          </a:p>
        </p:txBody>
      </p:sp>
      <p:sp>
        <p:nvSpPr>
          <p:cNvPr id="22" name="TextBox 21"/>
          <p:cNvSpPr txBox="1"/>
          <p:nvPr/>
        </p:nvSpPr>
        <p:spPr>
          <a:xfrm>
            <a:off x="7562088" y="2990088"/>
            <a:ext cx="1508760" cy="731520"/>
          </a:xfrm>
          <a:prstGeom prst="rect">
            <a:avLst/>
          </a:prstGeom>
          <a:noFill/>
        </p:spPr>
        <p:txBody>
          <a:bodyPr wrap="square" lIns="0" rIns="0" tIns="0" bIns="0" anchor="t">
            <a:spAutoFit/>
          </a:bodyPr>
          <a:lstStyle/>
          <a:p>
            <a:pPr algn="l">
              <a:lnSpc>
                <a:spcPct val="125000"/>
              </a:lnSpc>
            </a:pPr>
            <a:r>
              <a:rPr sz="1300" b="0">
                <a:solidFill>
                  <a:srgbClr val="E4EEFB"/>
                </a:solidFill>
                <a:latin typeface="맑은 고딕"/>
                <a:ea typeface="맑은 고딕"/>
                <a:cs typeface="맑은 고딕"/>
              </a:rPr>
              <a:t>LLM 없이</a:t>
            </a:r>
          </a:p>
          <a:p>
            <a:pPr algn="l">
              <a:lnSpc>
                <a:spcPct val="125000"/>
              </a:lnSpc>
            </a:pPr>
            <a:r>
              <a:rPr sz="1300" b="0">
                <a:solidFill>
                  <a:srgbClr val="E4EEFB"/>
                </a:solidFill>
                <a:latin typeface="맑은 고딕"/>
                <a:ea typeface="맑은 고딕"/>
                <a:cs typeface="맑은 고딕"/>
              </a:rPr>
              <a:t>8가지 검사</a:t>
            </a:r>
          </a:p>
        </p:txBody>
      </p:sp>
      <p:cxnSp>
        <p:nvCxnSpPr>
          <p:cNvPr id="23" name="Connector 22"/>
          <p:cNvCxnSpPr/>
          <p:nvPr/>
        </p:nvCxnSpPr>
        <p:spPr>
          <a:xfrm>
            <a:off x="9290304" y="2944368"/>
            <a:ext cx="283464" cy="0"/>
          </a:xfrm>
          <a:prstGeom prst="line">
            <a:avLst/>
          </a:prstGeom>
          <a:ln w="19050">
            <a:solidFill>
              <a:srgbClr val="8A8F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10344" y="2148840"/>
            <a:ext cx="1874519"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793224" y="2313432"/>
            <a:ext cx="1508760" cy="274320"/>
          </a:xfrm>
          <a:prstGeom prst="rect">
            <a:avLst/>
          </a:prstGeom>
          <a:noFill/>
        </p:spPr>
        <p:txBody>
          <a:bodyPr wrap="square" lIns="0" rIns="0" tIns="0" bIns="0" anchor="t">
            <a:spAutoFit/>
          </a:bodyPr>
          <a:lstStyle/>
          <a:p>
            <a:pPr algn="l">
              <a:lnSpc>
                <a:spcPct val="115000"/>
              </a:lnSpc>
            </a:pPr>
            <a:r>
              <a:rPr sz="1200" b="0">
                <a:solidFill>
                  <a:srgbClr val="8A8F98"/>
                </a:solidFill>
                <a:latin typeface="맑은 고딕"/>
                <a:ea typeface="맑은 고딕"/>
                <a:cs typeface="맑은 고딕"/>
              </a:rPr>
              <a:t>담당 4번</a:t>
            </a:r>
          </a:p>
        </p:txBody>
      </p:sp>
      <p:sp>
        <p:nvSpPr>
          <p:cNvPr id="26" name="TextBox 25"/>
          <p:cNvSpPr txBox="1"/>
          <p:nvPr/>
        </p:nvSpPr>
        <p:spPr>
          <a:xfrm>
            <a:off x="9793224" y="2587752"/>
            <a:ext cx="150876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결과 → 화면</a:t>
            </a:r>
          </a:p>
        </p:txBody>
      </p:sp>
      <p:sp>
        <p:nvSpPr>
          <p:cNvPr id="27" name="TextBox 26"/>
          <p:cNvSpPr txBox="1"/>
          <p:nvPr/>
        </p:nvSpPr>
        <p:spPr>
          <a:xfrm>
            <a:off x="9793224" y="2990088"/>
            <a:ext cx="1508760" cy="731520"/>
          </a:xfrm>
          <a:prstGeom prst="rect">
            <a:avLst/>
          </a:prstGeom>
          <a:noFill/>
        </p:spPr>
        <p:txBody>
          <a:bodyPr wrap="square" lIns="0" rIns="0" tIns="0" bIns="0" anchor="t">
            <a:spAutoFit/>
          </a:bodyPr>
          <a:lstStyle/>
          <a:p>
            <a:pPr algn="l">
              <a:lnSpc>
                <a:spcPct val="125000"/>
              </a:lnSpc>
            </a:pPr>
            <a:r>
              <a:rPr sz="1300" b="0">
                <a:solidFill>
                  <a:srgbClr val="4A5363"/>
                </a:solidFill>
                <a:latin typeface="맑은 고딕"/>
                <a:ea typeface="맑은 고딕"/>
                <a:cs typeface="맑은 고딕"/>
              </a:rPr>
              <a:t>결과 패널 표시</a:t>
            </a:r>
          </a:p>
          <a:p>
            <a:pPr algn="l">
              <a:lnSpc>
                <a:spcPct val="125000"/>
              </a:lnSpc>
            </a:pPr>
            <a:r>
              <a:rPr sz="1300" b="0">
                <a:solidFill>
                  <a:srgbClr val="4A5363"/>
                </a:solidFill>
                <a:latin typeface="맑은 고딕"/>
                <a:ea typeface="맑은 고딕"/>
                <a:cs typeface="맑은 고딕"/>
              </a:rPr>
              <a:t>TiDB에 대화 저장</a:t>
            </a:r>
          </a:p>
        </p:txBody>
      </p:sp>
      <p:cxnSp>
        <p:nvCxnSpPr>
          <p:cNvPr id="28" name="Connector 27"/>
          <p:cNvCxnSpPr/>
          <p:nvPr/>
        </p:nvCxnSpPr>
        <p:spPr>
          <a:xfrm>
            <a:off x="8316468" y="3749039"/>
            <a:ext cx="0" cy="594361"/>
          </a:xfrm>
          <a:prstGeom prst="line">
            <a:avLst/>
          </a:prstGeom>
          <a:ln w="19050">
            <a:solidFill>
              <a:srgbClr val="B4471B"/>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854196" y="4343400"/>
            <a:ext cx="4462272" cy="0"/>
          </a:xfrm>
          <a:prstGeom prst="line">
            <a:avLst/>
          </a:prstGeom>
          <a:ln w="19050">
            <a:solidFill>
              <a:srgbClr val="B4471B"/>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854196" y="3794760"/>
            <a:ext cx="0" cy="548640"/>
          </a:xfrm>
          <a:prstGeom prst="line">
            <a:avLst/>
          </a:prstGeom>
          <a:ln w="19050">
            <a:solidFill>
              <a:srgbClr val="B447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939796" y="4434840"/>
            <a:ext cx="6291072" cy="365760"/>
          </a:xfrm>
          <a:prstGeom prst="rect">
            <a:avLst/>
          </a:prstGeom>
          <a:noFill/>
        </p:spPr>
        <p:txBody>
          <a:bodyPr wrap="square" lIns="0" rIns="0" tIns="0" bIns="0" anchor="t">
            <a:spAutoFit/>
          </a:bodyPr>
          <a:lstStyle/>
          <a:p>
            <a:pPr algn="ctr">
              <a:lnSpc>
                <a:spcPct val="115000"/>
              </a:lnSpc>
            </a:pPr>
            <a:r>
              <a:rPr sz="1400" b="1">
                <a:solidFill>
                  <a:srgbClr val="B4471B"/>
                </a:solidFill>
                <a:latin typeface="맑은 고딕"/>
                <a:ea typeface="맑은 고딕"/>
                <a:cs typeface="맑은 고딕"/>
              </a:rPr>
              <a:t>검증 실패 → 실패 이유 + 틀린 근거 제외로 다시 검색 (최대 3회)</a:t>
            </a:r>
          </a:p>
        </p:txBody>
      </p:sp>
      <p:sp>
        <p:nvSpPr>
          <p:cNvPr id="32" name="TextBox 31"/>
          <p:cNvSpPr txBox="1"/>
          <p:nvPr/>
        </p:nvSpPr>
        <p:spPr>
          <a:xfrm>
            <a:off x="685800" y="5257800"/>
            <a:ext cx="10789920" cy="365760"/>
          </a:xfrm>
          <a:prstGeom prst="rect">
            <a:avLst/>
          </a:prstGeom>
          <a:noFill/>
        </p:spPr>
        <p:txBody>
          <a:bodyPr wrap="square" lIns="0" rIns="0" tIns="0" bIns="0" anchor="t">
            <a:spAutoFit/>
          </a:bodyPr>
          <a:lstStyle/>
          <a:p>
            <a:pPr algn="l">
              <a:lnSpc>
                <a:spcPct val="115000"/>
              </a:lnSpc>
            </a:pPr>
            <a:r>
              <a:rPr sz="1400" b="0">
                <a:solidFill>
                  <a:srgbClr val="4A5363"/>
                </a:solidFill>
                <a:latin typeface="맑은 고딕"/>
                <a:ea typeface="맑은 고딕"/>
                <a:cs typeface="맑은 고딕"/>
              </a:rPr>
              <a:t>연결 · 재시도 판단: 1번 (LangGraph)   ·   변환 결과 기준: LangChain 1.4.4</a:t>
            </a:r>
          </a:p>
        </p:txBody>
      </p:sp>
      <p:sp>
        <p:nvSpPr>
          <p:cNvPr id="33" name="TextBox 32"/>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검증 · 3번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verifier는 LLM 없이 8가지를 검사합니다</a:t>
            </a:r>
          </a:p>
        </p:txBody>
      </p:sp>
      <p:sp>
        <p:nvSpPr>
          <p:cNvPr id="4" name="Rounded Rectangle 3"/>
          <p:cNvSpPr/>
          <p:nvPr/>
        </p:nvSpPr>
        <p:spPr>
          <a:xfrm>
            <a:off x="685800" y="1828800"/>
            <a:ext cx="256032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011680"/>
            <a:ext cx="2103120" cy="365760"/>
          </a:xfrm>
          <a:prstGeom prst="rect">
            <a:avLst/>
          </a:prstGeom>
          <a:noFill/>
        </p:spPr>
        <p:txBody>
          <a:bodyPr wrap="square" lIns="0" rIns="0" tIns="0" bIns="0" anchor="t">
            <a:spAutoFit/>
          </a:bodyPr>
          <a:lstStyle/>
          <a:p>
            <a:pPr algn="l">
              <a:lnSpc>
                <a:spcPct val="115000"/>
              </a:lnSpc>
            </a:pPr>
            <a:r>
              <a:rPr sz="2200" b="1">
                <a:solidFill>
                  <a:srgbClr val="1F5FAE"/>
                </a:solidFill>
                <a:latin typeface="맑은 고딕"/>
                <a:ea typeface="맑은 고딕"/>
                <a:cs typeface="맑은 고딕"/>
              </a:rPr>
              <a:t>1</a:t>
            </a:r>
          </a:p>
        </p:txBody>
      </p:sp>
      <p:sp>
        <p:nvSpPr>
          <p:cNvPr id="6" name="TextBox 5"/>
          <p:cNvSpPr txBox="1"/>
          <p:nvPr/>
        </p:nvSpPr>
        <p:spPr>
          <a:xfrm>
            <a:off x="914400" y="2450592"/>
            <a:ext cx="21031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문법</a:t>
            </a:r>
          </a:p>
        </p:txBody>
      </p:sp>
      <p:sp>
        <p:nvSpPr>
          <p:cNvPr id="7" name="TextBox 6"/>
          <p:cNvSpPr txBox="1"/>
          <p:nvPr/>
        </p:nvSpPr>
        <p:spPr>
          <a:xfrm>
            <a:off x="914400" y="2834640"/>
            <a:ext cx="2103120" cy="548640"/>
          </a:xfrm>
          <a:prstGeom prst="rect">
            <a:avLst/>
          </a:prstGeom>
          <a:noFill/>
        </p:spPr>
        <p:txBody>
          <a:bodyPr wrap="square" lIns="0" rIns="0" tIns="0" bIns="0" anchor="t">
            <a:spAutoFit/>
          </a:bodyPr>
          <a:lstStyle/>
          <a:p>
            <a:pPr algn="l">
              <a:lnSpc>
                <a:spcPct val="115000"/>
              </a:lnSpc>
            </a:pPr>
            <a:r>
              <a:rPr sz="1300" b="0">
                <a:solidFill>
                  <a:srgbClr val="4A5363"/>
                </a:solidFill>
                <a:latin typeface="맑은 고딕"/>
                <a:ea typeface="맑은 고딕"/>
                <a:cs typeface="맑은 고딕"/>
              </a:rPr>
              <a:t>파이썬 문법 통과</a:t>
            </a:r>
          </a:p>
        </p:txBody>
      </p:sp>
      <p:sp>
        <p:nvSpPr>
          <p:cNvPr id="8" name="Rounded Rectangle 7"/>
          <p:cNvSpPr/>
          <p:nvPr/>
        </p:nvSpPr>
        <p:spPr>
          <a:xfrm>
            <a:off x="3429000" y="1828800"/>
            <a:ext cx="256032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57600" y="2011680"/>
            <a:ext cx="2103120" cy="365760"/>
          </a:xfrm>
          <a:prstGeom prst="rect">
            <a:avLst/>
          </a:prstGeom>
          <a:noFill/>
        </p:spPr>
        <p:txBody>
          <a:bodyPr wrap="square" lIns="0" rIns="0" tIns="0" bIns="0" anchor="t">
            <a:spAutoFit/>
          </a:bodyPr>
          <a:lstStyle/>
          <a:p>
            <a:pPr algn="l">
              <a:lnSpc>
                <a:spcPct val="115000"/>
              </a:lnSpc>
            </a:pPr>
            <a:r>
              <a:rPr sz="2200" b="1">
                <a:solidFill>
                  <a:srgbClr val="1F5FAE"/>
                </a:solidFill>
                <a:latin typeface="맑은 고딕"/>
                <a:ea typeface="맑은 고딕"/>
                <a:cs typeface="맑은 고딕"/>
              </a:rPr>
              <a:t>2</a:t>
            </a:r>
          </a:p>
        </p:txBody>
      </p:sp>
      <p:sp>
        <p:nvSpPr>
          <p:cNvPr id="10" name="TextBox 9"/>
          <p:cNvSpPr txBox="1"/>
          <p:nvPr/>
        </p:nvSpPr>
        <p:spPr>
          <a:xfrm>
            <a:off x="3657600" y="2450592"/>
            <a:ext cx="21031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근거 ID</a:t>
            </a:r>
          </a:p>
        </p:txBody>
      </p:sp>
      <p:sp>
        <p:nvSpPr>
          <p:cNvPr id="11" name="TextBox 10"/>
          <p:cNvSpPr txBox="1"/>
          <p:nvPr/>
        </p:nvSpPr>
        <p:spPr>
          <a:xfrm>
            <a:off x="3657600" y="2834640"/>
            <a:ext cx="2103120" cy="548640"/>
          </a:xfrm>
          <a:prstGeom prst="rect">
            <a:avLst/>
          </a:prstGeom>
          <a:noFill/>
        </p:spPr>
        <p:txBody>
          <a:bodyPr wrap="square" lIns="0" rIns="0" tIns="0" bIns="0" anchor="t">
            <a:spAutoFit/>
          </a:bodyPr>
          <a:lstStyle/>
          <a:p>
            <a:pPr algn="l">
              <a:lnSpc>
                <a:spcPct val="115000"/>
              </a:lnSpc>
            </a:pPr>
            <a:r>
              <a:rPr sz="1300" b="0">
                <a:solidFill>
                  <a:srgbClr val="4A5363"/>
                </a:solidFill>
                <a:latin typeface="맑은 고딕"/>
                <a:ea typeface="맑은 고딕"/>
                <a:cs typeface="맑은 고딕"/>
              </a:rPr>
              <a:t>보여 준 근거만 썼는지</a:t>
            </a:r>
          </a:p>
        </p:txBody>
      </p:sp>
      <p:sp>
        <p:nvSpPr>
          <p:cNvPr id="12" name="Rounded Rectangle 11"/>
          <p:cNvSpPr/>
          <p:nvPr/>
        </p:nvSpPr>
        <p:spPr>
          <a:xfrm>
            <a:off x="6172200" y="1828800"/>
            <a:ext cx="256032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0" y="2011680"/>
            <a:ext cx="2103120" cy="365760"/>
          </a:xfrm>
          <a:prstGeom prst="rect">
            <a:avLst/>
          </a:prstGeom>
          <a:noFill/>
        </p:spPr>
        <p:txBody>
          <a:bodyPr wrap="square" lIns="0" rIns="0" tIns="0" bIns="0" anchor="t">
            <a:spAutoFit/>
          </a:bodyPr>
          <a:lstStyle/>
          <a:p>
            <a:pPr algn="l">
              <a:lnSpc>
                <a:spcPct val="115000"/>
              </a:lnSpc>
            </a:pPr>
            <a:r>
              <a:rPr sz="2200" b="1">
                <a:solidFill>
                  <a:srgbClr val="1F5FAE"/>
                </a:solidFill>
                <a:latin typeface="맑은 고딕"/>
                <a:ea typeface="맑은 고딕"/>
                <a:cs typeface="맑은 고딕"/>
              </a:rPr>
              <a:t>3</a:t>
            </a:r>
          </a:p>
        </p:txBody>
      </p:sp>
      <p:sp>
        <p:nvSpPr>
          <p:cNvPr id="14" name="TextBox 13"/>
          <p:cNvSpPr txBox="1"/>
          <p:nvPr/>
        </p:nvSpPr>
        <p:spPr>
          <a:xfrm>
            <a:off x="6400800" y="2450592"/>
            <a:ext cx="21031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변경 기록</a:t>
            </a:r>
          </a:p>
        </p:txBody>
      </p:sp>
      <p:sp>
        <p:nvSpPr>
          <p:cNvPr id="15" name="TextBox 14"/>
          <p:cNvSpPr txBox="1"/>
          <p:nvPr/>
        </p:nvSpPr>
        <p:spPr>
          <a:xfrm>
            <a:off x="6400800" y="2834640"/>
            <a:ext cx="2103120" cy="548640"/>
          </a:xfrm>
          <a:prstGeom prst="rect">
            <a:avLst/>
          </a:prstGeom>
          <a:noFill/>
        </p:spPr>
        <p:txBody>
          <a:bodyPr wrap="square" lIns="0" rIns="0" tIns="0" bIns="0" anchor="t">
            <a:spAutoFit/>
          </a:bodyPr>
          <a:lstStyle/>
          <a:p>
            <a:pPr algn="l">
              <a:lnSpc>
                <a:spcPct val="115000"/>
              </a:lnSpc>
            </a:pPr>
            <a:r>
              <a:rPr sz="1300" b="0">
                <a:solidFill>
                  <a:srgbClr val="4A5363"/>
                </a:solidFill>
                <a:latin typeface="맑은 고딕"/>
                <a:ea typeface="맑은 고딕"/>
                <a:cs typeface="맑은 고딕"/>
              </a:rPr>
              <a:t>기록과 실제 코드가 같은지</a:t>
            </a:r>
          </a:p>
        </p:txBody>
      </p:sp>
      <p:sp>
        <p:nvSpPr>
          <p:cNvPr id="16" name="Rounded Rectangle 15"/>
          <p:cNvSpPr/>
          <p:nvPr/>
        </p:nvSpPr>
        <p:spPr>
          <a:xfrm>
            <a:off x="8915400" y="1828800"/>
            <a:ext cx="256032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0" y="2011680"/>
            <a:ext cx="2103120" cy="365760"/>
          </a:xfrm>
          <a:prstGeom prst="rect">
            <a:avLst/>
          </a:prstGeom>
          <a:noFill/>
        </p:spPr>
        <p:txBody>
          <a:bodyPr wrap="square" lIns="0" rIns="0" tIns="0" bIns="0" anchor="t">
            <a:spAutoFit/>
          </a:bodyPr>
          <a:lstStyle/>
          <a:p>
            <a:pPr algn="l">
              <a:lnSpc>
                <a:spcPct val="115000"/>
              </a:lnSpc>
            </a:pPr>
            <a:r>
              <a:rPr sz="2200" b="1">
                <a:solidFill>
                  <a:srgbClr val="1F5FAE"/>
                </a:solidFill>
                <a:latin typeface="맑은 고딕"/>
                <a:ea typeface="맑은 고딕"/>
                <a:cs typeface="맑은 고딕"/>
              </a:rPr>
              <a:t>4</a:t>
            </a:r>
          </a:p>
        </p:txBody>
      </p:sp>
      <p:sp>
        <p:nvSpPr>
          <p:cNvPr id="18" name="TextBox 17"/>
          <p:cNvSpPr txBox="1"/>
          <p:nvPr/>
        </p:nvSpPr>
        <p:spPr>
          <a:xfrm>
            <a:off x="9144000" y="2450592"/>
            <a:ext cx="21031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남은 옛 import</a:t>
            </a:r>
          </a:p>
        </p:txBody>
      </p:sp>
      <p:sp>
        <p:nvSpPr>
          <p:cNvPr id="19" name="TextBox 18"/>
          <p:cNvSpPr txBox="1"/>
          <p:nvPr/>
        </p:nvSpPr>
        <p:spPr>
          <a:xfrm>
            <a:off x="9144000" y="2834640"/>
            <a:ext cx="2103120" cy="548640"/>
          </a:xfrm>
          <a:prstGeom prst="rect">
            <a:avLst/>
          </a:prstGeom>
          <a:noFill/>
        </p:spPr>
        <p:txBody>
          <a:bodyPr wrap="square" lIns="0" rIns="0" tIns="0" bIns="0" anchor="t">
            <a:spAutoFit/>
          </a:bodyPr>
          <a:lstStyle/>
          <a:p>
            <a:pPr algn="l">
              <a:lnSpc>
                <a:spcPct val="115000"/>
              </a:lnSpc>
            </a:pPr>
            <a:r>
              <a:rPr sz="1300" b="0">
                <a:solidFill>
                  <a:srgbClr val="4A5363"/>
                </a:solidFill>
                <a:latin typeface="맑은 고딕"/>
                <a:ea typeface="맑은 고딕"/>
                <a:cs typeface="맑은 고딕"/>
              </a:rPr>
              <a:t>옛 경로가 남았는지</a:t>
            </a:r>
          </a:p>
        </p:txBody>
      </p:sp>
      <p:sp>
        <p:nvSpPr>
          <p:cNvPr id="20" name="Rounded Rectangle 19"/>
          <p:cNvSpPr/>
          <p:nvPr/>
        </p:nvSpPr>
        <p:spPr>
          <a:xfrm>
            <a:off x="685800" y="3657600"/>
            <a:ext cx="256032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4400" y="3840480"/>
            <a:ext cx="2103120" cy="365760"/>
          </a:xfrm>
          <a:prstGeom prst="rect">
            <a:avLst/>
          </a:prstGeom>
          <a:noFill/>
        </p:spPr>
        <p:txBody>
          <a:bodyPr wrap="square" lIns="0" rIns="0" tIns="0" bIns="0" anchor="t">
            <a:spAutoFit/>
          </a:bodyPr>
          <a:lstStyle/>
          <a:p>
            <a:pPr algn="l">
              <a:lnSpc>
                <a:spcPct val="115000"/>
              </a:lnSpc>
            </a:pPr>
            <a:r>
              <a:rPr sz="2200" b="1">
                <a:solidFill>
                  <a:srgbClr val="1F5FAE"/>
                </a:solidFill>
                <a:latin typeface="맑은 고딕"/>
                <a:ea typeface="맑은 고딕"/>
                <a:cs typeface="맑은 고딕"/>
              </a:rPr>
              <a:t>5</a:t>
            </a:r>
          </a:p>
        </p:txBody>
      </p:sp>
      <p:sp>
        <p:nvSpPr>
          <p:cNvPr id="22" name="TextBox 21"/>
          <p:cNvSpPr txBox="1"/>
          <p:nvPr/>
        </p:nvSpPr>
        <p:spPr>
          <a:xfrm>
            <a:off x="914400" y="4279392"/>
            <a:ext cx="21031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import 존재</a:t>
            </a:r>
          </a:p>
        </p:txBody>
      </p:sp>
      <p:sp>
        <p:nvSpPr>
          <p:cNvPr id="23" name="TextBox 22"/>
          <p:cNvSpPr txBox="1"/>
          <p:nvPr/>
        </p:nvSpPr>
        <p:spPr>
          <a:xfrm>
            <a:off x="914400" y="4663440"/>
            <a:ext cx="2103120" cy="548640"/>
          </a:xfrm>
          <a:prstGeom prst="rect">
            <a:avLst/>
          </a:prstGeom>
          <a:noFill/>
        </p:spPr>
        <p:txBody>
          <a:bodyPr wrap="square" lIns="0" rIns="0" tIns="0" bIns="0" anchor="t">
            <a:spAutoFit/>
          </a:bodyPr>
          <a:lstStyle/>
          <a:p>
            <a:pPr algn="l">
              <a:lnSpc>
                <a:spcPct val="115000"/>
              </a:lnSpc>
            </a:pPr>
            <a:r>
              <a:rPr sz="1300" b="0">
                <a:solidFill>
                  <a:srgbClr val="4A5363"/>
                </a:solidFill>
                <a:latin typeface="맑은 고딕"/>
                <a:ea typeface="맑은 고딕"/>
                <a:cs typeface="맑은 고딕"/>
              </a:rPr>
              <a:t>1.x에 그 경로가 진짜 있는지</a:t>
            </a:r>
          </a:p>
        </p:txBody>
      </p:sp>
      <p:sp>
        <p:nvSpPr>
          <p:cNvPr id="24" name="Rounded Rectangle 23"/>
          <p:cNvSpPr/>
          <p:nvPr/>
        </p:nvSpPr>
        <p:spPr>
          <a:xfrm>
            <a:off x="3429000" y="3657600"/>
            <a:ext cx="256032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657600" y="3840480"/>
            <a:ext cx="2103120" cy="365760"/>
          </a:xfrm>
          <a:prstGeom prst="rect">
            <a:avLst/>
          </a:prstGeom>
          <a:noFill/>
        </p:spPr>
        <p:txBody>
          <a:bodyPr wrap="square" lIns="0" rIns="0" tIns="0" bIns="0" anchor="t">
            <a:spAutoFit/>
          </a:bodyPr>
          <a:lstStyle/>
          <a:p>
            <a:pPr algn="l">
              <a:lnSpc>
                <a:spcPct val="115000"/>
              </a:lnSpc>
            </a:pPr>
            <a:r>
              <a:rPr sz="2200" b="1">
                <a:solidFill>
                  <a:srgbClr val="1F5FAE"/>
                </a:solidFill>
                <a:latin typeface="맑은 고딕"/>
                <a:ea typeface="맑은 고딕"/>
                <a:cs typeface="맑은 고딕"/>
              </a:rPr>
              <a:t>6</a:t>
            </a:r>
          </a:p>
        </p:txBody>
      </p:sp>
      <p:sp>
        <p:nvSpPr>
          <p:cNvPr id="26" name="TextBox 25"/>
          <p:cNvSpPr txBox="1"/>
          <p:nvPr/>
        </p:nvSpPr>
        <p:spPr>
          <a:xfrm>
            <a:off x="3657600" y="4279392"/>
            <a:ext cx="21031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남은 옛 메서드</a:t>
            </a:r>
          </a:p>
        </p:txBody>
      </p:sp>
      <p:sp>
        <p:nvSpPr>
          <p:cNvPr id="27" name="TextBox 26"/>
          <p:cNvSpPr txBox="1"/>
          <p:nvPr/>
        </p:nvSpPr>
        <p:spPr>
          <a:xfrm>
            <a:off x="3657600" y="4663440"/>
            <a:ext cx="2103120" cy="548640"/>
          </a:xfrm>
          <a:prstGeom prst="rect">
            <a:avLst/>
          </a:prstGeom>
          <a:noFill/>
        </p:spPr>
        <p:txBody>
          <a:bodyPr wrap="square" lIns="0" rIns="0" tIns="0" bIns="0" anchor="t">
            <a:spAutoFit/>
          </a:bodyPr>
          <a:lstStyle/>
          <a:p>
            <a:pPr algn="l">
              <a:lnSpc>
                <a:spcPct val="115000"/>
              </a:lnSpc>
            </a:pPr>
            <a:r>
              <a:rPr sz="1300" b="0">
                <a:solidFill>
                  <a:srgbClr val="4A5363"/>
                </a:solidFill>
                <a:latin typeface="맑은 고딕"/>
                <a:ea typeface="맑은 고딕"/>
                <a:cs typeface="맑은 고딕"/>
              </a:rPr>
              <a:t>.run() 같은 옛 호출 (경고)</a:t>
            </a:r>
          </a:p>
        </p:txBody>
      </p:sp>
      <p:sp>
        <p:nvSpPr>
          <p:cNvPr id="28" name="Rounded Rectangle 27"/>
          <p:cNvSpPr/>
          <p:nvPr/>
        </p:nvSpPr>
        <p:spPr>
          <a:xfrm>
            <a:off x="6172200" y="3657600"/>
            <a:ext cx="256032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00800" y="3840480"/>
            <a:ext cx="2103120" cy="365760"/>
          </a:xfrm>
          <a:prstGeom prst="rect">
            <a:avLst/>
          </a:prstGeom>
          <a:noFill/>
        </p:spPr>
        <p:txBody>
          <a:bodyPr wrap="square" lIns="0" rIns="0" tIns="0" bIns="0" anchor="t">
            <a:spAutoFit/>
          </a:bodyPr>
          <a:lstStyle/>
          <a:p>
            <a:pPr algn="l">
              <a:lnSpc>
                <a:spcPct val="115000"/>
              </a:lnSpc>
            </a:pPr>
            <a:r>
              <a:rPr sz="2200" b="1">
                <a:solidFill>
                  <a:srgbClr val="1F5FAE"/>
                </a:solidFill>
                <a:latin typeface="맑은 고딕"/>
                <a:ea typeface="맑은 고딕"/>
                <a:cs typeface="맑은 고딕"/>
              </a:rPr>
              <a:t>7</a:t>
            </a:r>
          </a:p>
        </p:txBody>
      </p:sp>
      <p:sp>
        <p:nvSpPr>
          <p:cNvPr id="30" name="TextBox 29"/>
          <p:cNvSpPr txBox="1"/>
          <p:nvPr/>
        </p:nvSpPr>
        <p:spPr>
          <a:xfrm>
            <a:off x="6400800" y="4279392"/>
            <a:ext cx="21031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안 쓰는 import</a:t>
            </a:r>
          </a:p>
        </p:txBody>
      </p:sp>
      <p:sp>
        <p:nvSpPr>
          <p:cNvPr id="31" name="TextBox 30"/>
          <p:cNvSpPr txBox="1"/>
          <p:nvPr/>
        </p:nvSpPr>
        <p:spPr>
          <a:xfrm>
            <a:off x="6400800" y="4663440"/>
            <a:ext cx="2103120" cy="548640"/>
          </a:xfrm>
          <a:prstGeom prst="rect">
            <a:avLst/>
          </a:prstGeom>
          <a:noFill/>
        </p:spPr>
        <p:txBody>
          <a:bodyPr wrap="square" lIns="0" rIns="0" tIns="0" bIns="0" anchor="t">
            <a:spAutoFit/>
          </a:bodyPr>
          <a:lstStyle/>
          <a:p>
            <a:pPr algn="l">
              <a:lnSpc>
                <a:spcPct val="115000"/>
              </a:lnSpc>
            </a:pPr>
            <a:r>
              <a:rPr sz="1300" b="0">
                <a:solidFill>
                  <a:srgbClr val="4A5363"/>
                </a:solidFill>
                <a:latin typeface="맑은 고딕"/>
                <a:ea typeface="맑은 고딕"/>
                <a:cs typeface="맑은 고딕"/>
              </a:rPr>
              <a:t>필요 없는 import가 남았나</a:t>
            </a:r>
          </a:p>
        </p:txBody>
      </p:sp>
      <p:sp>
        <p:nvSpPr>
          <p:cNvPr id="32" name="Rounded Rectangle 31"/>
          <p:cNvSpPr/>
          <p:nvPr/>
        </p:nvSpPr>
        <p:spPr>
          <a:xfrm>
            <a:off x="8915400" y="3657600"/>
            <a:ext cx="256032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144000" y="3840480"/>
            <a:ext cx="2103120" cy="365760"/>
          </a:xfrm>
          <a:prstGeom prst="rect">
            <a:avLst/>
          </a:prstGeom>
          <a:noFill/>
        </p:spPr>
        <p:txBody>
          <a:bodyPr wrap="square" lIns="0" rIns="0" tIns="0" bIns="0" anchor="t">
            <a:spAutoFit/>
          </a:bodyPr>
          <a:lstStyle/>
          <a:p>
            <a:pPr algn="l">
              <a:lnSpc>
                <a:spcPct val="115000"/>
              </a:lnSpc>
            </a:pPr>
            <a:r>
              <a:rPr sz="2200" b="1">
                <a:solidFill>
                  <a:srgbClr val="1F5FAE"/>
                </a:solidFill>
                <a:latin typeface="맑은 고딕"/>
                <a:ea typeface="맑은 고딕"/>
                <a:cs typeface="맑은 고딕"/>
              </a:rPr>
              <a:t>8</a:t>
            </a:r>
          </a:p>
        </p:txBody>
      </p:sp>
      <p:sp>
        <p:nvSpPr>
          <p:cNvPr id="34" name="TextBox 33"/>
          <p:cNvSpPr txBox="1"/>
          <p:nvPr/>
        </p:nvSpPr>
        <p:spPr>
          <a:xfrm>
            <a:off x="9144000" y="4279392"/>
            <a:ext cx="21031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반환값 보존</a:t>
            </a:r>
          </a:p>
        </p:txBody>
      </p:sp>
      <p:sp>
        <p:nvSpPr>
          <p:cNvPr id="35" name="TextBox 34"/>
          <p:cNvSpPr txBox="1"/>
          <p:nvPr/>
        </p:nvSpPr>
        <p:spPr>
          <a:xfrm>
            <a:off x="9144000" y="4663440"/>
            <a:ext cx="2103120" cy="548640"/>
          </a:xfrm>
          <a:prstGeom prst="rect">
            <a:avLst/>
          </a:prstGeom>
          <a:noFill/>
        </p:spPr>
        <p:txBody>
          <a:bodyPr wrap="square" lIns="0" rIns="0" tIns="0" bIns="0" anchor="t">
            <a:spAutoFit/>
          </a:bodyPr>
          <a:lstStyle/>
          <a:p>
            <a:pPr algn="l">
              <a:lnSpc>
                <a:spcPct val="115000"/>
              </a:lnSpc>
            </a:pPr>
            <a:r>
              <a:rPr sz="1300" b="0">
                <a:solidFill>
                  <a:srgbClr val="4A5363"/>
                </a:solidFill>
                <a:latin typeface="맑은 고딕"/>
                <a:ea typeface="맑은 고딕"/>
                <a:cs typeface="맑은 고딕"/>
              </a:rPr>
              <a:t>결과 모양이 그대로인지</a:t>
            </a:r>
          </a:p>
        </p:txBody>
      </p:sp>
      <p:sp>
        <p:nvSpPr>
          <p:cNvPr id="36" name="TextBox 35"/>
          <p:cNvSpPr txBox="1"/>
          <p:nvPr/>
        </p:nvSpPr>
        <p:spPr>
          <a:xfrm>
            <a:off x="685800" y="5577840"/>
            <a:ext cx="10789920" cy="365760"/>
          </a:xfrm>
          <a:prstGeom prst="rect">
            <a:avLst/>
          </a:prstGeom>
          <a:noFill/>
        </p:spPr>
        <p:txBody>
          <a:bodyPr wrap="square" lIns="0" rIns="0" tIns="0" bIns="0" anchor="t">
            <a:spAutoFit/>
          </a:bodyPr>
          <a:lstStyle/>
          <a:p>
            <a:pPr algn="l">
              <a:lnSpc>
                <a:spcPct val="115000"/>
              </a:lnSpc>
            </a:pPr>
            <a:r>
              <a:rPr sz="1400" b="0">
                <a:solidFill>
                  <a:srgbClr val="4A5363"/>
                </a:solidFill>
                <a:latin typeface="맑은 고딕"/>
                <a:ea typeface="맑은 고딕"/>
                <a:cs typeface="맑은 고딕"/>
              </a:rPr>
              <a:t>오류 → 다시 시도할 이유로 돌려보냄   ·   경고 → 결과에 표시만 함</a:t>
            </a:r>
          </a:p>
        </p:txBody>
      </p:sp>
      <p:sp>
        <p:nvSpPr>
          <p:cNvPr id="37" name="TextBox 36"/>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화면 · 4번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결과와 근거를 한 화면에서 봅니다</a:t>
            </a:r>
          </a:p>
        </p:txBody>
      </p:sp>
      <p:sp>
        <p:nvSpPr>
          <p:cNvPr id="4" name="Rounded Rectangle 3"/>
          <p:cNvSpPr/>
          <p:nvPr/>
        </p:nvSpPr>
        <p:spPr>
          <a:xfrm>
            <a:off x="685800" y="1828800"/>
            <a:ext cx="7223760" cy="3246120"/>
          </a:xfrm>
          <a:prstGeom prst="roundRect">
            <a:avLst>
              <a:gd name="adj" fmla="val 6000"/>
            </a:avLst>
          </a:prstGeom>
          <a:solidFill>
            <a:srgbClr val="ECE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ui_screen.png"/>
          <p:cNvPicPr>
            <a:picLocks noChangeAspect="1"/>
          </p:cNvPicPr>
          <p:nvPr/>
        </p:nvPicPr>
        <p:blipFill>
          <a:blip r:embed="rId2"/>
          <a:stretch>
            <a:fillRect/>
          </a:stretch>
        </p:blipFill>
        <p:spPr>
          <a:xfrm>
            <a:off x="777240" y="1920240"/>
            <a:ext cx="7040880" cy="2970371"/>
          </a:xfrm>
          <a:prstGeom prst="rect">
            <a:avLst/>
          </a:prstGeom>
        </p:spPr>
      </p:pic>
      <p:sp>
        <p:nvSpPr>
          <p:cNvPr id="6" name="TextBox 5"/>
          <p:cNvSpPr txBox="1"/>
          <p:nvPr/>
        </p:nvSpPr>
        <p:spPr>
          <a:xfrm>
            <a:off x="685800" y="5166360"/>
            <a:ext cx="7223760" cy="457200"/>
          </a:xfrm>
          <a:prstGeom prst="rect">
            <a:avLst/>
          </a:prstGeom>
          <a:noFill/>
        </p:spPr>
        <p:txBody>
          <a:bodyPr wrap="square" lIns="0" rIns="0" tIns="0" bIns="0" anchor="t">
            <a:spAutoFit/>
          </a:bodyPr>
          <a:lstStyle/>
          <a:p>
            <a:pPr algn="l">
              <a:lnSpc>
                <a:spcPct val="115000"/>
              </a:lnSpc>
            </a:pPr>
            <a:r>
              <a:rPr sz="1200" b="0">
                <a:solidFill>
                  <a:srgbClr val="8A8F98"/>
                </a:solidFill>
                <a:latin typeface="맑은 고딕"/>
                <a:ea typeface="맑은 고딕"/>
                <a:cs typeface="맑은 고딕"/>
              </a:rPr>
              <a:t>화면 시험 캡처 · 변환은 그래프 연결 전 임시 결과, 근거 ID(imap-…)는 2번 대응표 실제 값</a:t>
            </a:r>
          </a:p>
        </p:txBody>
      </p:sp>
      <p:cxnSp>
        <p:nvCxnSpPr>
          <p:cNvPr id="7" name="Connector 6"/>
          <p:cNvCxnSpPr/>
          <p:nvPr/>
        </p:nvCxnSpPr>
        <p:spPr>
          <a:xfrm>
            <a:off x="8183879" y="1828800"/>
            <a:ext cx="3319273"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83879" y="1938528"/>
            <a:ext cx="3319272" cy="365760"/>
          </a:xfrm>
          <a:prstGeom prst="rect">
            <a:avLst/>
          </a:prstGeom>
          <a:noFill/>
        </p:spPr>
        <p:txBody>
          <a:bodyPr wrap="square" lIns="0" rIns="0" tIns="0" bIns="0" anchor="t">
            <a:spAutoFit/>
          </a:bodyPr>
          <a:lstStyle/>
          <a:p>
            <a:pPr algn="l">
              <a:lnSpc>
                <a:spcPct val="115000"/>
              </a:lnSpc>
            </a:pPr>
            <a:r>
              <a:rPr sz="1600" b="1">
                <a:solidFill>
                  <a:srgbClr val="1B2433"/>
                </a:solidFill>
                <a:latin typeface="맑은 고딕"/>
                <a:ea typeface="맑은 고딕"/>
                <a:cs typeface="맑은 고딕"/>
              </a:rPr>
              <a:t>대화형 + 세션 저장</a:t>
            </a:r>
          </a:p>
        </p:txBody>
      </p:sp>
      <p:sp>
        <p:nvSpPr>
          <p:cNvPr id="9" name="TextBox 8"/>
          <p:cNvSpPr txBox="1"/>
          <p:nvPr/>
        </p:nvSpPr>
        <p:spPr>
          <a:xfrm>
            <a:off x="8183879" y="2267712"/>
            <a:ext cx="3319272" cy="45720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ChatGPT처럼 대화 목록, 새 대화마다 세션 하나 (TiDB)</a:t>
            </a:r>
          </a:p>
        </p:txBody>
      </p:sp>
      <p:cxnSp>
        <p:nvCxnSpPr>
          <p:cNvPr id="10" name="Connector 9"/>
          <p:cNvCxnSpPr/>
          <p:nvPr/>
        </p:nvCxnSpPr>
        <p:spPr>
          <a:xfrm>
            <a:off x="8183879" y="2724912"/>
            <a:ext cx="3319273"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183879" y="2834640"/>
            <a:ext cx="3319272" cy="365760"/>
          </a:xfrm>
          <a:prstGeom prst="rect">
            <a:avLst/>
          </a:prstGeom>
          <a:noFill/>
        </p:spPr>
        <p:txBody>
          <a:bodyPr wrap="square" lIns="0" rIns="0" tIns="0" bIns="0" anchor="t">
            <a:spAutoFit/>
          </a:bodyPr>
          <a:lstStyle/>
          <a:p>
            <a:pPr algn="l">
              <a:lnSpc>
                <a:spcPct val="115000"/>
              </a:lnSpc>
            </a:pPr>
            <a:r>
              <a:rPr sz="1600" b="1">
                <a:solidFill>
                  <a:srgbClr val="1B2433"/>
                </a:solidFill>
                <a:latin typeface="맑은 고딕"/>
                <a:ea typeface="맑은 고딕"/>
                <a:cs typeface="맑은 고딕"/>
              </a:rPr>
              <a:t>버전 고르기</a:t>
            </a:r>
          </a:p>
        </p:txBody>
      </p:sp>
      <p:sp>
        <p:nvSpPr>
          <p:cNvPr id="12" name="TextBox 11"/>
          <p:cNvSpPr txBox="1"/>
          <p:nvPr/>
        </p:nvSpPr>
        <p:spPr>
          <a:xfrm>
            <a:off x="8183879" y="3163824"/>
            <a:ext cx="3319272" cy="45720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지금 코드 버전(자동 감지) → 바꿀 버전, 되돌리기 포함</a:t>
            </a:r>
          </a:p>
        </p:txBody>
      </p:sp>
      <p:cxnSp>
        <p:nvCxnSpPr>
          <p:cNvPr id="13" name="Connector 12"/>
          <p:cNvCxnSpPr/>
          <p:nvPr/>
        </p:nvCxnSpPr>
        <p:spPr>
          <a:xfrm>
            <a:off x="8183879" y="3621024"/>
            <a:ext cx="3319273"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83879" y="3730752"/>
            <a:ext cx="3319272" cy="365760"/>
          </a:xfrm>
          <a:prstGeom prst="rect">
            <a:avLst/>
          </a:prstGeom>
          <a:noFill/>
        </p:spPr>
        <p:txBody>
          <a:bodyPr wrap="square" lIns="0" rIns="0" tIns="0" bIns="0" anchor="t">
            <a:spAutoFit/>
          </a:bodyPr>
          <a:lstStyle/>
          <a:p>
            <a:pPr algn="l">
              <a:lnSpc>
                <a:spcPct val="115000"/>
              </a:lnSpc>
            </a:pPr>
            <a:r>
              <a:rPr sz="1600" b="1">
                <a:solidFill>
                  <a:srgbClr val="1F5FAE"/>
                </a:solidFill>
                <a:latin typeface="맑은 고딕"/>
                <a:ea typeface="맑은 고딕"/>
                <a:cs typeface="맑은 고딕"/>
              </a:rPr>
              <a:t>결과 패널</a:t>
            </a:r>
          </a:p>
        </p:txBody>
      </p:sp>
      <p:sp>
        <p:nvSpPr>
          <p:cNvPr id="15" name="TextBox 14"/>
          <p:cNvSpPr txBox="1"/>
          <p:nvPr/>
        </p:nvSpPr>
        <p:spPr>
          <a:xfrm>
            <a:off x="8183879" y="4059935"/>
            <a:ext cx="3319272" cy="45720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검증 배지 · 전후 비교 · 바뀐 줄마다 근거 ID</a:t>
            </a:r>
          </a:p>
        </p:txBody>
      </p:sp>
      <p:cxnSp>
        <p:nvCxnSpPr>
          <p:cNvPr id="16" name="Connector 15"/>
          <p:cNvCxnSpPr/>
          <p:nvPr/>
        </p:nvCxnSpPr>
        <p:spPr>
          <a:xfrm>
            <a:off x="8183879" y="4517136"/>
            <a:ext cx="3319273"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183879" y="4626864"/>
            <a:ext cx="3319272" cy="365760"/>
          </a:xfrm>
          <a:prstGeom prst="rect">
            <a:avLst/>
          </a:prstGeom>
          <a:noFill/>
        </p:spPr>
        <p:txBody>
          <a:bodyPr wrap="square" lIns="0" rIns="0" tIns="0" bIns="0" anchor="t">
            <a:spAutoFit/>
          </a:bodyPr>
          <a:lstStyle/>
          <a:p>
            <a:pPr algn="l">
              <a:lnSpc>
                <a:spcPct val="115000"/>
              </a:lnSpc>
            </a:pPr>
            <a:r>
              <a:rPr sz="1600" b="1">
                <a:solidFill>
                  <a:srgbClr val="1B2433"/>
                </a:solidFill>
                <a:latin typeface="맑은 고딕"/>
                <a:ea typeface="맑은 고딕"/>
                <a:cs typeface="맑은 고딕"/>
              </a:rPr>
              <a:t>예시 질문 35개</a:t>
            </a:r>
          </a:p>
        </p:txBody>
      </p:sp>
      <p:sp>
        <p:nvSpPr>
          <p:cNvPr id="18" name="TextBox 17"/>
          <p:cNvSpPr txBox="1"/>
          <p:nvPr/>
        </p:nvSpPr>
        <p:spPr>
          <a:xfrm>
            <a:off x="8183879" y="4956048"/>
            <a:ext cx="3319272" cy="45720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사이드바에서 골라 바로 보내기</a:t>
            </a:r>
          </a:p>
        </p:txBody>
      </p:sp>
      <p:sp>
        <p:nvSpPr>
          <p:cNvPr id="19" name="TextBox 18"/>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실험 설계 · 4번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같은 질문 35개, 같은 조건으로 비교했습니다</a:t>
            </a:r>
          </a:p>
        </p:txBody>
      </p:sp>
      <p:sp>
        <p:nvSpPr>
          <p:cNvPr id="4" name="Rounded Rectangle 3"/>
          <p:cNvSpPr/>
          <p:nvPr/>
        </p:nvSpPr>
        <p:spPr>
          <a:xfrm>
            <a:off x="685800" y="1828800"/>
            <a:ext cx="5120640" cy="11887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965960"/>
            <a:ext cx="466344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1.x로 올리기 29개</a:t>
            </a:r>
          </a:p>
        </p:txBody>
      </p:sp>
      <p:sp>
        <p:nvSpPr>
          <p:cNvPr id="6" name="TextBox 5"/>
          <p:cNvSpPr txBox="1"/>
          <p:nvPr/>
        </p:nvSpPr>
        <p:spPr>
          <a:xfrm>
            <a:off x="914400" y="2331720"/>
            <a:ext cx="4663440" cy="685800"/>
          </a:xfrm>
          <a:prstGeom prst="rect">
            <a:avLst/>
          </a:prstGeom>
          <a:noFill/>
        </p:spPr>
        <p:txBody>
          <a:bodyPr wrap="square" lIns="0" rIns="0" tIns="0" bIns="0" anchor="t">
            <a:spAutoFit/>
          </a:bodyPr>
          <a:lstStyle/>
          <a:p>
            <a:pPr algn="l">
              <a:lnSpc>
                <a:spcPct val="125000"/>
              </a:lnSpc>
            </a:pPr>
            <a:r>
              <a:rPr sz="1200" b="0">
                <a:solidFill>
                  <a:srgbClr val="4A5363"/>
                </a:solidFill>
                <a:latin typeface="맑은 고딕"/>
                <a:ea typeface="맑은 고딕"/>
                <a:cs typeface="맑은 고딕"/>
              </a:rPr>
              <a:t>10가지 유형: import 경로 · 로더 · 임베딩 · LLMChain → LCEL · 체인</a:t>
            </a:r>
          </a:p>
          <a:p>
            <a:pPr algn="l">
              <a:lnSpc>
                <a:spcPct val="125000"/>
              </a:lnSpc>
            </a:pPr>
            <a:r>
              <a:rPr sz="1200" b="0">
                <a:solidFill>
                  <a:srgbClr val="4A5363"/>
                </a:solidFill>
                <a:latin typeface="맑은 고딕"/>
                <a:ea typeface="맑은 고딕"/>
                <a:cs typeface="맑은 고딕"/>
              </a:rPr>
              <a:t>· RAG · 메모리 · 에이전트 · 출력 파서 · 실무 상황</a:t>
            </a:r>
          </a:p>
        </p:txBody>
      </p:sp>
      <p:sp>
        <p:nvSpPr>
          <p:cNvPr id="7" name="Rounded Rectangle 6"/>
          <p:cNvSpPr/>
          <p:nvPr/>
        </p:nvSpPr>
        <p:spPr>
          <a:xfrm>
            <a:off x="685800" y="3154680"/>
            <a:ext cx="5120640" cy="11887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291840"/>
            <a:ext cx="466344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버전 오가기 6개</a:t>
            </a:r>
          </a:p>
        </p:txBody>
      </p:sp>
      <p:sp>
        <p:nvSpPr>
          <p:cNvPr id="9" name="TextBox 8"/>
          <p:cNvSpPr txBox="1"/>
          <p:nvPr/>
        </p:nvSpPr>
        <p:spPr>
          <a:xfrm>
            <a:off x="914400" y="3657600"/>
            <a:ext cx="4663440" cy="685800"/>
          </a:xfrm>
          <a:prstGeom prst="rect">
            <a:avLst/>
          </a:prstGeom>
          <a:noFill/>
        </p:spPr>
        <p:txBody>
          <a:bodyPr wrap="square" lIns="0" rIns="0" tIns="0" bIns="0" anchor="t">
            <a:spAutoFit/>
          </a:bodyPr>
          <a:lstStyle/>
          <a:p>
            <a:pPr algn="l">
              <a:lnSpc>
                <a:spcPct val="125000"/>
              </a:lnSpc>
            </a:pPr>
            <a:r>
              <a:rPr sz="1200" b="0">
                <a:solidFill>
                  <a:srgbClr val="4A5363"/>
                </a:solidFill>
                <a:latin typeface="맑은 고딕"/>
                <a:ea typeface="맑은 고딕"/>
                <a:cs typeface="맑은 고딕"/>
              </a:rPr>
              <a:t>1.x → 0.x 되돌리기, 0.3 → 0.1 · 0.0.354, 0.0.300 → 0.2 중간 단계</a:t>
            </a:r>
          </a:p>
        </p:txBody>
      </p:sp>
      <p:sp>
        <p:nvSpPr>
          <p:cNvPr id="10" name="Rounded Rectangle 9"/>
          <p:cNvSpPr/>
          <p:nvPr/>
        </p:nvSpPr>
        <p:spPr>
          <a:xfrm>
            <a:off x="685800" y="4480560"/>
            <a:ext cx="5120640" cy="11887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4617720"/>
            <a:ext cx="466344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난이도</a:t>
            </a:r>
          </a:p>
        </p:txBody>
      </p:sp>
      <p:sp>
        <p:nvSpPr>
          <p:cNvPr id="12" name="TextBox 11"/>
          <p:cNvSpPr txBox="1"/>
          <p:nvPr/>
        </p:nvSpPr>
        <p:spPr>
          <a:xfrm>
            <a:off x="914400" y="4983480"/>
            <a:ext cx="4663440" cy="685800"/>
          </a:xfrm>
          <a:prstGeom prst="rect">
            <a:avLst/>
          </a:prstGeom>
          <a:noFill/>
        </p:spPr>
        <p:txBody>
          <a:bodyPr wrap="square" lIns="0" rIns="0" tIns="0" bIns="0" anchor="t">
            <a:spAutoFit/>
          </a:bodyPr>
          <a:lstStyle/>
          <a:p>
            <a:pPr algn="l">
              <a:lnSpc>
                <a:spcPct val="125000"/>
              </a:lnSpc>
            </a:pPr>
            <a:r>
              <a:rPr sz="1200" b="0">
                <a:solidFill>
                  <a:srgbClr val="4A5363"/>
                </a:solidFill>
                <a:latin typeface="맑은 고딕"/>
                <a:ea typeface="맑은 고딕"/>
                <a:cs typeface="맑은 고딕"/>
              </a:rPr>
              <a:t>쉬움 7 · 중간 18 · 어려움 10</a:t>
            </a:r>
          </a:p>
          <a:p>
            <a:pPr algn="l">
              <a:lnSpc>
                <a:spcPct val="125000"/>
              </a:lnSpc>
            </a:pPr>
            <a:r>
              <a:rPr sz="1200" b="0">
                <a:solidFill>
                  <a:srgbClr val="4A5363"/>
                </a:solidFill>
                <a:latin typeface="맑은 고딕"/>
                <a:ea typeface="맑은 고딕"/>
                <a:cs typeface="맑은 고딕"/>
              </a:rPr>
              <a:t>35개 모두 실제로 깨지는지 미리 확인 (35/35)</a:t>
            </a:r>
          </a:p>
        </p:txBody>
      </p:sp>
      <p:graphicFrame>
        <p:nvGraphicFramePr>
          <p:cNvPr id="13" name="Table 12"/>
          <p:cNvGraphicFramePr>
            <a:graphicFrameLocks noGrp="1"/>
          </p:cNvGraphicFramePr>
          <p:nvPr/>
        </p:nvGraphicFramePr>
        <p:xfrm>
          <a:off x="6126480" y="1828800"/>
          <a:ext cx="5376671" cy="3584448"/>
        </p:xfrm>
        <a:graphic>
          <a:graphicData uri="http://schemas.openxmlformats.org/drawingml/2006/table">
            <a:tbl>
              <a:tblPr firstRow="1" bandRow="1">
                <a:tableStyleId>{5940675A-B579-460E-94D1-54222C63F5DA}</a:tableStyleId>
              </a:tblPr>
              <a:tblGrid>
                <a:gridCol w="1554480"/>
                <a:gridCol w="3822191"/>
              </a:tblGrid>
              <a:tr h="512064">
                <a:tc>
                  <a:txBody>
                    <a:bodyPr wrap="square"/>
                    <a:lstStyle/>
                    <a:p>
                      <a:r>
                        <a:rPr sz="1400" b="1">
                          <a:solidFill>
                            <a:srgbClr val="1B2433"/>
                          </a:solidFill>
                          <a:latin typeface="맑은 고딕"/>
                          <a:ea typeface="맑은 고딕"/>
                        </a:rPr>
                        <a:t>항목</a:t>
                      </a:r>
                    </a:p>
                  </a:txBody>
                  <a:tcPr marL="109728" marR="109728" marT="45720" marB="45720" anchor="ctr">
                    <a:solidFill>
                      <a:srgbClr val="ECEBE5"/>
                    </a:solidFill>
                  </a:tcPr>
                </a:tc>
                <a:tc>
                  <a:txBody>
                    <a:bodyPr wrap="square"/>
                    <a:lstStyle/>
                    <a:p>
                      <a:r>
                        <a:rPr sz="1400" b="1">
                          <a:solidFill>
                            <a:srgbClr val="1B2433"/>
                          </a:solidFill>
                          <a:latin typeface="맑은 고딕"/>
                          <a:ea typeface="맑은 고딕"/>
                        </a:rPr>
                        <a:t>규칙</a:t>
                      </a:r>
                    </a:p>
                  </a:txBody>
                  <a:tcPr marL="109728" marR="109728" marT="45720" marB="45720" anchor="ctr">
                    <a:solidFill>
                      <a:srgbClr val="ECEBE5"/>
                    </a:solidFill>
                  </a:tcPr>
                </a:tc>
              </a:tr>
              <a:tr h="512064">
                <a:tc>
                  <a:txBody>
                    <a:bodyPr wrap="square"/>
                    <a:lstStyle/>
                    <a:p>
                      <a:r>
                        <a:rPr sz="1400" b="1">
                          <a:solidFill>
                            <a:srgbClr val="1B2433"/>
                          </a:solidFill>
                          <a:latin typeface="맑은 고딕"/>
                          <a:ea typeface="맑은 고딕"/>
                        </a:rPr>
                        <a:t>비교 대상</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일반 LLM vs 우리 챗봇</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모델</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양쪽 같은 [모델명], temperature 0</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일반 LLM 질문</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같은 요청 문장 + 같은 코드</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채점</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verifier와 같은 검사 기준</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최대 시도</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3회 (우리 챗봇)</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지표</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검증 통과율 · 근거 포함률 · 재시도 효과</a:t>
                      </a:r>
                    </a:p>
                  </a:txBody>
                  <a:tcPr marL="109728" marR="109728" marT="45720" marB="45720" anchor="ctr">
                    <a:solidFill>
                      <a:srgbClr val="FFFFFF"/>
                    </a:solidFill>
                  </a:tcPr>
                </a:tc>
              </a:tr>
            </a:tbl>
          </a:graphicData>
        </a:graphic>
      </p:graphicFrame>
      <p:sp>
        <p:nvSpPr>
          <p:cNvPr id="14" name="TextBox 13"/>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7FB2F0"/>
                </a:solidFill>
                <a:latin typeface="맑은 고딕"/>
                <a:ea typeface="맑은 고딕"/>
                <a:cs typeface="맑은 고딕"/>
              </a:rPr>
              <a:t>데모</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F6F5F1"/>
                </a:solidFill>
                <a:latin typeface="맑은 고딕"/>
                <a:ea typeface="맑은 고딕"/>
                <a:cs typeface="맑은 고딕"/>
              </a:rPr>
              <a:t>LLMChain 코드가 통과하기까지</a:t>
            </a:r>
          </a:p>
        </p:txBody>
      </p:sp>
      <p:sp>
        <p:nvSpPr>
          <p:cNvPr id="4" name="Rounded Rectangle 3"/>
          <p:cNvSpPr/>
          <p:nvPr/>
        </p:nvSpPr>
        <p:spPr>
          <a:xfrm>
            <a:off x="685800" y="1828800"/>
            <a:ext cx="3429000" cy="237744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011680"/>
            <a:ext cx="2834640" cy="640080"/>
          </a:xfrm>
          <a:prstGeom prst="rect">
            <a:avLst/>
          </a:prstGeom>
          <a:noFill/>
        </p:spPr>
        <p:txBody>
          <a:bodyPr wrap="square" lIns="0" rIns="0" tIns="0" bIns="0" anchor="t">
            <a:spAutoFit/>
          </a:bodyPr>
          <a:lstStyle/>
          <a:p>
            <a:pPr algn="l">
              <a:lnSpc>
                <a:spcPct val="115000"/>
              </a:lnSpc>
            </a:pPr>
            <a:r>
              <a:rPr sz="3600" b="1">
                <a:solidFill>
                  <a:srgbClr val="7FB2F0"/>
                </a:solidFill>
                <a:latin typeface="맑은 고딕"/>
                <a:ea typeface="맑은 고딕"/>
                <a:cs typeface="맑은 고딕"/>
              </a:rPr>
              <a:t>1</a:t>
            </a:r>
          </a:p>
        </p:txBody>
      </p:sp>
      <p:sp>
        <p:nvSpPr>
          <p:cNvPr id="6" name="TextBox 5"/>
          <p:cNvSpPr txBox="1"/>
          <p:nvPr/>
        </p:nvSpPr>
        <p:spPr>
          <a:xfrm>
            <a:off x="960120" y="2743200"/>
            <a:ext cx="2834640" cy="411480"/>
          </a:xfrm>
          <a:prstGeom prst="rect">
            <a:avLst/>
          </a:prstGeom>
          <a:noFill/>
        </p:spPr>
        <p:txBody>
          <a:bodyPr wrap="square" lIns="0" rIns="0" tIns="0" bIns="0" anchor="t">
            <a:spAutoFit/>
          </a:bodyPr>
          <a:lstStyle/>
          <a:p>
            <a:pPr algn="l">
              <a:lnSpc>
                <a:spcPct val="115000"/>
              </a:lnSpc>
            </a:pPr>
            <a:r>
              <a:rPr sz="1900" b="1">
                <a:solidFill>
                  <a:srgbClr val="F2F1EC"/>
                </a:solidFill>
                <a:latin typeface="맑은 고딕"/>
                <a:ea typeface="맑은 고딕"/>
                <a:cs typeface="맑은 고딕"/>
              </a:rPr>
              <a:t>옛 코드 입력</a:t>
            </a:r>
          </a:p>
        </p:txBody>
      </p:sp>
      <p:sp>
        <p:nvSpPr>
          <p:cNvPr id="7" name="TextBox 6"/>
          <p:cNvSpPr txBox="1"/>
          <p:nvPr/>
        </p:nvSpPr>
        <p:spPr>
          <a:xfrm>
            <a:off x="960120" y="3200400"/>
            <a:ext cx="2834640" cy="914400"/>
          </a:xfrm>
          <a:prstGeom prst="rect">
            <a:avLst/>
          </a:prstGeom>
          <a:noFill/>
        </p:spPr>
        <p:txBody>
          <a:bodyPr wrap="square" lIns="0" rIns="0" tIns="0" bIns="0" anchor="t">
            <a:spAutoFit/>
          </a:bodyPr>
          <a:lstStyle/>
          <a:p>
            <a:pPr algn="l">
              <a:lnSpc>
                <a:spcPct val="130000"/>
              </a:lnSpc>
            </a:pPr>
            <a:r>
              <a:rPr sz="1300" b="0">
                <a:solidFill>
                  <a:srgbClr val="B9C3CF"/>
                </a:solidFill>
                <a:latin typeface="맑은 고딕"/>
                <a:ea typeface="맑은 고딕"/>
                <a:cs typeface="맑은 고딕"/>
              </a:rPr>
              <a:t>0.0.300 LLMChain 코드,</a:t>
            </a:r>
          </a:p>
          <a:p>
            <a:pPr algn="l">
              <a:lnSpc>
                <a:spcPct val="130000"/>
              </a:lnSpc>
            </a:pPr>
            <a:r>
              <a:rPr sz="1300" b="0">
                <a:solidFill>
                  <a:srgbClr val="B9C3CF"/>
                </a:solidFill>
                <a:latin typeface="맑은 고딕"/>
                <a:ea typeface="맑은 고딕"/>
                <a:cs typeface="맑은 고딕"/>
              </a:rPr>
              <a:t>바꿀 버전 LangChain 1.x</a:t>
            </a:r>
          </a:p>
        </p:txBody>
      </p:sp>
      <p:sp>
        <p:nvSpPr>
          <p:cNvPr id="8" name="Rounded Rectangle 7"/>
          <p:cNvSpPr/>
          <p:nvPr/>
        </p:nvSpPr>
        <p:spPr>
          <a:xfrm>
            <a:off x="4343400" y="1828800"/>
            <a:ext cx="3429000" cy="237744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7720" y="2011680"/>
            <a:ext cx="2834640" cy="640080"/>
          </a:xfrm>
          <a:prstGeom prst="rect">
            <a:avLst/>
          </a:prstGeom>
          <a:noFill/>
        </p:spPr>
        <p:txBody>
          <a:bodyPr wrap="square" lIns="0" rIns="0" tIns="0" bIns="0" anchor="t">
            <a:spAutoFit/>
          </a:bodyPr>
          <a:lstStyle/>
          <a:p>
            <a:pPr algn="l">
              <a:lnSpc>
                <a:spcPct val="115000"/>
              </a:lnSpc>
            </a:pPr>
            <a:r>
              <a:rPr sz="3600" b="1">
                <a:solidFill>
                  <a:srgbClr val="F2A27E"/>
                </a:solidFill>
                <a:latin typeface="맑은 고딕"/>
                <a:ea typeface="맑은 고딕"/>
                <a:cs typeface="맑은 고딕"/>
              </a:rPr>
              <a:t>2</a:t>
            </a:r>
          </a:p>
        </p:txBody>
      </p:sp>
      <p:sp>
        <p:nvSpPr>
          <p:cNvPr id="10" name="TextBox 9"/>
          <p:cNvSpPr txBox="1"/>
          <p:nvPr/>
        </p:nvSpPr>
        <p:spPr>
          <a:xfrm>
            <a:off x="4617720" y="2743200"/>
            <a:ext cx="2834640" cy="411480"/>
          </a:xfrm>
          <a:prstGeom prst="rect">
            <a:avLst/>
          </a:prstGeom>
          <a:noFill/>
        </p:spPr>
        <p:txBody>
          <a:bodyPr wrap="square" lIns="0" rIns="0" tIns="0" bIns="0" anchor="t">
            <a:spAutoFit/>
          </a:bodyPr>
          <a:lstStyle/>
          <a:p>
            <a:pPr algn="l">
              <a:lnSpc>
                <a:spcPct val="115000"/>
              </a:lnSpc>
            </a:pPr>
            <a:r>
              <a:rPr sz="1900" b="1">
                <a:solidFill>
                  <a:srgbClr val="F2F1EC"/>
                </a:solidFill>
                <a:latin typeface="맑은 고딕"/>
                <a:ea typeface="맑은 고딕"/>
                <a:cs typeface="맑은 고딕"/>
              </a:rPr>
              <a:t>1 · 2회차 검증 실패</a:t>
            </a:r>
          </a:p>
        </p:txBody>
      </p:sp>
      <p:sp>
        <p:nvSpPr>
          <p:cNvPr id="11" name="TextBox 10"/>
          <p:cNvSpPr txBox="1"/>
          <p:nvPr/>
        </p:nvSpPr>
        <p:spPr>
          <a:xfrm>
            <a:off x="4617720" y="3200400"/>
            <a:ext cx="2834640" cy="914400"/>
          </a:xfrm>
          <a:prstGeom prst="rect">
            <a:avLst/>
          </a:prstGeom>
          <a:noFill/>
        </p:spPr>
        <p:txBody>
          <a:bodyPr wrap="square" lIns="0" rIns="0" tIns="0" bIns="0" anchor="t">
            <a:spAutoFit/>
          </a:bodyPr>
          <a:lstStyle/>
          <a:p>
            <a:pPr algn="l">
              <a:lnSpc>
                <a:spcPct val="130000"/>
              </a:lnSpc>
            </a:pPr>
            <a:r>
              <a:rPr sz="1300" b="0">
                <a:solidFill>
                  <a:srgbClr val="B9C3CF"/>
                </a:solidFill>
                <a:latin typeface="맑은 고딕"/>
                <a:ea typeface="맑은 고딕"/>
                <a:cs typeface="맑은 고딕"/>
              </a:rPr>
              <a:t>실패 이유를 들고 근거를 다시 찾음</a:t>
            </a:r>
          </a:p>
          <a:p>
            <a:pPr algn="l">
              <a:lnSpc>
                <a:spcPct val="130000"/>
              </a:lnSpc>
            </a:pPr>
            <a:r>
              <a:rPr sz="1300" b="0">
                <a:solidFill>
                  <a:srgbClr val="B9C3CF"/>
                </a:solidFill>
                <a:latin typeface="맑은 고딕"/>
                <a:ea typeface="맑은 고딕"/>
                <a:cs typeface="맑은 고딕"/>
              </a:rPr>
              <a:t>(틀린 근거는 제외) [실제 결과로 수정]</a:t>
            </a:r>
          </a:p>
        </p:txBody>
      </p:sp>
      <p:sp>
        <p:nvSpPr>
          <p:cNvPr id="12" name="Rounded Rectangle 11"/>
          <p:cNvSpPr/>
          <p:nvPr/>
        </p:nvSpPr>
        <p:spPr>
          <a:xfrm>
            <a:off x="8001000" y="1828800"/>
            <a:ext cx="3429000" cy="237744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75320" y="2011680"/>
            <a:ext cx="2834640" cy="640080"/>
          </a:xfrm>
          <a:prstGeom prst="rect">
            <a:avLst/>
          </a:prstGeom>
          <a:noFill/>
        </p:spPr>
        <p:txBody>
          <a:bodyPr wrap="square" lIns="0" rIns="0" tIns="0" bIns="0" anchor="t">
            <a:spAutoFit/>
          </a:bodyPr>
          <a:lstStyle/>
          <a:p>
            <a:pPr algn="l">
              <a:lnSpc>
                <a:spcPct val="115000"/>
              </a:lnSpc>
            </a:pPr>
            <a:r>
              <a:rPr sz="3600" b="1">
                <a:solidFill>
                  <a:srgbClr val="7FB2F0"/>
                </a:solidFill>
                <a:latin typeface="맑은 고딕"/>
                <a:ea typeface="맑은 고딕"/>
                <a:cs typeface="맑은 고딕"/>
              </a:rPr>
              <a:t>3</a:t>
            </a:r>
          </a:p>
        </p:txBody>
      </p:sp>
      <p:sp>
        <p:nvSpPr>
          <p:cNvPr id="14" name="TextBox 13"/>
          <p:cNvSpPr txBox="1"/>
          <p:nvPr/>
        </p:nvSpPr>
        <p:spPr>
          <a:xfrm>
            <a:off x="8275320" y="2743200"/>
            <a:ext cx="2834640" cy="411480"/>
          </a:xfrm>
          <a:prstGeom prst="rect">
            <a:avLst/>
          </a:prstGeom>
          <a:noFill/>
        </p:spPr>
        <p:txBody>
          <a:bodyPr wrap="square" lIns="0" rIns="0" tIns="0" bIns="0" anchor="t">
            <a:spAutoFit/>
          </a:bodyPr>
          <a:lstStyle/>
          <a:p>
            <a:pPr algn="l">
              <a:lnSpc>
                <a:spcPct val="115000"/>
              </a:lnSpc>
            </a:pPr>
            <a:r>
              <a:rPr sz="1900" b="1">
                <a:solidFill>
                  <a:srgbClr val="F2F1EC"/>
                </a:solidFill>
                <a:latin typeface="맑은 고딕"/>
                <a:ea typeface="맑은 고딕"/>
                <a:cs typeface="맑은 고딕"/>
              </a:rPr>
              <a:t>3회차 통과</a:t>
            </a:r>
          </a:p>
        </p:txBody>
      </p:sp>
      <p:sp>
        <p:nvSpPr>
          <p:cNvPr id="15" name="TextBox 14"/>
          <p:cNvSpPr txBox="1"/>
          <p:nvPr/>
        </p:nvSpPr>
        <p:spPr>
          <a:xfrm>
            <a:off x="8275320" y="3200400"/>
            <a:ext cx="2834640" cy="914400"/>
          </a:xfrm>
          <a:prstGeom prst="rect">
            <a:avLst/>
          </a:prstGeom>
          <a:noFill/>
        </p:spPr>
        <p:txBody>
          <a:bodyPr wrap="square" lIns="0" rIns="0" tIns="0" bIns="0" anchor="t">
            <a:spAutoFit/>
          </a:bodyPr>
          <a:lstStyle/>
          <a:p>
            <a:pPr algn="l">
              <a:lnSpc>
                <a:spcPct val="130000"/>
              </a:lnSpc>
            </a:pPr>
            <a:r>
              <a:rPr sz="1300" b="0">
                <a:solidFill>
                  <a:srgbClr val="B9C3CF"/>
                </a:solidFill>
                <a:latin typeface="맑은 고딕"/>
                <a:ea typeface="맑은 고딕"/>
                <a:cs typeface="맑은 고딕"/>
              </a:rPr>
              <a:t>prompt | llm | parser 형태로 변환</a:t>
            </a:r>
          </a:p>
          <a:p>
            <a:pPr algn="l">
              <a:lnSpc>
                <a:spcPct val="130000"/>
              </a:lnSpc>
            </a:pPr>
            <a:r>
              <a:rPr sz="1300" b="0">
                <a:solidFill>
                  <a:srgbClr val="B9C3CF"/>
                </a:solidFill>
                <a:latin typeface="맑은 고딕"/>
                <a:ea typeface="맑은 고딕"/>
                <a:cs typeface="맑은 고딕"/>
              </a:rPr>
              <a:t>바뀐 줄마다 근거 ID</a:t>
            </a:r>
          </a:p>
        </p:txBody>
      </p:sp>
      <p:sp>
        <p:nvSpPr>
          <p:cNvPr id="16" name="TextBox 15"/>
          <p:cNvSpPr txBox="1"/>
          <p:nvPr/>
        </p:nvSpPr>
        <p:spPr>
          <a:xfrm>
            <a:off x="685800" y="4572000"/>
            <a:ext cx="10789920" cy="457200"/>
          </a:xfrm>
          <a:prstGeom prst="rect">
            <a:avLst/>
          </a:prstGeom>
          <a:noFill/>
        </p:spPr>
        <p:txBody>
          <a:bodyPr wrap="square" lIns="0" rIns="0" tIns="0" bIns="0" anchor="t">
            <a:spAutoFit/>
          </a:bodyPr>
          <a:lstStyle/>
          <a:p>
            <a:pPr algn="l">
              <a:lnSpc>
                <a:spcPct val="115000"/>
              </a:lnSpc>
            </a:pPr>
            <a:r>
              <a:rPr sz="1500" b="0">
                <a:solidFill>
                  <a:srgbClr val="B9C3CF"/>
                </a:solidFill>
                <a:latin typeface="맑은 고딕"/>
                <a:ea typeface="맑은 고딕"/>
                <a:cs typeface="맑은 고딕"/>
              </a:rPr>
              <a:t>화면에서: 검증 배지(몇 번 만에 통과) · 전후 비교 · 변경표와 근거 ID · 대화 다시 열기</a:t>
            </a:r>
          </a:p>
        </p:txBody>
      </p:sp>
      <p:sp>
        <p:nvSpPr>
          <p:cNvPr id="17" name="TextBox 16"/>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9AAD"/>
                </a:solidFill>
                <a:latin typeface="맑은 고딕"/>
                <a:ea typeface="맑은 고딕"/>
                <a:cs typeface="맑은 고딕"/>
              </a:rPr>
              <a:t>LangChain 마이그레이션 도우미 · 10 · 현장 데모 실패에 대비해 녹화본 준비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결과</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[결과 한 줄 요약을 여기에]</a:t>
            </a:r>
          </a:p>
        </p:txBody>
      </p:sp>
      <p:sp>
        <p:nvSpPr>
          <p:cNvPr id="4" name="TextBox 3"/>
          <p:cNvSpPr txBox="1"/>
          <p:nvPr/>
        </p:nvSpPr>
        <p:spPr>
          <a:xfrm>
            <a:off x="685800" y="2011680"/>
            <a:ext cx="3840480" cy="365760"/>
          </a:xfrm>
          <a:prstGeom prst="rect">
            <a:avLst/>
          </a:prstGeom>
          <a:noFill/>
        </p:spPr>
        <p:txBody>
          <a:bodyPr wrap="square" lIns="0" rIns="0" tIns="0" bIns="0" anchor="t">
            <a:spAutoFit/>
          </a:bodyPr>
          <a:lstStyle/>
          <a:p>
            <a:pPr algn="l">
              <a:lnSpc>
                <a:spcPct val="115000"/>
              </a:lnSpc>
            </a:pPr>
            <a:r>
              <a:rPr sz="1500" b="1">
                <a:solidFill>
                  <a:srgbClr val="1F5FAE"/>
                </a:solidFill>
                <a:latin typeface="맑은 고딕"/>
                <a:ea typeface="맑은 고딕"/>
                <a:cs typeface="맑은 고딕"/>
              </a:rPr>
              <a:t>우리 챗봇 · 검증 통과율</a:t>
            </a:r>
          </a:p>
        </p:txBody>
      </p:sp>
      <p:sp>
        <p:nvSpPr>
          <p:cNvPr id="5" name="TextBox 4"/>
          <p:cNvSpPr txBox="1"/>
          <p:nvPr/>
        </p:nvSpPr>
        <p:spPr>
          <a:xfrm>
            <a:off x="685800" y="2377440"/>
            <a:ext cx="3840480" cy="914400"/>
          </a:xfrm>
          <a:prstGeom prst="rect">
            <a:avLst/>
          </a:prstGeom>
          <a:noFill/>
        </p:spPr>
        <p:txBody>
          <a:bodyPr wrap="square" lIns="0" rIns="0" tIns="0" bIns="0" anchor="t">
            <a:spAutoFit/>
          </a:bodyPr>
          <a:lstStyle/>
          <a:p>
            <a:pPr algn="l">
              <a:lnSpc>
                <a:spcPct val="115000"/>
              </a:lnSpc>
            </a:pPr>
            <a:r>
              <a:rPr sz="6000" b="1">
                <a:solidFill>
                  <a:srgbClr val="1B2433"/>
                </a:solidFill>
                <a:latin typeface="맑은 고딕"/>
                <a:ea typeface="맑은 고딕"/>
                <a:cs typeface="맑은 고딕"/>
              </a:rPr>
              <a:t>[__]%</a:t>
            </a:r>
          </a:p>
        </p:txBody>
      </p:sp>
      <p:sp>
        <p:nvSpPr>
          <p:cNvPr id="6" name="TextBox 5"/>
          <p:cNvSpPr txBox="1"/>
          <p:nvPr/>
        </p:nvSpPr>
        <p:spPr>
          <a:xfrm>
            <a:off x="685800" y="3429000"/>
            <a:ext cx="3840480" cy="365760"/>
          </a:xfrm>
          <a:prstGeom prst="rect">
            <a:avLst/>
          </a:prstGeom>
          <a:noFill/>
        </p:spPr>
        <p:txBody>
          <a:bodyPr wrap="square" lIns="0" rIns="0" tIns="0" bIns="0" anchor="t">
            <a:spAutoFit/>
          </a:bodyPr>
          <a:lstStyle/>
          <a:p>
            <a:pPr algn="l">
              <a:lnSpc>
                <a:spcPct val="115000"/>
              </a:lnSpc>
            </a:pPr>
            <a:r>
              <a:rPr sz="1500" b="1">
                <a:solidFill>
                  <a:srgbClr val="B4471B"/>
                </a:solidFill>
                <a:latin typeface="맑은 고딕"/>
                <a:ea typeface="맑은 고딕"/>
                <a:cs typeface="맑은 고딕"/>
              </a:rPr>
              <a:t>일반 LLM · 검증 통과율</a:t>
            </a:r>
          </a:p>
        </p:txBody>
      </p:sp>
      <p:sp>
        <p:nvSpPr>
          <p:cNvPr id="7" name="TextBox 6"/>
          <p:cNvSpPr txBox="1"/>
          <p:nvPr/>
        </p:nvSpPr>
        <p:spPr>
          <a:xfrm>
            <a:off x="685800" y="3794760"/>
            <a:ext cx="3840480" cy="914400"/>
          </a:xfrm>
          <a:prstGeom prst="rect">
            <a:avLst/>
          </a:prstGeom>
          <a:noFill/>
        </p:spPr>
        <p:txBody>
          <a:bodyPr wrap="square" lIns="0" rIns="0" tIns="0" bIns="0" anchor="t">
            <a:spAutoFit/>
          </a:bodyPr>
          <a:lstStyle/>
          <a:p>
            <a:pPr algn="l">
              <a:lnSpc>
                <a:spcPct val="115000"/>
              </a:lnSpc>
            </a:pPr>
            <a:r>
              <a:rPr sz="6000" b="1">
                <a:solidFill>
                  <a:srgbClr val="1B2433"/>
                </a:solidFill>
                <a:latin typeface="맑은 고딕"/>
                <a:ea typeface="맑은 고딕"/>
                <a:cs typeface="맑은 고딕"/>
              </a:rPr>
              <a:t>[__]%</a:t>
            </a:r>
          </a:p>
        </p:txBody>
      </p:sp>
      <p:sp>
        <p:nvSpPr>
          <p:cNvPr id="8" name="TextBox 7"/>
          <p:cNvSpPr txBox="1"/>
          <p:nvPr/>
        </p:nvSpPr>
        <p:spPr>
          <a:xfrm>
            <a:off x="685800" y="4892040"/>
            <a:ext cx="3840480" cy="36576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근거 포함률 [__]%  ·  질문 35개 기준</a:t>
            </a:r>
          </a:p>
        </p:txBody>
      </p:sp>
      <p:sp>
        <p:nvSpPr>
          <p:cNvPr id="9" name="Rounded Rectangle 8"/>
          <p:cNvSpPr/>
          <p:nvPr/>
        </p:nvSpPr>
        <p:spPr>
          <a:xfrm>
            <a:off x="4846320" y="1828800"/>
            <a:ext cx="6656832" cy="4023360"/>
          </a:xfrm>
          <a:prstGeom prst="roundRect">
            <a:avLst>
              <a:gd name="adj" fmla="val 6000"/>
            </a:avLst>
          </a:prstGeom>
          <a:solidFill>
            <a:srgbClr val="FFFFFF"/>
          </a:solidFill>
          <a:ln w="15875">
            <a:solidFill>
              <a:srgbClr val="C3C2B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846320" y="3566160"/>
            <a:ext cx="6656832" cy="731520"/>
          </a:xfrm>
          <a:prstGeom prst="rect">
            <a:avLst/>
          </a:prstGeom>
          <a:noFill/>
        </p:spPr>
        <p:txBody>
          <a:bodyPr wrap="square" lIns="0" rIns="0" tIns="0" bIns="0" anchor="t">
            <a:spAutoFit/>
          </a:bodyPr>
          <a:lstStyle/>
          <a:p>
            <a:pPr algn="ctr">
              <a:lnSpc>
                <a:spcPct val="115000"/>
              </a:lnSpc>
            </a:pPr>
            <a:r>
              <a:rPr sz="1600" b="1">
                <a:solidFill>
                  <a:srgbClr val="8A8F98"/>
                </a:solidFill>
                <a:latin typeface="맑은 고딕"/>
                <a:ea typeface="맑은 고딕"/>
                <a:cs typeface="맑은 고딕"/>
              </a:rPr>
              <a:t>[그래프 삽입]</a:t>
            </a:r>
          </a:p>
          <a:p>
            <a:pPr algn="ctr">
              <a:lnSpc>
                <a:spcPct val="115000"/>
              </a:lnSpc>
            </a:pPr>
            <a:r>
              <a:rPr sz="1600" b="1">
                <a:solidFill>
                  <a:srgbClr val="8A8F98"/>
                </a:solidFill>
                <a:latin typeface="맑은 고딕"/>
                <a:ea typeface="맑은 고딕"/>
                <a:cs typeface="맑은 고딕"/>
              </a:rPr>
              <a:t>난이도 · 유형별 검증 통과율</a:t>
            </a:r>
          </a:p>
        </p:txBody>
      </p:sp>
      <p:sp>
        <p:nvSpPr>
          <p:cNvPr id="11" name="TextBox 10"/>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검증 루프 효과</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다시 고치는 루프가 통과율을 [+__%p] 올렸습니다</a:t>
            </a:r>
          </a:p>
        </p:txBody>
      </p:sp>
      <p:sp>
        <p:nvSpPr>
          <p:cNvPr id="4" name="Rounded Rectangle 3"/>
          <p:cNvSpPr/>
          <p:nvPr/>
        </p:nvSpPr>
        <p:spPr>
          <a:xfrm>
            <a:off x="685800" y="1828800"/>
            <a:ext cx="6766560" cy="4023360"/>
          </a:xfrm>
          <a:prstGeom prst="roundRect">
            <a:avLst>
              <a:gd name="adj" fmla="val 6000"/>
            </a:avLst>
          </a:prstGeom>
          <a:solidFill>
            <a:srgbClr val="FFFFFF"/>
          </a:solidFill>
          <a:ln w="15875">
            <a:solidFill>
              <a:srgbClr val="C3C2B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3566160"/>
            <a:ext cx="6766560" cy="731520"/>
          </a:xfrm>
          <a:prstGeom prst="rect">
            <a:avLst/>
          </a:prstGeom>
          <a:noFill/>
        </p:spPr>
        <p:txBody>
          <a:bodyPr wrap="square" lIns="0" rIns="0" tIns="0" bIns="0" anchor="t">
            <a:spAutoFit/>
          </a:bodyPr>
          <a:lstStyle/>
          <a:p>
            <a:pPr algn="ctr">
              <a:lnSpc>
                <a:spcPct val="115000"/>
              </a:lnSpc>
            </a:pPr>
            <a:r>
              <a:rPr sz="1600" b="1">
                <a:solidFill>
                  <a:srgbClr val="8A8F98"/>
                </a:solidFill>
                <a:latin typeface="맑은 고딕"/>
                <a:ea typeface="맑은 고딕"/>
                <a:cs typeface="맑은 고딕"/>
              </a:rPr>
              <a:t>[그래프 삽입]</a:t>
            </a:r>
          </a:p>
          <a:p>
            <a:pPr algn="ctr">
              <a:lnSpc>
                <a:spcPct val="115000"/>
              </a:lnSpc>
            </a:pPr>
            <a:r>
              <a:rPr sz="1600" b="1">
                <a:solidFill>
                  <a:srgbClr val="8A8F98"/>
                </a:solidFill>
                <a:latin typeface="맑은 고딕"/>
                <a:ea typeface="맑은 고딕"/>
                <a:cs typeface="맑은 고딕"/>
              </a:rPr>
              <a:t>1회차 → 2회차 → 3회차 누적 통과율</a:t>
            </a:r>
          </a:p>
        </p:txBody>
      </p:sp>
      <p:cxnSp>
        <p:nvCxnSpPr>
          <p:cNvPr id="6" name="Connector 5"/>
          <p:cNvCxnSpPr/>
          <p:nvPr/>
        </p:nvCxnSpPr>
        <p:spPr>
          <a:xfrm>
            <a:off x="7863840" y="1828800"/>
            <a:ext cx="3639312"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863840" y="1965960"/>
            <a:ext cx="3657600" cy="36576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1회차 통과율</a:t>
            </a:r>
          </a:p>
        </p:txBody>
      </p:sp>
      <p:sp>
        <p:nvSpPr>
          <p:cNvPr id="8" name="TextBox 7"/>
          <p:cNvSpPr txBox="1"/>
          <p:nvPr/>
        </p:nvSpPr>
        <p:spPr>
          <a:xfrm>
            <a:off x="7863840" y="2331720"/>
            <a:ext cx="3657600" cy="731520"/>
          </a:xfrm>
          <a:prstGeom prst="rect">
            <a:avLst/>
          </a:prstGeom>
          <a:noFill/>
        </p:spPr>
        <p:txBody>
          <a:bodyPr wrap="square" lIns="0" rIns="0" tIns="0" bIns="0" anchor="t">
            <a:spAutoFit/>
          </a:bodyPr>
          <a:lstStyle/>
          <a:p>
            <a:pPr algn="l">
              <a:lnSpc>
                <a:spcPct val="115000"/>
              </a:lnSpc>
            </a:pPr>
            <a:r>
              <a:rPr sz="4000" b="1">
                <a:solidFill>
                  <a:srgbClr val="1B2433"/>
                </a:solidFill>
                <a:latin typeface="맑은 고딕"/>
                <a:ea typeface="맑은 고딕"/>
                <a:cs typeface="맑은 고딕"/>
              </a:rPr>
              <a:t>[__]%</a:t>
            </a:r>
          </a:p>
        </p:txBody>
      </p:sp>
      <p:cxnSp>
        <p:nvCxnSpPr>
          <p:cNvPr id="9" name="Connector 8"/>
          <p:cNvCxnSpPr/>
          <p:nvPr/>
        </p:nvCxnSpPr>
        <p:spPr>
          <a:xfrm>
            <a:off x="7863840" y="3200400"/>
            <a:ext cx="3639312"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863840" y="3337560"/>
            <a:ext cx="3657600" cy="36576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최종 통과율 (최대 3회)</a:t>
            </a:r>
          </a:p>
        </p:txBody>
      </p:sp>
      <p:sp>
        <p:nvSpPr>
          <p:cNvPr id="11" name="TextBox 10"/>
          <p:cNvSpPr txBox="1"/>
          <p:nvPr/>
        </p:nvSpPr>
        <p:spPr>
          <a:xfrm>
            <a:off x="7863840" y="3703320"/>
            <a:ext cx="3657600" cy="731520"/>
          </a:xfrm>
          <a:prstGeom prst="rect">
            <a:avLst/>
          </a:prstGeom>
          <a:noFill/>
        </p:spPr>
        <p:txBody>
          <a:bodyPr wrap="square" lIns="0" rIns="0" tIns="0" bIns="0" anchor="t">
            <a:spAutoFit/>
          </a:bodyPr>
          <a:lstStyle/>
          <a:p>
            <a:pPr algn="l">
              <a:lnSpc>
                <a:spcPct val="115000"/>
              </a:lnSpc>
            </a:pPr>
            <a:r>
              <a:rPr sz="4000" b="1">
                <a:solidFill>
                  <a:srgbClr val="1F5FAE"/>
                </a:solidFill>
                <a:latin typeface="맑은 고딕"/>
                <a:ea typeface="맑은 고딕"/>
                <a:cs typeface="맑은 고딕"/>
              </a:rPr>
              <a:t>[__]%</a:t>
            </a:r>
          </a:p>
        </p:txBody>
      </p:sp>
      <p:cxnSp>
        <p:nvCxnSpPr>
          <p:cNvPr id="12" name="Connector 11"/>
          <p:cNvCxnSpPr/>
          <p:nvPr/>
        </p:nvCxnSpPr>
        <p:spPr>
          <a:xfrm>
            <a:off x="7863840" y="4572000"/>
            <a:ext cx="3639312"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63840" y="4709160"/>
            <a:ext cx="3657600" cy="36576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통과까지 평균 시도</a:t>
            </a:r>
          </a:p>
        </p:txBody>
      </p:sp>
      <p:sp>
        <p:nvSpPr>
          <p:cNvPr id="14" name="TextBox 13"/>
          <p:cNvSpPr txBox="1"/>
          <p:nvPr/>
        </p:nvSpPr>
        <p:spPr>
          <a:xfrm>
            <a:off x="7863840" y="5074920"/>
            <a:ext cx="3657600" cy="731520"/>
          </a:xfrm>
          <a:prstGeom prst="rect">
            <a:avLst/>
          </a:prstGeom>
          <a:noFill/>
        </p:spPr>
        <p:txBody>
          <a:bodyPr wrap="square" lIns="0" rIns="0" tIns="0" bIns="0" anchor="t">
            <a:spAutoFit/>
          </a:bodyPr>
          <a:lstStyle/>
          <a:p>
            <a:pPr algn="l">
              <a:lnSpc>
                <a:spcPct val="115000"/>
              </a:lnSpc>
            </a:pPr>
            <a:r>
              <a:rPr sz="4000" b="1">
                <a:solidFill>
                  <a:srgbClr val="1B2433"/>
                </a:solidFill>
                <a:latin typeface="맑은 고딕"/>
                <a:ea typeface="맑은 고딕"/>
                <a:cs typeface="맑은 고딕"/>
              </a:rPr>
              <a:t>[__]회</a:t>
            </a:r>
          </a:p>
        </p:txBody>
      </p:sp>
      <p:sp>
        <p:nvSpPr>
          <p:cNvPr id="15" name="TextBox 14"/>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만들면서 발견</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통과했다고 끝이 아니었습니다</a:t>
            </a:r>
          </a:p>
        </p:txBody>
      </p:sp>
      <p:sp>
        <p:nvSpPr>
          <p:cNvPr id="4" name="Rounded Rectangle 3"/>
          <p:cNvSpPr/>
          <p:nvPr/>
        </p:nvSpPr>
        <p:spPr>
          <a:xfrm>
            <a:off x="685800" y="1828800"/>
            <a:ext cx="342900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057400"/>
            <a:ext cx="2880360" cy="457200"/>
          </a:xfrm>
          <a:prstGeom prst="rect">
            <a:avLst/>
          </a:prstGeom>
          <a:noFill/>
        </p:spPr>
        <p:txBody>
          <a:bodyPr wrap="square" lIns="0" rIns="0" tIns="0" bIns="0" anchor="t">
            <a:spAutoFit/>
          </a:bodyPr>
          <a:lstStyle/>
          <a:p>
            <a:pPr algn="l">
              <a:lnSpc>
                <a:spcPct val="115000"/>
              </a:lnSpc>
            </a:pPr>
            <a:r>
              <a:rPr sz="1900" b="1">
                <a:solidFill>
                  <a:srgbClr val="1B2433"/>
                </a:solidFill>
                <a:latin typeface="맑은 고딕"/>
                <a:ea typeface="맑은 고딕"/>
                <a:cs typeface="맑은 고딕"/>
              </a:rPr>
              <a:t>지원 종료 중인 패키지</a:t>
            </a:r>
          </a:p>
        </p:txBody>
      </p:sp>
      <p:sp>
        <p:nvSpPr>
          <p:cNvPr id="6" name="TextBox 5"/>
          <p:cNvSpPr txBox="1"/>
          <p:nvPr/>
        </p:nvSpPr>
        <p:spPr>
          <a:xfrm>
            <a:off x="960120" y="2606040"/>
            <a:ext cx="2880360" cy="1737360"/>
          </a:xfrm>
          <a:prstGeom prst="rect">
            <a:avLst/>
          </a:prstGeom>
          <a:noFill/>
        </p:spPr>
        <p:txBody>
          <a:bodyPr wrap="square" lIns="0" rIns="0" tIns="0" bIns="0" anchor="t">
            <a:spAutoFit/>
          </a:bodyPr>
          <a:lstStyle/>
          <a:p>
            <a:pPr algn="l">
              <a:lnSpc>
                <a:spcPct val="140000"/>
              </a:lnSpc>
            </a:pPr>
            <a:r>
              <a:rPr sz="1400" b="0">
                <a:solidFill>
                  <a:srgbClr val="4A5363"/>
                </a:solidFill>
                <a:latin typeface="맑은 고딕"/>
                <a:ea typeface="맑은 고딕"/>
                <a:cs typeface="맑은 고딕"/>
              </a:rPr>
              <a:t>langchain-community는 import만 해도 '지원 종료 중' 경고를 냅니다. 지금 통과해도 곧 깨질 수 있어요.</a:t>
            </a:r>
          </a:p>
        </p:txBody>
      </p:sp>
      <p:sp>
        <p:nvSpPr>
          <p:cNvPr id="7" name="TextBox 6"/>
          <p:cNvSpPr txBox="1"/>
          <p:nvPr/>
        </p:nvSpPr>
        <p:spPr>
          <a:xfrm>
            <a:off x="960120" y="4434840"/>
            <a:ext cx="2880360" cy="36576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langchain-community 0.4.2 확인</a:t>
            </a:r>
          </a:p>
        </p:txBody>
      </p:sp>
      <p:sp>
        <p:nvSpPr>
          <p:cNvPr id="8" name="Rounded Rectangle 7"/>
          <p:cNvSpPr/>
          <p:nvPr/>
        </p:nvSpPr>
        <p:spPr>
          <a:xfrm>
            <a:off x="4343400" y="1828800"/>
            <a:ext cx="342900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7720" y="2057400"/>
            <a:ext cx="2880360" cy="457200"/>
          </a:xfrm>
          <a:prstGeom prst="rect">
            <a:avLst/>
          </a:prstGeom>
          <a:noFill/>
        </p:spPr>
        <p:txBody>
          <a:bodyPr wrap="square" lIns="0" rIns="0" tIns="0" bIns="0" anchor="t">
            <a:spAutoFit/>
          </a:bodyPr>
          <a:lstStyle/>
          <a:p>
            <a:pPr algn="l">
              <a:lnSpc>
                <a:spcPct val="115000"/>
              </a:lnSpc>
            </a:pPr>
            <a:r>
              <a:rPr sz="1900" b="1">
                <a:solidFill>
                  <a:srgbClr val="1B2433"/>
                </a:solidFill>
                <a:latin typeface="맑은 고딕"/>
                <a:ea typeface="맑은 고딕"/>
                <a:cs typeface="맑은 고딕"/>
              </a:rPr>
              <a:t>classic 우회</a:t>
            </a:r>
          </a:p>
        </p:txBody>
      </p:sp>
      <p:sp>
        <p:nvSpPr>
          <p:cNvPr id="10" name="TextBox 9"/>
          <p:cNvSpPr txBox="1"/>
          <p:nvPr/>
        </p:nvSpPr>
        <p:spPr>
          <a:xfrm>
            <a:off x="4617720" y="2606040"/>
            <a:ext cx="2880360" cy="1737360"/>
          </a:xfrm>
          <a:prstGeom prst="rect">
            <a:avLst/>
          </a:prstGeom>
          <a:noFill/>
        </p:spPr>
        <p:txBody>
          <a:bodyPr wrap="square" lIns="0" rIns="0" tIns="0" bIns="0" anchor="t">
            <a:spAutoFit/>
          </a:bodyPr>
          <a:lstStyle/>
          <a:p>
            <a:pPr algn="l">
              <a:lnSpc>
                <a:spcPct val="140000"/>
              </a:lnSpc>
            </a:pPr>
            <a:r>
              <a:rPr sz="1400" b="0">
                <a:solidFill>
                  <a:srgbClr val="4A5363"/>
                </a:solidFill>
                <a:latin typeface="맑은 고딕"/>
                <a:ea typeface="맑은 고딕"/>
                <a:cs typeface="맑은 고딕"/>
              </a:rPr>
              <a:t>LLMChain을 langchain_classic에서 가져오면 import는 통과하지만, 최신 방식(LCEL)은 아닙니다.</a:t>
            </a:r>
          </a:p>
        </p:txBody>
      </p:sp>
      <p:sp>
        <p:nvSpPr>
          <p:cNvPr id="11" name="TextBox 10"/>
          <p:cNvSpPr txBox="1"/>
          <p:nvPr/>
        </p:nvSpPr>
        <p:spPr>
          <a:xfrm>
            <a:off x="4617720" y="4434840"/>
            <a:ext cx="2880360" cy="36576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대응표에 '옛 창고(classic)'로 따로 표시</a:t>
            </a:r>
          </a:p>
        </p:txBody>
      </p:sp>
      <p:sp>
        <p:nvSpPr>
          <p:cNvPr id="12" name="Rounded Rectangle 11"/>
          <p:cNvSpPr/>
          <p:nvPr/>
        </p:nvSpPr>
        <p:spPr>
          <a:xfrm>
            <a:off x="8001000" y="1828800"/>
            <a:ext cx="342900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75320" y="2057400"/>
            <a:ext cx="2880360" cy="457200"/>
          </a:xfrm>
          <a:prstGeom prst="rect">
            <a:avLst/>
          </a:prstGeom>
          <a:noFill/>
        </p:spPr>
        <p:txBody>
          <a:bodyPr wrap="square" lIns="0" rIns="0" tIns="0" bIns="0" anchor="t">
            <a:spAutoFit/>
          </a:bodyPr>
          <a:lstStyle/>
          <a:p>
            <a:pPr algn="l">
              <a:lnSpc>
                <a:spcPct val="115000"/>
              </a:lnSpc>
            </a:pPr>
            <a:r>
              <a:rPr sz="1900" b="1">
                <a:solidFill>
                  <a:srgbClr val="1B2433"/>
                </a:solidFill>
                <a:latin typeface="맑은 고딕"/>
                <a:ea typeface="맑은 고딕"/>
                <a:cs typeface="맑은 고딕"/>
              </a:rPr>
              <a:t>옛 버전끼리는 그대로</a:t>
            </a:r>
          </a:p>
        </p:txBody>
      </p:sp>
      <p:sp>
        <p:nvSpPr>
          <p:cNvPr id="14" name="TextBox 13"/>
          <p:cNvSpPr txBox="1"/>
          <p:nvPr/>
        </p:nvSpPr>
        <p:spPr>
          <a:xfrm>
            <a:off x="8275320" y="2606040"/>
            <a:ext cx="2880360" cy="1737360"/>
          </a:xfrm>
          <a:prstGeom prst="rect">
            <a:avLst/>
          </a:prstGeom>
          <a:noFill/>
        </p:spPr>
        <p:txBody>
          <a:bodyPr wrap="square" lIns="0" rIns="0" tIns="0" bIns="0" anchor="t">
            <a:spAutoFit/>
          </a:bodyPr>
          <a:lstStyle/>
          <a:p>
            <a:pPr algn="l">
              <a:lnSpc>
                <a:spcPct val="140000"/>
              </a:lnSpc>
            </a:pPr>
            <a:r>
              <a:rPr sz="1400" b="0">
                <a:solidFill>
                  <a:srgbClr val="4A5363"/>
                </a:solidFill>
                <a:latin typeface="맑은 고딕"/>
                <a:ea typeface="맑은 고딕"/>
                <a:cs typeface="맑은 고딕"/>
              </a:rPr>
              <a:t>0.0.300 ~ 0.3.30 사이에는 자주 쓰는 import 경로가 거의 같습니다. 크게 바뀌는 것은 1.x와의 사이입니다.</a:t>
            </a:r>
          </a:p>
        </p:txBody>
      </p:sp>
      <p:sp>
        <p:nvSpPr>
          <p:cNvPr id="15" name="TextBox 14"/>
          <p:cNvSpPr txBox="1"/>
          <p:nvPr/>
        </p:nvSpPr>
        <p:spPr>
          <a:xfrm>
            <a:off x="8275320" y="4434840"/>
            <a:ext cx="2880360" cy="36576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버전별 도구 목록 비교로 확인</a:t>
            </a:r>
          </a:p>
        </p:txBody>
      </p:sp>
      <p:sp>
        <p:nvSpPr>
          <p:cNvPr id="16" name="TextBox 15"/>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한계와 다음 단계</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통과가 곧 정답은 아닙니다</a:t>
            </a:r>
          </a:p>
        </p:txBody>
      </p:sp>
      <p:graphicFrame>
        <p:nvGraphicFramePr>
          <p:cNvPr id="4" name="Table 3"/>
          <p:cNvGraphicFramePr>
            <a:graphicFrameLocks noGrp="1"/>
          </p:cNvGraphicFramePr>
          <p:nvPr/>
        </p:nvGraphicFramePr>
        <p:xfrm>
          <a:off x="685800" y="1828800"/>
          <a:ext cx="10817352" cy="3200400"/>
        </p:xfrm>
        <a:graphic>
          <a:graphicData uri="http://schemas.openxmlformats.org/drawingml/2006/table">
            <a:tbl>
              <a:tblPr firstRow="1" bandRow="1">
                <a:tableStyleId>{5940675A-B579-460E-94D1-54222C63F5DA}</a:tableStyleId>
              </a:tblPr>
              <a:tblGrid>
                <a:gridCol w="5760720"/>
                <a:gridCol w="5056632"/>
              </a:tblGrid>
              <a:tr h="640080">
                <a:tc>
                  <a:txBody>
                    <a:bodyPr wrap="square"/>
                    <a:lstStyle/>
                    <a:p>
                      <a:r>
                        <a:rPr sz="1500" b="1">
                          <a:solidFill>
                            <a:srgbClr val="1B2433"/>
                          </a:solidFill>
                          <a:latin typeface="맑은 고딕"/>
                          <a:ea typeface="맑은 고딕"/>
                        </a:rPr>
                        <a:t>한계</a:t>
                      </a:r>
                    </a:p>
                  </a:txBody>
                  <a:tcPr marL="109728" marR="109728" marT="45720" marB="45720" anchor="ctr">
                    <a:solidFill>
                      <a:srgbClr val="ECEBE5"/>
                    </a:solidFill>
                  </a:tcPr>
                </a:tc>
                <a:tc>
                  <a:txBody>
                    <a:bodyPr wrap="square"/>
                    <a:lstStyle/>
                    <a:p>
                      <a:r>
                        <a:rPr sz="1500" b="1">
                          <a:solidFill>
                            <a:srgbClr val="1B2433"/>
                          </a:solidFill>
                          <a:latin typeface="맑은 고딕"/>
                          <a:ea typeface="맑은 고딕"/>
                        </a:rPr>
                        <a:t>다음 단계</a:t>
                      </a:r>
                    </a:p>
                  </a:txBody>
                  <a:tcPr marL="109728" marR="109728" marT="45720" marB="45720" anchor="ctr">
                    <a:solidFill>
                      <a:srgbClr val="ECEBE5"/>
                    </a:solidFill>
                  </a:tcPr>
                </a:tc>
              </a:tr>
              <a:tr h="640080">
                <a:tc>
                  <a:txBody>
                    <a:bodyPr wrap="square"/>
                    <a:lstStyle/>
                    <a:p>
                      <a:r>
                        <a:rPr sz="1500" b="0">
                          <a:solidFill>
                            <a:srgbClr val="1B2433"/>
                          </a:solidFill>
                          <a:latin typeface="맑은 고딕"/>
                          <a:ea typeface="맑은 고딕"/>
                        </a:rPr>
                        <a:t>import · 메서드까지 검사하지만, 실행 결과가 맞는지는 확인 못 함</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가짜 LLM을 넣어 코드 전체를 실제로 실행</a:t>
                      </a:r>
                    </a:p>
                  </a:txBody>
                  <a:tcPr marL="109728" marR="109728" marT="45720" marB="45720" anchor="ctr">
                    <a:solidFill>
                      <a:srgbClr val="FFFFFF"/>
                    </a:solidFill>
                  </a:tcPr>
                </a:tc>
              </a:tr>
              <a:tr h="640080">
                <a:tc>
                  <a:txBody>
                    <a:bodyPr wrap="square"/>
                    <a:lstStyle/>
                    <a:p>
                      <a:r>
                        <a:rPr sz="1500" b="0">
                          <a:solidFill>
                            <a:srgbClr val="1B2433"/>
                          </a:solidFill>
                          <a:latin typeface="맑은 고딕"/>
                          <a:ea typeface="맑은 고딕"/>
                        </a:rPr>
                        <a:t>다시 쓰기(rewriter)는 1.x로 올리기 중심, 되돌리기는 화면 쪽 도구 목록 비교</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목표 버전을 그래프 전체에 넘겨 모든 방향 지원</a:t>
                      </a:r>
                    </a:p>
                  </a:txBody>
                  <a:tcPr marL="109728" marR="109728" marT="45720" marB="45720" anchor="ctr">
                    <a:solidFill>
                      <a:srgbClr val="FFFFFF"/>
                    </a:solidFill>
                  </a:tcPr>
                </a:tc>
              </a:tr>
              <a:tr h="640080">
                <a:tc>
                  <a:txBody>
                    <a:bodyPr wrap="square"/>
                    <a:lstStyle/>
                    <a:p>
                      <a:r>
                        <a:rPr sz="1500" b="0">
                          <a:solidFill>
                            <a:srgbClr val="1B2433"/>
                          </a:solidFill>
                          <a:latin typeface="맑은 고딕"/>
                          <a:ea typeface="맑은 고딕"/>
                        </a:rPr>
                        <a:t>질문 35개, 팀이 직접 구축</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공개 저장소의 실사용 코드로 확장</a:t>
                      </a:r>
                    </a:p>
                  </a:txBody>
                  <a:tcPr marL="109728" marR="109728" marT="45720" marB="45720" anchor="ctr">
                    <a:solidFill>
                      <a:srgbClr val="FFFFFF"/>
                    </a:solidFill>
                  </a:tcPr>
                </a:tc>
              </a:tr>
              <a:tr h="640080">
                <a:tc>
                  <a:txBody>
                    <a:bodyPr wrap="square"/>
                    <a:lstStyle/>
                    <a:p>
                      <a:r>
                        <a:rPr sz="1500" b="0">
                          <a:solidFill>
                            <a:srgbClr val="1B2433"/>
                          </a:solidFill>
                          <a:latin typeface="맑은 고딕"/>
                          <a:ea typeface="맑은 고딕"/>
                        </a:rPr>
                        <a:t>LangChain만 대상</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pydantic, OpenAI SDK 등 빠르게 바뀌는 라이브러리로 확장</a:t>
                      </a:r>
                    </a:p>
                  </a:txBody>
                  <a:tcPr marL="109728" marR="109728" marT="45720" marB="45720" anchor="ctr">
                    <a:solidFill>
                      <a:srgbClr val="FFFFFF"/>
                    </a:solidFill>
                  </a:tcPr>
                </a:tc>
              </a:tr>
            </a:tbl>
          </a:graphicData>
        </a:graphic>
      </p:graphicFrame>
      <p:sp>
        <p:nvSpPr>
          <p:cNvPr id="5" name="TextBox 4"/>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5FAE"/>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D6E5F8"/>
                </a:solidFill>
                <a:latin typeface="맑은 고딕"/>
                <a:ea typeface="맑은 고딕"/>
                <a:cs typeface="맑은 고딕"/>
              </a:rPr>
              <a:t>가치</a:t>
            </a:r>
          </a:p>
        </p:txBody>
      </p:sp>
      <p:sp>
        <p:nvSpPr>
          <p:cNvPr id="3" name="TextBox 2"/>
          <p:cNvSpPr txBox="1"/>
          <p:nvPr/>
        </p:nvSpPr>
        <p:spPr>
          <a:xfrm>
            <a:off x="685800" y="914400"/>
            <a:ext cx="10789920" cy="1645920"/>
          </a:xfrm>
          <a:prstGeom prst="rect">
            <a:avLst/>
          </a:prstGeom>
          <a:noFill/>
        </p:spPr>
        <p:txBody>
          <a:bodyPr wrap="square" lIns="0" rIns="0" tIns="0" bIns="0" anchor="t">
            <a:spAutoFit/>
          </a:bodyPr>
          <a:lstStyle/>
          <a:p>
            <a:pPr algn="l">
              <a:lnSpc>
                <a:spcPct val="110000"/>
              </a:lnSpc>
            </a:pPr>
            <a:r>
              <a:rPr sz="4200" b="1">
                <a:solidFill>
                  <a:srgbClr val="FFFFFF"/>
                </a:solidFill>
                <a:latin typeface="맑은 고딕"/>
                <a:ea typeface="맑은 고딕"/>
                <a:cs typeface="맑은 고딕"/>
              </a:rPr>
              <a:t>라이브러리가 바뀔 때마다,</a:t>
            </a:r>
          </a:p>
          <a:p>
            <a:pPr algn="l">
              <a:lnSpc>
                <a:spcPct val="110000"/>
              </a:lnSpc>
            </a:pPr>
            <a:r>
              <a:rPr sz="4200" b="1">
                <a:solidFill>
                  <a:srgbClr val="FFFFFF"/>
                </a:solidFill>
                <a:latin typeface="맑은 고딕"/>
                <a:ea typeface="맑은 고딕"/>
                <a:cs typeface="맑은 고딕"/>
              </a:rPr>
              <a:t>근거와 함께 확인된 코드</a:t>
            </a:r>
          </a:p>
        </p:txBody>
      </p:sp>
      <p:cxnSp>
        <p:nvCxnSpPr>
          <p:cNvPr id="4" name="Connector 3"/>
          <p:cNvCxnSpPr/>
          <p:nvPr/>
        </p:nvCxnSpPr>
        <p:spPr>
          <a:xfrm>
            <a:off x="685800" y="4297680"/>
            <a:ext cx="3429000" cy="0"/>
          </a:xfrm>
          <a:prstGeom prst="line">
            <a:avLst/>
          </a:prstGeom>
          <a:ln w="19050">
            <a:solidFill>
              <a:srgbClr val="8DB6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4480560"/>
            <a:ext cx="3429000" cy="411480"/>
          </a:xfrm>
          <a:prstGeom prst="rect">
            <a:avLst/>
          </a:prstGeom>
          <a:noFill/>
        </p:spPr>
        <p:txBody>
          <a:bodyPr wrap="square" lIns="0" rIns="0" tIns="0" bIns="0" anchor="t">
            <a:spAutoFit/>
          </a:bodyPr>
          <a:lstStyle/>
          <a:p>
            <a:pPr algn="l">
              <a:lnSpc>
                <a:spcPct val="115000"/>
              </a:lnSpc>
            </a:pPr>
            <a:r>
              <a:rPr sz="1900" b="1">
                <a:solidFill>
                  <a:srgbClr val="FFFFFF"/>
                </a:solidFill>
                <a:latin typeface="맑은 고딕"/>
                <a:ea typeface="맑은 고딕"/>
                <a:cs typeface="맑은 고딕"/>
              </a:rPr>
              <a:t>시간 절감</a:t>
            </a:r>
          </a:p>
        </p:txBody>
      </p:sp>
      <p:sp>
        <p:nvSpPr>
          <p:cNvPr id="6" name="TextBox 5"/>
          <p:cNvSpPr txBox="1"/>
          <p:nvPr/>
        </p:nvSpPr>
        <p:spPr>
          <a:xfrm>
            <a:off x="685800" y="4937760"/>
            <a:ext cx="3429000" cy="822960"/>
          </a:xfrm>
          <a:prstGeom prst="rect">
            <a:avLst/>
          </a:prstGeom>
          <a:noFill/>
        </p:spPr>
        <p:txBody>
          <a:bodyPr wrap="square" lIns="0" rIns="0" tIns="0" bIns="0" anchor="t">
            <a:spAutoFit/>
          </a:bodyPr>
          <a:lstStyle/>
          <a:p>
            <a:pPr algn="l">
              <a:lnSpc>
                <a:spcPct val="135000"/>
              </a:lnSpc>
            </a:pPr>
            <a:r>
              <a:rPr sz="1400" b="0">
                <a:solidFill>
                  <a:srgbClr val="E4EEFB"/>
                </a:solidFill>
                <a:latin typeface="맑은 고딕"/>
                <a:ea typeface="맑은 고딕"/>
                <a:cs typeface="맑은 고딕"/>
              </a:rPr>
              <a:t>에러를 하나씩 검색하는 대신, 근거가 붙은 답을 바로 확인</a:t>
            </a:r>
          </a:p>
        </p:txBody>
      </p:sp>
      <p:cxnSp>
        <p:nvCxnSpPr>
          <p:cNvPr id="7" name="Connector 6"/>
          <p:cNvCxnSpPr/>
          <p:nvPr/>
        </p:nvCxnSpPr>
        <p:spPr>
          <a:xfrm>
            <a:off x="4343400" y="4297680"/>
            <a:ext cx="3429000" cy="0"/>
          </a:xfrm>
          <a:prstGeom prst="line">
            <a:avLst/>
          </a:prstGeom>
          <a:ln w="19050">
            <a:solidFill>
              <a:srgbClr val="8DB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343400" y="4480560"/>
            <a:ext cx="3429000" cy="411480"/>
          </a:xfrm>
          <a:prstGeom prst="rect">
            <a:avLst/>
          </a:prstGeom>
          <a:noFill/>
        </p:spPr>
        <p:txBody>
          <a:bodyPr wrap="square" lIns="0" rIns="0" tIns="0" bIns="0" anchor="t">
            <a:spAutoFit/>
          </a:bodyPr>
          <a:lstStyle/>
          <a:p>
            <a:pPr algn="l">
              <a:lnSpc>
                <a:spcPct val="115000"/>
              </a:lnSpc>
            </a:pPr>
            <a:r>
              <a:rPr sz="1900" b="1">
                <a:solidFill>
                  <a:srgbClr val="FFFFFF"/>
                </a:solidFill>
                <a:latin typeface="맑은 고딕"/>
                <a:ea typeface="맑은 고딕"/>
                <a:cs typeface="맑은 고딕"/>
              </a:rPr>
              <a:t>신뢰</a:t>
            </a:r>
          </a:p>
        </p:txBody>
      </p:sp>
      <p:sp>
        <p:nvSpPr>
          <p:cNvPr id="9" name="TextBox 8"/>
          <p:cNvSpPr txBox="1"/>
          <p:nvPr/>
        </p:nvSpPr>
        <p:spPr>
          <a:xfrm>
            <a:off x="4343400" y="4937760"/>
            <a:ext cx="3429000" cy="822960"/>
          </a:xfrm>
          <a:prstGeom prst="rect">
            <a:avLst/>
          </a:prstGeom>
          <a:noFill/>
        </p:spPr>
        <p:txBody>
          <a:bodyPr wrap="square" lIns="0" rIns="0" tIns="0" bIns="0" anchor="t">
            <a:spAutoFit/>
          </a:bodyPr>
          <a:lstStyle/>
          <a:p>
            <a:pPr algn="l">
              <a:lnSpc>
                <a:spcPct val="135000"/>
              </a:lnSpc>
            </a:pPr>
            <a:r>
              <a:rPr sz="1400" b="0">
                <a:solidFill>
                  <a:srgbClr val="E4EEFB"/>
                </a:solidFill>
                <a:latin typeface="맑은 고딕"/>
                <a:ea typeface="맑은 고딕"/>
                <a:cs typeface="맑은 고딕"/>
              </a:rPr>
              <a:t>바뀐 줄마다 근거 ID, 몇 번 만에 검사를 통과했는지 함께 제시</a:t>
            </a:r>
          </a:p>
        </p:txBody>
      </p:sp>
      <p:cxnSp>
        <p:nvCxnSpPr>
          <p:cNvPr id="10" name="Connector 9"/>
          <p:cNvCxnSpPr/>
          <p:nvPr/>
        </p:nvCxnSpPr>
        <p:spPr>
          <a:xfrm>
            <a:off x="8001000" y="4297680"/>
            <a:ext cx="3429000" cy="0"/>
          </a:xfrm>
          <a:prstGeom prst="line">
            <a:avLst/>
          </a:prstGeom>
          <a:ln w="19050">
            <a:solidFill>
              <a:srgbClr val="8DB6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001000" y="4480560"/>
            <a:ext cx="3429000" cy="411480"/>
          </a:xfrm>
          <a:prstGeom prst="rect">
            <a:avLst/>
          </a:prstGeom>
          <a:noFill/>
        </p:spPr>
        <p:txBody>
          <a:bodyPr wrap="square" lIns="0" rIns="0" tIns="0" bIns="0" anchor="t">
            <a:spAutoFit/>
          </a:bodyPr>
          <a:lstStyle/>
          <a:p>
            <a:pPr algn="l">
              <a:lnSpc>
                <a:spcPct val="115000"/>
              </a:lnSpc>
            </a:pPr>
            <a:r>
              <a:rPr sz="1900" b="1">
                <a:solidFill>
                  <a:srgbClr val="FFFFFF"/>
                </a:solidFill>
                <a:latin typeface="맑은 고딕"/>
                <a:ea typeface="맑은 고딕"/>
                <a:cs typeface="맑은 고딕"/>
              </a:rPr>
              <a:t>확장</a:t>
            </a:r>
          </a:p>
        </p:txBody>
      </p:sp>
      <p:sp>
        <p:nvSpPr>
          <p:cNvPr id="12" name="TextBox 11"/>
          <p:cNvSpPr txBox="1"/>
          <p:nvPr/>
        </p:nvSpPr>
        <p:spPr>
          <a:xfrm>
            <a:off x="8001000" y="4937760"/>
            <a:ext cx="3429000" cy="822960"/>
          </a:xfrm>
          <a:prstGeom prst="rect">
            <a:avLst/>
          </a:prstGeom>
          <a:noFill/>
        </p:spPr>
        <p:txBody>
          <a:bodyPr wrap="square" lIns="0" rIns="0" tIns="0" bIns="0" anchor="t">
            <a:spAutoFit/>
          </a:bodyPr>
          <a:lstStyle/>
          <a:p>
            <a:pPr algn="l">
              <a:lnSpc>
                <a:spcPct val="135000"/>
              </a:lnSpc>
            </a:pPr>
            <a:r>
              <a:rPr sz="1400" b="0">
                <a:solidFill>
                  <a:srgbClr val="E4EEFB"/>
                </a:solidFill>
                <a:latin typeface="맑은 고딕"/>
                <a:ea typeface="맑은 고딕"/>
                <a:cs typeface="맑은 고딕"/>
              </a:rPr>
              <a:t>대응표 · 문서 · 검사 환경만 바꾸면 다른 라이브러리에도 적용</a:t>
            </a:r>
          </a:p>
        </p:txBody>
      </p:sp>
      <p:sp>
        <p:nvSpPr>
          <p:cNvPr id="13" name="TextBox 12"/>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D6E5F8"/>
                </a:solidFill>
                <a:latin typeface="맑은 고딕"/>
                <a:ea typeface="맑은 고딕"/>
                <a:cs typeface="맑은 고딕"/>
              </a:rPr>
              <a:t>LangChain 마이그레이션 도우미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7FB2F0"/>
                </a:solidFill>
                <a:latin typeface="맑은 고딕"/>
                <a:ea typeface="맑은 고딕"/>
                <a:cs typeface="맑은 고딕"/>
              </a:rPr>
              <a:t>팀</a:t>
            </a:r>
          </a:p>
        </p:txBody>
      </p:sp>
      <p:sp>
        <p:nvSpPr>
          <p:cNvPr id="3" name="Rounded Rectangle 2"/>
          <p:cNvSpPr/>
          <p:nvPr/>
        </p:nvSpPr>
        <p:spPr>
          <a:xfrm>
            <a:off x="685800" y="960120"/>
            <a:ext cx="2560320" cy="17830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097280"/>
            <a:ext cx="2103120" cy="274320"/>
          </a:xfrm>
          <a:prstGeom prst="rect">
            <a:avLst/>
          </a:prstGeom>
          <a:noFill/>
        </p:spPr>
        <p:txBody>
          <a:bodyPr wrap="square" lIns="0" rIns="0" tIns="0" bIns="0" anchor="t">
            <a:spAutoFit/>
          </a:bodyPr>
          <a:lstStyle/>
          <a:p>
            <a:pPr algn="l">
              <a:lnSpc>
                <a:spcPct val="115000"/>
              </a:lnSpc>
            </a:pPr>
            <a:r>
              <a:rPr sz="1200" b="0">
                <a:solidFill>
                  <a:srgbClr val="8A9AAD"/>
                </a:solidFill>
                <a:latin typeface="맑은 고딕"/>
                <a:ea typeface="맑은 고딕"/>
                <a:cs typeface="맑은 고딕"/>
              </a:rPr>
              <a:t>1번 · [이름]</a:t>
            </a:r>
          </a:p>
        </p:txBody>
      </p:sp>
      <p:sp>
        <p:nvSpPr>
          <p:cNvPr id="5" name="TextBox 4"/>
          <p:cNvSpPr txBox="1"/>
          <p:nvPr/>
        </p:nvSpPr>
        <p:spPr>
          <a:xfrm>
            <a:off x="914400" y="1417320"/>
            <a:ext cx="2103120" cy="411480"/>
          </a:xfrm>
          <a:prstGeom prst="rect">
            <a:avLst/>
          </a:prstGeom>
          <a:noFill/>
        </p:spPr>
        <p:txBody>
          <a:bodyPr wrap="square" lIns="0" rIns="0" tIns="0" bIns="0" anchor="t">
            <a:spAutoFit/>
          </a:bodyPr>
          <a:lstStyle/>
          <a:p>
            <a:pPr algn="l">
              <a:lnSpc>
                <a:spcPct val="115000"/>
              </a:lnSpc>
            </a:pPr>
            <a:r>
              <a:rPr sz="1700" b="1">
                <a:solidFill>
                  <a:srgbClr val="F2F1EC"/>
                </a:solidFill>
                <a:latin typeface="맑은 고딕"/>
                <a:ea typeface="맑은 고딕"/>
                <a:cs typeface="맑은 고딕"/>
              </a:rPr>
              <a:t>그래프 · 백엔드</a:t>
            </a:r>
          </a:p>
        </p:txBody>
      </p:sp>
      <p:sp>
        <p:nvSpPr>
          <p:cNvPr id="6" name="TextBox 5"/>
          <p:cNvSpPr txBox="1"/>
          <p:nvPr/>
        </p:nvSpPr>
        <p:spPr>
          <a:xfrm>
            <a:off x="914400" y="1874519"/>
            <a:ext cx="2103120" cy="731520"/>
          </a:xfrm>
          <a:prstGeom prst="rect">
            <a:avLst/>
          </a:prstGeom>
          <a:noFill/>
        </p:spPr>
        <p:txBody>
          <a:bodyPr wrap="square" lIns="0" rIns="0" tIns="0" bIns="0" anchor="t">
            <a:spAutoFit/>
          </a:bodyPr>
          <a:lstStyle/>
          <a:p>
            <a:pPr algn="l">
              <a:lnSpc>
                <a:spcPct val="130000"/>
              </a:lnSpc>
            </a:pPr>
            <a:r>
              <a:rPr sz="1200" b="0">
                <a:solidFill>
                  <a:srgbClr val="B9C3CF"/>
                </a:solidFill>
                <a:latin typeface="맑은 고딕"/>
                <a:ea typeface="맑은 고딕"/>
                <a:cs typeface="맑은 고딕"/>
              </a:rPr>
              <a:t>LangGraph 연결 · analyzer</a:t>
            </a:r>
          </a:p>
          <a:p>
            <a:pPr algn="l">
              <a:lnSpc>
                <a:spcPct val="130000"/>
              </a:lnSpc>
            </a:pPr>
            <a:r>
              <a:rPr sz="1200" b="0">
                <a:solidFill>
                  <a:srgbClr val="B9C3CF"/>
                </a:solidFill>
                <a:latin typeface="맑은 고딕"/>
                <a:ea typeface="맑은 고딕"/>
                <a:cs typeface="맑은 고딕"/>
              </a:rPr>
              <a:t>재시도 판단 · dev 병합</a:t>
            </a:r>
          </a:p>
        </p:txBody>
      </p:sp>
      <p:sp>
        <p:nvSpPr>
          <p:cNvPr id="7" name="Rounded Rectangle 6"/>
          <p:cNvSpPr/>
          <p:nvPr/>
        </p:nvSpPr>
        <p:spPr>
          <a:xfrm>
            <a:off x="3429000" y="960120"/>
            <a:ext cx="2560320" cy="17830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657600" y="1097280"/>
            <a:ext cx="2103120" cy="274320"/>
          </a:xfrm>
          <a:prstGeom prst="rect">
            <a:avLst/>
          </a:prstGeom>
          <a:noFill/>
        </p:spPr>
        <p:txBody>
          <a:bodyPr wrap="square" lIns="0" rIns="0" tIns="0" bIns="0" anchor="t">
            <a:spAutoFit/>
          </a:bodyPr>
          <a:lstStyle/>
          <a:p>
            <a:pPr algn="l">
              <a:lnSpc>
                <a:spcPct val="115000"/>
              </a:lnSpc>
            </a:pPr>
            <a:r>
              <a:rPr sz="1200" b="0">
                <a:solidFill>
                  <a:srgbClr val="8A9AAD"/>
                </a:solidFill>
                <a:latin typeface="맑은 고딕"/>
                <a:ea typeface="맑은 고딕"/>
                <a:cs typeface="맑은 고딕"/>
              </a:rPr>
              <a:t>2번 · [이름]</a:t>
            </a:r>
          </a:p>
        </p:txBody>
      </p:sp>
      <p:sp>
        <p:nvSpPr>
          <p:cNvPr id="9" name="TextBox 8"/>
          <p:cNvSpPr txBox="1"/>
          <p:nvPr/>
        </p:nvSpPr>
        <p:spPr>
          <a:xfrm>
            <a:off x="3657600" y="1417320"/>
            <a:ext cx="2103120" cy="411480"/>
          </a:xfrm>
          <a:prstGeom prst="rect">
            <a:avLst/>
          </a:prstGeom>
          <a:noFill/>
        </p:spPr>
        <p:txBody>
          <a:bodyPr wrap="square" lIns="0" rIns="0" tIns="0" bIns="0" anchor="t">
            <a:spAutoFit/>
          </a:bodyPr>
          <a:lstStyle/>
          <a:p>
            <a:pPr algn="l">
              <a:lnSpc>
                <a:spcPct val="115000"/>
              </a:lnSpc>
            </a:pPr>
            <a:r>
              <a:rPr sz="1700" b="1">
                <a:solidFill>
                  <a:srgbClr val="F2F1EC"/>
                </a:solidFill>
                <a:latin typeface="맑은 고딕"/>
                <a:ea typeface="맑은 고딕"/>
                <a:cs typeface="맑은 고딕"/>
              </a:rPr>
              <a:t>데이터 · 검색</a:t>
            </a:r>
          </a:p>
        </p:txBody>
      </p:sp>
      <p:sp>
        <p:nvSpPr>
          <p:cNvPr id="10" name="TextBox 9"/>
          <p:cNvSpPr txBox="1"/>
          <p:nvPr/>
        </p:nvSpPr>
        <p:spPr>
          <a:xfrm>
            <a:off x="3657600" y="1874519"/>
            <a:ext cx="2103120" cy="731520"/>
          </a:xfrm>
          <a:prstGeom prst="rect">
            <a:avLst/>
          </a:prstGeom>
          <a:noFill/>
        </p:spPr>
        <p:txBody>
          <a:bodyPr wrap="square" lIns="0" rIns="0" tIns="0" bIns="0" anchor="t">
            <a:spAutoFit/>
          </a:bodyPr>
          <a:lstStyle/>
          <a:p>
            <a:pPr algn="l">
              <a:lnSpc>
                <a:spcPct val="130000"/>
              </a:lnSpc>
            </a:pPr>
            <a:r>
              <a:rPr sz="1200" b="0">
                <a:solidFill>
                  <a:srgbClr val="B9C3CF"/>
                </a:solidFill>
                <a:latin typeface="맑은 고딕"/>
                <a:ea typeface="맑은 고딕"/>
                <a:cs typeface="맑은 고딕"/>
              </a:rPr>
              <a:t>대응표 · 청킹 · Chroma</a:t>
            </a:r>
          </a:p>
          <a:p>
            <a:pPr algn="l">
              <a:lnSpc>
                <a:spcPct val="130000"/>
              </a:lnSpc>
            </a:pPr>
            <a:r>
              <a:rPr sz="1200" b="0">
                <a:solidFill>
                  <a:srgbClr val="B9C3CF"/>
                </a:solidFill>
                <a:latin typeface="맑은 고딕"/>
                <a:ea typeface="맑은 고딕"/>
                <a:cs typeface="맑은 고딕"/>
              </a:rPr>
              <a:t>하이브리드 검색 · retriever</a:t>
            </a:r>
          </a:p>
        </p:txBody>
      </p:sp>
      <p:sp>
        <p:nvSpPr>
          <p:cNvPr id="11" name="Rounded Rectangle 10"/>
          <p:cNvSpPr/>
          <p:nvPr/>
        </p:nvSpPr>
        <p:spPr>
          <a:xfrm>
            <a:off x="6172200" y="960120"/>
            <a:ext cx="2560320" cy="17830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0" y="1097280"/>
            <a:ext cx="2103120" cy="274320"/>
          </a:xfrm>
          <a:prstGeom prst="rect">
            <a:avLst/>
          </a:prstGeom>
          <a:noFill/>
        </p:spPr>
        <p:txBody>
          <a:bodyPr wrap="square" lIns="0" rIns="0" tIns="0" bIns="0" anchor="t">
            <a:spAutoFit/>
          </a:bodyPr>
          <a:lstStyle/>
          <a:p>
            <a:pPr algn="l">
              <a:lnSpc>
                <a:spcPct val="115000"/>
              </a:lnSpc>
            </a:pPr>
            <a:r>
              <a:rPr sz="1200" b="0">
                <a:solidFill>
                  <a:srgbClr val="8A9AAD"/>
                </a:solidFill>
                <a:latin typeface="맑은 고딕"/>
                <a:ea typeface="맑은 고딕"/>
                <a:cs typeface="맑은 고딕"/>
              </a:rPr>
              <a:t>3번 · [이름]</a:t>
            </a:r>
          </a:p>
        </p:txBody>
      </p:sp>
      <p:sp>
        <p:nvSpPr>
          <p:cNvPr id="13" name="TextBox 12"/>
          <p:cNvSpPr txBox="1"/>
          <p:nvPr/>
        </p:nvSpPr>
        <p:spPr>
          <a:xfrm>
            <a:off x="6400800" y="1417320"/>
            <a:ext cx="2103120" cy="411480"/>
          </a:xfrm>
          <a:prstGeom prst="rect">
            <a:avLst/>
          </a:prstGeom>
          <a:noFill/>
        </p:spPr>
        <p:txBody>
          <a:bodyPr wrap="square" lIns="0" rIns="0" tIns="0" bIns="0" anchor="t">
            <a:spAutoFit/>
          </a:bodyPr>
          <a:lstStyle/>
          <a:p>
            <a:pPr algn="l">
              <a:lnSpc>
                <a:spcPct val="115000"/>
              </a:lnSpc>
            </a:pPr>
            <a:r>
              <a:rPr sz="1700" b="1">
                <a:solidFill>
                  <a:srgbClr val="F2F1EC"/>
                </a:solidFill>
                <a:latin typeface="맑은 고딕"/>
                <a:ea typeface="맑은 고딕"/>
                <a:cs typeface="맑은 고딕"/>
              </a:rPr>
              <a:t>변환 · 검증</a:t>
            </a:r>
          </a:p>
        </p:txBody>
      </p:sp>
      <p:sp>
        <p:nvSpPr>
          <p:cNvPr id="14" name="TextBox 13"/>
          <p:cNvSpPr txBox="1"/>
          <p:nvPr/>
        </p:nvSpPr>
        <p:spPr>
          <a:xfrm>
            <a:off x="6400800" y="1874519"/>
            <a:ext cx="2103120" cy="731520"/>
          </a:xfrm>
          <a:prstGeom prst="rect">
            <a:avLst/>
          </a:prstGeom>
          <a:noFill/>
        </p:spPr>
        <p:txBody>
          <a:bodyPr wrap="square" lIns="0" rIns="0" tIns="0" bIns="0" anchor="t">
            <a:spAutoFit/>
          </a:bodyPr>
          <a:lstStyle/>
          <a:p>
            <a:pPr algn="l">
              <a:lnSpc>
                <a:spcPct val="130000"/>
              </a:lnSpc>
            </a:pPr>
            <a:r>
              <a:rPr sz="1200" b="0">
                <a:solidFill>
                  <a:srgbClr val="B9C3CF"/>
                </a:solidFill>
                <a:latin typeface="맑은 고딕"/>
                <a:ea typeface="맑은 고딕"/>
                <a:cs typeface="맑은 고딕"/>
              </a:rPr>
              <a:t>State · rewriter</a:t>
            </a:r>
          </a:p>
          <a:p>
            <a:pPr algn="l">
              <a:lnSpc>
                <a:spcPct val="130000"/>
              </a:lnSpc>
            </a:pPr>
            <a:r>
              <a:rPr sz="1200" b="0">
                <a:solidFill>
                  <a:srgbClr val="B9C3CF"/>
                </a:solidFill>
                <a:latin typeface="맑은 고딕"/>
                <a:ea typeface="맑은 고딕"/>
                <a:cs typeface="맑은 고딕"/>
              </a:rPr>
              <a:t>verifier 8가지 검사</a:t>
            </a:r>
          </a:p>
        </p:txBody>
      </p:sp>
      <p:sp>
        <p:nvSpPr>
          <p:cNvPr id="15" name="Rounded Rectangle 14"/>
          <p:cNvSpPr/>
          <p:nvPr/>
        </p:nvSpPr>
        <p:spPr>
          <a:xfrm>
            <a:off x="8915400" y="960120"/>
            <a:ext cx="2560320" cy="17830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0" y="1097280"/>
            <a:ext cx="2103120" cy="274320"/>
          </a:xfrm>
          <a:prstGeom prst="rect">
            <a:avLst/>
          </a:prstGeom>
          <a:noFill/>
        </p:spPr>
        <p:txBody>
          <a:bodyPr wrap="square" lIns="0" rIns="0" tIns="0" bIns="0" anchor="t">
            <a:spAutoFit/>
          </a:bodyPr>
          <a:lstStyle/>
          <a:p>
            <a:pPr algn="l">
              <a:lnSpc>
                <a:spcPct val="115000"/>
              </a:lnSpc>
            </a:pPr>
            <a:r>
              <a:rPr sz="1200" b="0">
                <a:solidFill>
                  <a:srgbClr val="8A9AAD"/>
                </a:solidFill>
                <a:latin typeface="맑은 고딕"/>
                <a:ea typeface="맑은 고딕"/>
                <a:cs typeface="맑은 고딕"/>
              </a:rPr>
              <a:t>4번 · [이름]</a:t>
            </a:r>
          </a:p>
        </p:txBody>
      </p:sp>
      <p:sp>
        <p:nvSpPr>
          <p:cNvPr id="17" name="TextBox 16"/>
          <p:cNvSpPr txBox="1"/>
          <p:nvPr/>
        </p:nvSpPr>
        <p:spPr>
          <a:xfrm>
            <a:off x="9144000" y="1417320"/>
            <a:ext cx="2103120" cy="411480"/>
          </a:xfrm>
          <a:prstGeom prst="rect">
            <a:avLst/>
          </a:prstGeom>
          <a:noFill/>
        </p:spPr>
        <p:txBody>
          <a:bodyPr wrap="square" lIns="0" rIns="0" tIns="0" bIns="0" anchor="t">
            <a:spAutoFit/>
          </a:bodyPr>
          <a:lstStyle/>
          <a:p>
            <a:pPr algn="l">
              <a:lnSpc>
                <a:spcPct val="115000"/>
              </a:lnSpc>
            </a:pPr>
            <a:r>
              <a:rPr sz="1700" b="1">
                <a:solidFill>
                  <a:srgbClr val="F2F1EC"/>
                </a:solidFill>
                <a:latin typeface="맑은 고딕"/>
                <a:ea typeface="맑은 고딕"/>
                <a:cs typeface="맑은 고딕"/>
              </a:rPr>
              <a:t>화면 · 평가 · 발표</a:t>
            </a:r>
          </a:p>
        </p:txBody>
      </p:sp>
      <p:sp>
        <p:nvSpPr>
          <p:cNvPr id="18" name="TextBox 17"/>
          <p:cNvSpPr txBox="1"/>
          <p:nvPr/>
        </p:nvSpPr>
        <p:spPr>
          <a:xfrm>
            <a:off x="9144000" y="1874519"/>
            <a:ext cx="2103120" cy="731520"/>
          </a:xfrm>
          <a:prstGeom prst="rect">
            <a:avLst/>
          </a:prstGeom>
          <a:noFill/>
        </p:spPr>
        <p:txBody>
          <a:bodyPr wrap="square" lIns="0" rIns="0" tIns="0" bIns="0" anchor="t">
            <a:spAutoFit/>
          </a:bodyPr>
          <a:lstStyle/>
          <a:p>
            <a:pPr algn="l">
              <a:lnSpc>
                <a:spcPct val="130000"/>
              </a:lnSpc>
            </a:pPr>
            <a:r>
              <a:rPr sz="1200" b="0">
                <a:solidFill>
                  <a:srgbClr val="B9C3CF"/>
                </a:solidFill>
                <a:latin typeface="맑은 고딕"/>
                <a:ea typeface="맑은 고딕"/>
                <a:cs typeface="맑은 고딕"/>
              </a:rPr>
              <a:t>Streamlit 화면 · TiDB</a:t>
            </a:r>
          </a:p>
          <a:p>
            <a:pPr algn="l">
              <a:lnSpc>
                <a:spcPct val="130000"/>
              </a:lnSpc>
            </a:pPr>
            <a:r>
              <a:rPr sz="1200" b="0">
                <a:solidFill>
                  <a:srgbClr val="B9C3CF"/>
                </a:solidFill>
                <a:latin typeface="맑은 고딕"/>
                <a:ea typeface="맑은 고딕"/>
                <a:cs typeface="맑은 고딕"/>
              </a:rPr>
              <a:t>질문 35개 · 비교 실험</a:t>
            </a:r>
          </a:p>
        </p:txBody>
      </p:sp>
      <p:sp>
        <p:nvSpPr>
          <p:cNvPr id="19" name="TextBox 18"/>
          <p:cNvSpPr txBox="1"/>
          <p:nvPr/>
        </p:nvSpPr>
        <p:spPr>
          <a:xfrm>
            <a:off x="685800" y="4343400"/>
            <a:ext cx="10789920" cy="1005840"/>
          </a:xfrm>
          <a:prstGeom prst="rect">
            <a:avLst/>
          </a:prstGeom>
          <a:noFill/>
        </p:spPr>
        <p:txBody>
          <a:bodyPr wrap="square" lIns="0" rIns="0" tIns="0" bIns="0" anchor="t">
            <a:spAutoFit/>
          </a:bodyPr>
          <a:lstStyle/>
          <a:p>
            <a:pPr algn="l">
              <a:lnSpc>
                <a:spcPct val="115000"/>
              </a:lnSpc>
            </a:pPr>
            <a:r>
              <a:rPr sz="5400" b="1">
                <a:solidFill>
                  <a:srgbClr val="F2F1EC"/>
                </a:solidFill>
                <a:latin typeface="맑은 고딕"/>
                <a:ea typeface="맑은 고딕"/>
                <a:cs typeface="맑은 고딕"/>
              </a:rPr>
              <a:t>감사합니다</a:t>
            </a:r>
          </a:p>
        </p:txBody>
      </p:sp>
      <p:sp>
        <p:nvSpPr>
          <p:cNvPr id="20" name="TextBox 19"/>
          <p:cNvSpPr txBox="1"/>
          <p:nvPr/>
        </p:nvSpPr>
        <p:spPr>
          <a:xfrm>
            <a:off x="685800" y="5440680"/>
            <a:ext cx="10789920" cy="457200"/>
          </a:xfrm>
          <a:prstGeom prst="rect">
            <a:avLst/>
          </a:prstGeom>
          <a:noFill/>
        </p:spPr>
        <p:txBody>
          <a:bodyPr wrap="square" lIns="0" rIns="0" tIns="0" bIns="0" anchor="t">
            <a:spAutoFit/>
          </a:bodyPr>
          <a:lstStyle/>
          <a:p>
            <a:pPr algn="l">
              <a:lnSpc>
                <a:spcPct val="115000"/>
              </a:lnSpc>
            </a:pPr>
            <a:r>
              <a:rPr sz="1700" b="0">
                <a:solidFill>
                  <a:srgbClr val="B9C3CF"/>
                </a:solidFill>
                <a:latin typeface="맑은 고딕"/>
                <a:ea typeface="맑은 고딕"/>
                <a:cs typeface="맑은 고딕"/>
              </a:rPr>
              <a:t>질문 받겠습니다 · github.com/SKNETWORKS-FAMILY-AICAMP/SKN35-3rd-4Team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