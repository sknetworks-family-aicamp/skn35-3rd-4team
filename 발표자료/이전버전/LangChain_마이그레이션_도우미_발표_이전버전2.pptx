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[0:00~0:30] 안녕하세요, SKN35 3기 4팀 발표를 맡은 [이름]입니다. 저희는 옛 버전 LangChain 코드를 넣고 바꿀 버전을 고르면, 그 버전에서 돌아가는 코드로 고쳐 주고, 정말 돌아가는지 검사까지 해 주는 챗봇을 만들었습니다. 오늘 핵심 단어는 두 개, '근거'와 '검증'입니다.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[0:30~0:50] 오늘은 네 부분으로 말씀드리겠습니다. 먼저 어떤 문제를 풀었는지, 다음으로 팀이 무엇을 만들었는지, 그다음 어떻게 평가했고 결과가 어땠는지, 마지막으로 만들면서 배운 것을 말씀드리겠습니다.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[0:30~1:20] LangChain을 LLM에게 물어보면 복잡한 질문일수록 옛 버전 코드를 줍니다. 왼쪽은 그 코드를 최신 LangChain 1.4.4에서 실제로 실행한 결과입니다. 첫 줄 import부터 에러가 납니다. 1.0에서 패키지가 나뉘고 LLMChain 같은 옛 체인이 빠졌기 때문입니다. 더 큰 문제는 LLM이 이 답이 틀렸다는 것을 모른다는 점입니다. 사용자가 직접 에러를 검색하며 고쳐야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[1:20~2:10] 이 현상을 '버전 지체 환각'이라고 부릅니다. 연구에서도 문서가 부족하면 LLM 코드의 약 43%만 목표 버전에서 실행되고, 구조화된 문서를 줘도 66% 정도에 머뭅니다. 최신 상용 모델도 버전을 지정한 코드 생성은 절반 정도만 성공합니다. 그래서 저희는 문서를 주는 것에서 멈추지 않고, 고친 코드를 검사하고 틀리면 다시 고치는 단계를 넣었습니다. (출처: arXiv 2604.09515, arXiv 2507.12367)</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[2:10~3:00] 해결 방법을 일반 LLM과 비교하면 이렇습니다. 첫째, 기억이 아니라 대응표와 최신 공식 문서를 근거로 고칩니다. 둘째, 고친 코드를 verifier가 LLM 없이 11가지로 검사합니다. 셋째, 틀리면 실패 이유를 들고 근거를 다시 찾는데, 이미 틀린 근거는 빼고 찾습니다. 최대 3번입니다. 그래서 답변에는 코드뿐 아니라 바뀐 줄마다 근거 ID와 이유, 몇 번 만에 통과했는지가 함께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[3:00~3:50] 2번이 만든 근거 데이터입니다. 옛 import 경로를 1.x 경로로 잇는 대응표가 9,155줄, .run 같은 옛 메서드를 잇는 메서드 대응표가 42개 있습니다. 최신 공식 문서 271개와 옛 마이그레이션 가이드 24개를 11,945개 조각으로 나눠 Chroma Cloud에 넣었고, 단어 검색 BM25와 벡터 검색을 합친 하이브리드 검색으로 찾습니다. 근거마다 imap, mmap, doc으로 시작하는 ID가 붙어서, 나중에 어떤 근거로 고쳤는지 추적할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[3:50~5:00] 질문이 들어오면 먼저 질문을 분류합니다. 코드를 바꿔 달라는 요청이면 네 단계 파이프라인으로 갑니다. 1번이 만든 analyzer가 코드에서 바꿀 부분을 찾고, 2번의 retriever가 대응표와 문서에서 근거를 찾습니다. 3번의 rewriter가 바뀐 줄마다 근거 ID를 붙여 코드를 다시 쓰고, 핵심인 verifier가 LLM 없이 검사합니다. 실패하면 실패 이유를 들고 retriever로 돌아가는데, 틀린 근거는 빼고 다시 찾습니다. 최대 3번입니다. 단계 연결과 재시도 판단, 질문 분류는 1번이 LangGraph로 맡았고, 결과는 제가 만든 화면에 보여 주고 대화는 TiDB에 저장합니다. (질문 분류 연결은 마무리 중: 발표 시점 상태에 맞게 수정)</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[5:00~6:00] verifier가 이 프로젝트의 핵심입니다. 맞았는지 LLM에게 묻지 않고, 코드로 11가지를 검사합니다. 문법, 근거 ID가 이번에 실제로 보여 준 근거인지, 기록 없이 바뀐 줄이 있는지(이건 환각입니다), 옛 import가 남았는지, 새 경로가 1.x에 진짜 있는지, 그리고 반환값을 잃지 않았는지, 정의 안 된 이름을 쓰지 않았는지 같은 실행 오류까지 봅니다. 오류는 재시도 이유가 되고, 경고는 결과에 표시합니다. LLM에게 검증을 맡기지 않은 이유는, 검증하는 LLM도 같은 옛 지식을 갖고 있기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[6:00~7:00] 제가 맡은 화면입니다. 아이디로 들어오면 ChatGPT처럼 왼쪽에 대화 목록이 있고, '새 대화'를 누를 때마다 세션이 하나 생깁니다. 위에서 지금 코드 버전과 바꿀 버전을 고르고 코드를 보내면, 오른쪽 결과 패널에 검증 배지, 고치기 전과 후, 바뀐 줄마다 근거 ID와 바꾼 이유가 나옵니다. 근거가 부족해서 못 바꾼 줄과 새로 설치해야 할 패키지도 알려 줍니다. 사이드바의 확인용 예제 30개로 바로 시험해 볼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[7:00~7:50] 대화 기록은 TiDB에 저장합니다. 팀에서 정한 ERD대로 테이블은 두 개입니다. users에는 아이디가 중복 없이 들어가고, chat_history에는 질문 하나와 그 답이 한 행으로 들어갑니다. '새 대화'를 누르면 새 session_id가 생기고, 대화 목록은 session_id로 묶어 보여 줍니다. 아이디는 가입 전에 중복을 검사하고, 동시에 가입하는 경우도 DB의 UNIQUE가 한 번 더 막습니다. TiDB에 연결할 수 없으면 화면이 멈추지 않고 로컬 저장으로 넘어가면서 이유를 보여 줍니다.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[7:50~8:50] 평가는 공정하게 비교하려고 규칙을 먼저 정했습니다. 실제 사용자가 보낼 법한 요청 문장과 옛 코드로 1.x로 올리는 질문 30개를 만들었습니다. 10가지 유형마다 3개씩이고, 쉬움 7, 중간 15, 어려움 8입니다. 30개 모두 옛 코드가 1.x에서 실제로 깨지는지, 기대하는 답의 import가 실제로 되는지 미리 확인했습니다. 일반 LLM과 우리 챗봇은 같은 모델, 같은 입력을 쓰고, 채점은 verifier와 같은 기준으로 합니다. 지표는 검증 통과율, 바뀐 줄에 근거가 붙은 비율, 재시도로 오른 통과율 세 가지입니다.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[8:50~10:00] 실제로 돌린 결과입니다. 왼쪽은 0.0.300 시절의 LLMChain 코드입니다. 오른쪽이 팀 그래프가 고친 코드인데, LLMChain이 prompt | llm | StrOutputParser() 형태의 최신 방식으로 바뀌었고 .run은 .invoke로 바뀌었습니다. 1회차와 2회차는 verifier 검사에 걸렸고, 실패 이유를 들고 근거를 다시 찾아 3회차에 통과했습니다. 바뀐 6줄 모두에 근거 ID가 붙었습니다. 다만 검사와 재시도 때문에 한 번 변환에 1분 정도 걸립니다. [데모 캡처를 넣는다면 9장 결과 패널 캡처를 다시 보여 주기]</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[10:00~11:00] 결과입니다. 검증 통과율은 일반 LLM이 [__]%, 우리 챗봇이 [__]%였습니다. 특히 [__] 유형에서 차이가 가장 컸습니다. 우리 챗봇이 바꾼 줄 중 [__]%에 근거 ID가 붙었습니다. [실험 결과를 보고 제목과 설명 수정]</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[11:00~11:50] 첫 시도만 보면 통과율이 [__]%인데, 실패 이유로 근거를 다시 찾아 고치면 최종 [__]%까지 올라갑니다. 확인하고 다시 고치는 루프가 [__]%p를 만들었습니다. 앞에서 본 LLMChain 사례도 1회차에는 실패했다가 3회차에 통과한 경우입니다.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[11:50~12:40] 만들면서 예상하지 못한 것을 세 가지 발견했습니다. 첫째, langchain-community는 import만 해도 지원 종료 경고가 나옵니다. 둘째, 옛 체인을 langchain_classic에서 가져오면 import는 되지만 최신 방식은 아닙니다. 그래서 대응표와 화면에서 '옛 창고'로 따로 표시했습니다. 셋째, 버전 되돌리기를 만들며 버전별 도구 목록을 비교해 보니 0.0.300부터 0.3.30까지는 자주 쓰는 경로가 거의 같았습니다. 크게 바뀌는 것은 1.x와의 사이입니다.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[12:40~13:30] 한계도 말씀드리겠습니다. 가장 큰 한계는 통과가 곧 정답은 아니라는 점입니다. 코드를 11가지로 검사하지만, 실행 결과까지 맞는지는 확인하지 못합니다. 또 다시 쓰기는 1.x로 올리는 쪽이 중심이라, 옛 버전으로 되돌리기는 지금 화면 쪽에서 임시로 처리합니다. 검사와 재시도 때문에 한 번에 1분 정도 걸리는 것도 개선할 점입니다. 다음 단계로 가짜 LLM을 넣은 실행 테스트, 목표 버전 전달, 테스트셋과 대상 라이브러리 확장을 생각하고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[13:30~14:15] 가치를 세 가지로 정리하겠습니다. 첫째, 개발자가 버전 에러를 하나씩 검색하는 시간을 줄여 줍니다. 둘째, 바뀐 줄마다 근거와 이유, 검사 결과가 붙어 있어서 믿고 쓸 수 있습니다. 셋째, 구조가 대응표와 문서, 검사 기준에만 의존해서 빠르게 바뀌는 다른 라이브러리에도 그대로 적용할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[14:15~15:00] 저희 팀은 이렇게 역할을 나눠 진행했습니다. 감사합니다. 질문 받겠습니다. [예상 질문] 통과하면 정답인가 → 16장 한계, 11가지 코드 검사까지 / 30개로 충분한가 → 유형 · 난이도별 경향 확인이 목적 / 왜 LLM에게 검증을 맡기지 않았나 → 검증 LLM도 같은 옛 지식 / 근거를 지어낼 수 있지 않나 → verifier가 이번에 보여 준 근거 ID만 인정 / 왜 1분이나 걸리나 → 검사 실패 시 최대 3회 다시 고치기 때문, 개선 예정 / 대화 기록은 어디에 → TiDB users · chat_history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02E"/>
        </a:solidFill>
        <a:effectLst/>
      </p:bgPr>
    </p:bg>
    <p:spTree>
      <p:nvGrpSpPr>
        <p:cNvPr id="1" name=""/>
        <p:cNvGrpSpPr/>
        <p:nvPr/>
      </p:nvGrpSpPr>
      <p:grpSpPr/>
      <p:sp>
        <p:nvSpPr>
          <p:cNvPr id="2" name="TextBox 1"/>
          <p:cNvSpPr txBox="1"/>
          <p:nvPr/>
        </p:nvSpPr>
        <p:spPr>
          <a:xfrm>
            <a:off x="685800" y="685800"/>
            <a:ext cx="10789920" cy="365760"/>
          </a:xfrm>
          <a:prstGeom prst="rect">
            <a:avLst/>
          </a:prstGeom>
          <a:noFill/>
        </p:spPr>
        <p:txBody>
          <a:bodyPr wrap="square" lIns="0" rIns="0" tIns="0" bIns="0" anchor="t">
            <a:spAutoFit/>
          </a:bodyPr>
          <a:lstStyle/>
          <a:p>
            <a:pPr algn="l">
              <a:lnSpc>
                <a:spcPct val="115000"/>
              </a:lnSpc>
            </a:pPr>
            <a:r>
              <a:rPr sz="1500" b="1">
                <a:solidFill>
                  <a:srgbClr val="7FB2F0"/>
                </a:solidFill>
                <a:latin typeface="맑은 고딕"/>
                <a:ea typeface="맑은 고딕"/>
                <a:cs typeface="맑은 고딕"/>
              </a:rPr>
              <a:t>SKN35 · LLM 연동 내외부 문서 기반 질의응답 시스템</a:t>
            </a:r>
          </a:p>
        </p:txBody>
      </p:sp>
      <p:sp>
        <p:nvSpPr>
          <p:cNvPr id="3" name="TextBox 2"/>
          <p:cNvSpPr txBox="1"/>
          <p:nvPr/>
        </p:nvSpPr>
        <p:spPr>
          <a:xfrm>
            <a:off x="685800" y="2057400"/>
            <a:ext cx="10789920" cy="1828800"/>
          </a:xfrm>
          <a:prstGeom prst="rect">
            <a:avLst/>
          </a:prstGeom>
          <a:noFill/>
        </p:spPr>
        <p:txBody>
          <a:bodyPr wrap="square" lIns="0" rIns="0" tIns="0" bIns="0" anchor="t">
            <a:spAutoFit/>
          </a:bodyPr>
          <a:lstStyle/>
          <a:p>
            <a:pPr algn="l">
              <a:lnSpc>
                <a:spcPct val="110000"/>
              </a:lnSpc>
            </a:pPr>
            <a:r>
              <a:rPr sz="5000" b="1">
                <a:solidFill>
                  <a:srgbClr val="F2F1EC"/>
                </a:solidFill>
                <a:latin typeface="맑은 고딕"/>
                <a:ea typeface="맑은 고딕"/>
                <a:cs typeface="맑은 고딕"/>
              </a:rPr>
              <a:t>LangChain 버전</a:t>
            </a:r>
          </a:p>
          <a:p>
            <a:pPr algn="l">
              <a:lnSpc>
                <a:spcPct val="110000"/>
              </a:lnSpc>
            </a:pPr>
            <a:r>
              <a:rPr sz="5000" b="1">
                <a:solidFill>
                  <a:srgbClr val="F2F1EC"/>
                </a:solidFill>
                <a:latin typeface="맑은 고딕"/>
                <a:ea typeface="맑은 고딕"/>
                <a:cs typeface="맑은 고딕"/>
              </a:rPr>
              <a:t>마이그레이션 코드 어시스턴트</a:t>
            </a:r>
          </a:p>
        </p:txBody>
      </p:sp>
      <p:sp>
        <p:nvSpPr>
          <p:cNvPr id="4" name="TextBox 3"/>
          <p:cNvSpPr txBox="1"/>
          <p:nvPr/>
        </p:nvSpPr>
        <p:spPr>
          <a:xfrm>
            <a:off x="685800" y="3977639"/>
            <a:ext cx="10789920" cy="548640"/>
          </a:xfrm>
          <a:prstGeom prst="rect">
            <a:avLst/>
          </a:prstGeom>
          <a:noFill/>
        </p:spPr>
        <p:txBody>
          <a:bodyPr wrap="square" lIns="0" rIns="0" tIns="0" bIns="0" anchor="t">
            <a:spAutoFit/>
          </a:bodyPr>
          <a:lstStyle/>
          <a:p>
            <a:pPr algn="l">
              <a:lnSpc>
                <a:spcPct val="115000"/>
              </a:lnSpc>
            </a:pPr>
            <a:r>
              <a:rPr sz="2100" b="0">
                <a:solidFill>
                  <a:srgbClr val="B9C3CF"/>
                </a:solidFill>
                <a:latin typeface="맑은 고딕"/>
                <a:ea typeface="맑은 고딕"/>
                <a:cs typeface="맑은 고딕"/>
              </a:rPr>
              <a:t>옛 버전 코드를 원하는 버전에서 돌아가는 코드로, 근거와 검증까지 함께</a:t>
            </a:r>
          </a:p>
        </p:txBody>
      </p:sp>
      <p:sp>
        <p:nvSpPr>
          <p:cNvPr id="5" name="TextBox 4"/>
          <p:cNvSpPr txBox="1"/>
          <p:nvPr/>
        </p:nvSpPr>
        <p:spPr>
          <a:xfrm>
            <a:off x="685800" y="5989320"/>
            <a:ext cx="10789920" cy="365760"/>
          </a:xfrm>
          <a:prstGeom prst="rect">
            <a:avLst/>
          </a:prstGeom>
          <a:noFill/>
        </p:spPr>
        <p:txBody>
          <a:bodyPr wrap="square" lIns="0" rIns="0" tIns="0" bIns="0" anchor="t">
            <a:spAutoFit/>
          </a:bodyPr>
          <a:lstStyle/>
          <a:p>
            <a:pPr algn="l">
              <a:lnSpc>
                <a:spcPct val="115000"/>
              </a:lnSpc>
            </a:pPr>
            <a:r>
              <a:rPr sz="1400" b="0">
                <a:solidFill>
                  <a:srgbClr val="B9C3CF"/>
                </a:solidFill>
                <a:latin typeface="맑은 고딕"/>
                <a:ea typeface="맑은 고딕"/>
                <a:cs typeface="맑은 고딕"/>
              </a:rPr>
              <a:t>SKN35 3rd 4Team · 발표 [이름] · 2026-10-15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5F1"/>
        </a:solidFill>
        <a:effectLst/>
      </p:bgPr>
    </p:bg>
    <p:spTree>
      <p:nvGrpSpPr>
        <p:cNvPr id="1" name=""/>
        <p:cNvGrpSpPr/>
        <p:nvPr/>
      </p:nvGrpSpPr>
      <p:grpSpPr/>
      <p:sp>
        <p:nvSpPr>
          <p:cNvPr id="2" name="TextBox 1"/>
          <p:cNvSpPr txBox="1"/>
          <p:nvPr/>
        </p:nvSpPr>
        <p:spPr>
          <a:xfrm>
            <a:off x="685800" y="566928"/>
            <a:ext cx="10789920" cy="274320"/>
          </a:xfrm>
          <a:prstGeom prst="rect">
            <a:avLst/>
          </a:prstGeom>
          <a:noFill/>
        </p:spPr>
        <p:txBody>
          <a:bodyPr wrap="square" lIns="0" rIns="0" tIns="0" bIns="0" anchor="t">
            <a:spAutoFit/>
          </a:bodyPr>
          <a:lstStyle/>
          <a:p>
            <a:pPr algn="l">
              <a:lnSpc>
                <a:spcPct val="115000"/>
              </a:lnSpc>
            </a:pPr>
            <a:r>
              <a:rPr sz="1300" b="1">
                <a:solidFill>
                  <a:srgbClr val="1F5FAE"/>
                </a:solidFill>
                <a:latin typeface="맑은 고딕"/>
                <a:ea typeface="맑은 고딕"/>
                <a:cs typeface="맑은 고딕"/>
              </a:rPr>
              <a:t>목차</a:t>
            </a:r>
          </a:p>
        </p:txBody>
      </p:sp>
      <p:sp>
        <p:nvSpPr>
          <p:cNvPr id="3" name="TextBox 2"/>
          <p:cNvSpPr txBox="1"/>
          <p:nvPr/>
        </p:nvSpPr>
        <p:spPr>
          <a:xfrm>
            <a:off x="685800" y="868680"/>
            <a:ext cx="10789920" cy="731520"/>
          </a:xfrm>
          <a:prstGeom prst="rect">
            <a:avLst/>
          </a:prstGeom>
          <a:noFill/>
        </p:spPr>
        <p:txBody>
          <a:bodyPr wrap="square" lIns="0" rIns="0" tIns="0" bIns="0" anchor="t">
            <a:spAutoFit/>
          </a:bodyPr>
          <a:lstStyle/>
          <a:p>
            <a:pPr algn="l">
              <a:lnSpc>
                <a:spcPct val="115000"/>
              </a:lnSpc>
            </a:pPr>
            <a:r>
              <a:rPr sz="3200" b="1">
                <a:solidFill>
                  <a:srgbClr val="1B2433"/>
                </a:solidFill>
                <a:latin typeface="맑은 고딕"/>
                <a:ea typeface="맑은 고딕"/>
                <a:cs typeface="맑은 고딕"/>
              </a:rPr>
              <a:t>15분 동안 이 순서로 말씀드리겠습니다</a:t>
            </a:r>
          </a:p>
        </p:txBody>
      </p:sp>
      <p:sp>
        <p:nvSpPr>
          <p:cNvPr id="4" name="Rounded Rectangle 3"/>
          <p:cNvSpPr/>
          <p:nvPr/>
        </p:nvSpPr>
        <p:spPr>
          <a:xfrm>
            <a:off x="685800" y="1874519"/>
            <a:ext cx="10817352" cy="86868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60120" y="2039112"/>
            <a:ext cx="731520" cy="548640"/>
          </a:xfrm>
          <a:prstGeom prst="rect">
            <a:avLst/>
          </a:prstGeom>
          <a:noFill/>
        </p:spPr>
        <p:txBody>
          <a:bodyPr wrap="square" lIns="0" rIns="0" tIns="0" bIns="0" anchor="t">
            <a:spAutoFit/>
          </a:bodyPr>
          <a:lstStyle/>
          <a:p>
            <a:pPr algn="l">
              <a:lnSpc>
                <a:spcPct val="115000"/>
              </a:lnSpc>
            </a:pPr>
            <a:r>
              <a:rPr sz="2800" b="1">
                <a:solidFill>
                  <a:srgbClr val="1F5FAE"/>
                </a:solidFill>
                <a:latin typeface="맑은 고딕"/>
                <a:ea typeface="맑은 고딕"/>
                <a:cs typeface="맑은 고딕"/>
              </a:rPr>
              <a:t>1</a:t>
            </a:r>
          </a:p>
        </p:txBody>
      </p:sp>
      <p:sp>
        <p:nvSpPr>
          <p:cNvPr id="6" name="TextBox 5"/>
          <p:cNvSpPr txBox="1"/>
          <p:nvPr/>
        </p:nvSpPr>
        <p:spPr>
          <a:xfrm>
            <a:off x="1691640" y="2002536"/>
            <a:ext cx="3291840" cy="457200"/>
          </a:xfrm>
          <a:prstGeom prst="rect">
            <a:avLst/>
          </a:prstGeom>
          <a:noFill/>
        </p:spPr>
        <p:txBody>
          <a:bodyPr wrap="square" lIns="0" rIns="0" tIns="0" bIns="0" anchor="t">
            <a:spAutoFit/>
          </a:bodyPr>
          <a:lstStyle/>
          <a:p>
            <a:pPr algn="l">
              <a:lnSpc>
                <a:spcPct val="115000"/>
              </a:lnSpc>
            </a:pPr>
            <a:r>
              <a:rPr sz="2000" b="1">
                <a:solidFill>
                  <a:srgbClr val="1B2433"/>
                </a:solidFill>
                <a:latin typeface="맑은 고딕"/>
                <a:ea typeface="맑은 고딕"/>
                <a:cs typeface="맑은 고딕"/>
              </a:rPr>
              <a:t>문제와 해결</a:t>
            </a:r>
          </a:p>
        </p:txBody>
      </p:sp>
      <p:sp>
        <p:nvSpPr>
          <p:cNvPr id="7" name="TextBox 6"/>
          <p:cNvSpPr txBox="1"/>
          <p:nvPr/>
        </p:nvSpPr>
        <p:spPr>
          <a:xfrm>
            <a:off x="4754880" y="2093976"/>
            <a:ext cx="6583680" cy="457200"/>
          </a:xfrm>
          <a:prstGeom prst="rect">
            <a:avLst/>
          </a:prstGeom>
          <a:noFill/>
        </p:spPr>
        <p:txBody>
          <a:bodyPr wrap="square" lIns="0" rIns="0" tIns="0" bIns="0" anchor="t">
            <a:spAutoFit/>
          </a:bodyPr>
          <a:lstStyle/>
          <a:p>
            <a:pPr algn="l">
              <a:lnSpc>
                <a:spcPct val="115000"/>
              </a:lnSpc>
            </a:pPr>
            <a:r>
              <a:rPr sz="1500" b="0">
                <a:solidFill>
                  <a:srgbClr val="4A5363"/>
                </a:solidFill>
                <a:latin typeface="맑은 고딕"/>
                <a:ea typeface="맑은 고딕"/>
                <a:cs typeface="맑은 고딕"/>
              </a:rPr>
              <a:t>LLM은 옛 코드를 주고 틀려도 모른다 → 근거 + 검사</a:t>
            </a:r>
          </a:p>
        </p:txBody>
      </p:sp>
      <p:sp>
        <p:nvSpPr>
          <p:cNvPr id="8" name="Rounded Rectangle 7"/>
          <p:cNvSpPr/>
          <p:nvPr/>
        </p:nvSpPr>
        <p:spPr>
          <a:xfrm>
            <a:off x="685800" y="2898648"/>
            <a:ext cx="10817352" cy="86868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0120" y="3063240"/>
            <a:ext cx="731520" cy="548640"/>
          </a:xfrm>
          <a:prstGeom prst="rect">
            <a:avLst/>
          </a:prstGeom>
          <a:noFill/>
        </p:spPr>
        <p:txBody>
          <a:bodyPr wrap="square" lIns="0" rIns="0" tIns="0" bIns="0" anchor="t">
            <a:spAutoFit/>
          </a:bodyPr>
          <a:lstStyle/>
          <a:p>
            <a:pPr algn="l">
              <a:lnSpc>
                <a:spcPct val="115000"/>
              </a:lnSpc>
            </a:pPr>
            <a:r>
              <a:rPr sz="2800" b="1">
                <a:solidFill>
                  <a:srgbClr val="1F5FAE"/>
                </a:solidFill>
                <a:latin typeface="맑은 고딕"/>
                <a:ea typeface="맑은 고딕"/>
                <a:cs typeface="맑은 고딕"/>
              </a:rPr>
              <a:t>2</a:t>
            </a:r>
          </a:p>
        </p:txBody>
      </p:sp>
      <p:sp>
        <p:nvSpPr>
          <p:cNvPr id="10" name="TextBox 9"/>
          <p:cNvSpPr txBox="1"/>
          <p:nvPr/>
        </p:nvSpPr>
        <p:spPr>
          <a:xfrm>
            <a:off x="1691640" y="3026664"/>
            <a:ext cx="3291840" cy="457200"/>
          </a:xfrm>
          <a:prstGeom prst="rect">
            <a:avLst/>
          </a:prstGeom>
          <a:noFill/>
        </p:spPr>
        <p:txBody>
          <a:bodyPr wrap="square" lIns="0" rIns="0" tIns="0" bIns="0" anchor="t">
            <a:spAutoFit/>
          </a:bodyPr>
          <a:lstStyle/>
          <a:p>
            <a:pPr algn="l">
              <a:lnSpc>
                <a:spcPct val="115000"/>
              </a:lnSpc>
            </a:pPr>
            <a:r>
              <a:rPr sz="2000" b="1">
                <a:solidFill>
                  <a:srgbClr val="1B2433"/>
                </a:solidFill>
                <a:latin typeface="맑은 고딕"/>
                <a:ea typeface="맑은 고딕"/>
                <a:cs typeface="맑은 고딕"/>
              </a:rPr>
              <a:t>만든 것</a:t>
            </a:r>
          </a:p>
        </p:txBody>
      </p:sp>
      <p:sp>
        <p:nvSpPr>
          <p:cNvPr id="11" name="TextBox 10"/>
          <p:cNvSpPr txBox="1"/>
          <p:nvPr/>
        </p:nvSpPr>
        <p:spPr>
          <a:xfrm>
            <a:off x="4754880" y="3118104"/>
            <a:ext cx="6583680" cy="457200"/>
          </a:xfrm>
          <a:prstGeom prst="rect">
            <a:avLst/>
          </a:prstGeom>
          <a:noFill/>
        </p:spPr>
        <p:txBody>
          <a:bodyPr wrap="square" lIns="0" rIns="0" tIns="0" bIns="0" anchor="t">
            <a:spAutoFit/>
          </a:bodyPr>
          <a:lstStyle/>
          <a:p>
            <a:pPr algn="l">
              <a:lnSpc>
                <a:spcPct val="115000"/>
              </a:lnSpc>
            </a:pPr>
            <a:r>
              <a:rPr sz="1500" b="0">
                <a:solidFill>
                  <a:srgbClr val="4A5363"/>
                </a:solidFill>
                <a:latin typeface="맑은 고딕"/>
                <a:ea typeface="맑은 고딕"/>
                <a:cs typeface="맑은 고딕"/>
              </a:rPr>
              <a:t>데이터 · 그래프 · 검증 11가지 · 화면 · 대화 기록</a:t>
            </a:r>
          </a:p>
        </p:txBody>
      </p:sp>
      <p:sp>
        <p:nvSpPr>
          <p:cNvPr id="12" name="Rounded Rectangle 11"/>
          <p:cNvSpPr/>
          <p:nvPr/>
        </p:nvSpPr>
        <p:spPr>
          <a:xfrm>
            <a:off x="685800" y="3922776"/>
            <a:ext cx="10817352" cy="86868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60120" y="4087368"/>
            <a:ext cx="731520" cy="548640"/>
          </a:xfrm>
          <a:prstGeom prst="rect">
            <a:avLst/>
          </a:prstGeom>
          <a:noFill/>
        </p:spPr>
        <p:txBody>
          <a:bodyPr wrap="square" lIns="0" rIns="0" tIns="0" bIns="0" anchor="t">
            <a:spAutoFit/>
          </a:bodyPr>
          <a:lstStyle/>
          <a:p>
            <a:pPr algn="l">
              <a:lnSpc>
                <a:spcPct val="115000"/>
              </a:lnSpc>
            </a:pPr>
            <a:r>
              <a:rPr sz="2800" b="1">
                <a:solidFill>
                  <a:srgbClr val="1F5FAE"/>
                </a:solidFill>
                <a:latin typeface="맑은 고딕"/>
                <a:ea typeface="맑은 고딕"/>
                <a:cs typeface="맑은 고딕"/>
              </a:rPr>
              <a:t>3</a:t>
            </a:r>
          </a:p>
        </p:txBody>
      </p:sp>
      <p:sp>
        <p:nvSpPr>
          <p:cNvPr id="14" name="TextBox 13"/>
          <p:cNvSpPr txBox="1"/>
          <p:nvPr/>
        </p:nvSpPr>
        <p:spPr>
          <a:xfrm>
            <a:off x="1691640" y="4050791"/>
            <a:ext cx="3291840" cy="457200"/>
          </a:xfrm>
          <a:prstGeom prst="rect">
            <a:avLst/>
          </a:prstGeom>
          <a:noFill/>
        </p:spPr>
        <p:txBody>
          <a:bodyPr wrap="square" lIns="0" rIns="0" tIns="0" bIns="0" anchor="t">
            <a:spAutoFit/>
          </a:bodyPr>
          <a:lstStyle/>
          <a:p>
            <a:pPr algn="l">
              <a:lnSpc>
                <a:spcPct val="115000"/>
              </a:lnSpc>
            </a:pPr>
            <a:r>
              <a:rPr sz="2000" b="1">
                <a:solidFill>
                  <a:srgbClr val="1B2433"/>
                </a:solidFill>
                <a:latin typeface="맑은 고딕"/>
                <a:ea typeface="맑은 고딕"/>
                <a:cs typeface="맑은 고딕"/>
              </a:rPr>
              <a:t>평가와 결과</a:t>
            </a:r>
          </a:p>
        </p:txBody>
      </p:sp>
      <p:sp>
        <p:nvSpPr>
          <p:cNvPr id="15" name="TextBox 14"/>
          <p:cNvSpPr txBox="1"/>
          <p:nvPr/>
        </p:nvSpPr>
        <p:spPr>
          <a:xfrm>
            <a:off x="4754880" y="4142232"/>
            <a:ext cx="6583680" cy="457200"/>
          </a:xfrm>
          <a:prstGeom prst="rect">
            <a:avLst/>
          </a:prstGeom>
          <a:noFill/>
        </p:spPr>
        <p:txBody>
          <a:bodyPr wrap="square" lIns="0" rIns="0" tIns="0" bIns="0" anchor="t">
            <a:spAutoFit/>
          </a:bodyPr>
          <a:lstStyle/>
          <a:p>
            <a:pPr algn="l">
              <a:lnSpc>
                <a:spcPct val="115000"/>
              </a:lnSpc>
            </a:pPr>
            <a:r>
              <a:rPr sz="1500" b="0">
                <a:solidFill>
                  <a:srgbClr val="4A5363"/>
                </a:solidFill>
                <a:latin typeface="맑은 고딕"/>
                <a:ea typeface="맑은 고딕"/>
                <a:cs typeface="맑은 고딕"/>
              </a:rPr>
              <a:t>질문 30개 비교 설계 · 실제 실행 사례 · 결과</a:t>
            </a:r>
          </a:p>
        </p:txBody>
      </p:sp>
      <p:sp>
        <p:nvSpPr>
          <p:cNvPr id="16" name="Rounded Rectangle 15"/>
          <p:cNvSpPr/>
          <p:nvPr/>
        </p:nvSpPr>
        <p:spPr>
          <a:xfrm>
            <a:off x="685800" y="4946904"/>
            <a:ext cx="10817352" cy="86868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60120" y="5111496"/>
            <a:ext cx="731520" cy="548640"/>
          </a:xfrm>
          <a:prstGeom prst="rect">
            <a:avLst/>
          </a:prstGeom>
          <a:noFill/>
        </p:spPr>
        <p:txBody>
          <a:bodyPr wrap="square" lIns="0" rIns="0" tIns="0" bIns="0" anchor="t">
            <a:spAutoFit/>
          </a:bodyPr>
          <a:lstStyle/>
          <a:p>
            <a:pPr algn="l">
              <a:lnSpc>
                <a:spcPct val="115000"/>
              </a:lnSpc>
            </a:pPr>
            <a:r>
              <a:rPr sz="2800" b="1">
                <a:solidFill>
                  <a:srgbClr val="1F5FAE"/>
                </a:solidFill>
                <a:latin typeface="맑은 고딕"/>
                <a:ea typeface="맑은 고딕"/>
                <a:cs typeface="맑은 고딕"/>
              </a:rPr>
              <a:t>4</a:t>
            </a:r>
          </a:p>
        </p:txBody>
      </p:sp>
      <p:sp>
        <p:nvSpPr>
          <p:cNvPr id="18" name="TextBox 17"/>
          <p:cNvSpPr txBox="1"/>
          <p:nvPr/>
        </p:nvSpPr>
        <p:spPr>
          <a:xfrm>
            <a:off x="1691640" y="5074920"/>
            <a:ext cx="3291840" cy="457200"/>
          </a:xfrm>
          <a:prstGeom prst="rect">
            <a:avLst/>
          </a:prstGeom>
          <a:noFill/>
        </p:spPr>
        <p:txBody>
          <a:bodyPr wrap="square" lIns="0" rIns="0" tIns="0" bIns="0" anchor="t">
            <a:spAutoFit/>
          </a:bodyPr>
          <a:lstStyle/>
          <a:p>
            <a:pPr algn="l">
              <a:lnSpc>
                <a:spcPct val="115000"/>
              </a:lnSpc>
            </a:pPr>
            <a:r>
              <a:rPr sz="2000" b="1">
                <a:solidFill>
                  <a:srgbClr val="1B2433"/>
                </a:solidFill>
                <a:latin typeface="맑은 고딕"/>
                <a:ea typeface="맑은 고딕"/>
                <a:cs typeface="맑은 고딕"/>
              </a:rPr>
              <a:t>배운 것</a:t>
            </a:r>
          </a:p>
        </p:txBody>
      </p:sp>
      <p:sp>
        <p:nvSpPr>
          <p:cNvPr id="19" name="TextBox 18"/>
          <p:cNvSpPr txBox="1"/>
          <p:nvPr/>
        </p:nvSpPr>
        <p:spPr>
          <a:xfrm>
            <a:off x="4754880" y="5166360"/>
            <a:ext cx="6583680" cy="457200"/>
          </a:xfrm>
          <a:prstGeom prst="rect">
            <a:avLst/>
          </a:prstGeom>
          <a:noFill/>
        </p:spPr>
        <p:txBody>
          <a:bodyPr wrap="square" lIns="0" rIns="0" tIns="0" bIns="0" anchor="t">
            <a:spAutoFit/>
          </a:bodyPr>
          <a:lstStyle/>
          <a:p>
            <a:pPr algn="l">
              <a:lnSpc>
                <a:spcPct val="115000"/>
              </a:lnSpc>
            </a:pPr>
            <a:r>
              <a:rPr sz="1500" b="0">
                <a:solidFill>
                  <a:srgbClr val="4A5363"/>
                </a:solidFill>
                <a:latin typeface="맑은 고딕"/>
                <a:ea typeface="맑은 고딕"/>
                <a:cs typeface="맑은 고딕"/>
              </a:rPr>
              <a:t>발견 · 한계 · 가치</a:t>
            </a:r>
          </a:p>
        </p:txBody>
      </p:sp>
      <p:sp>
        <p:nvSpPr>
          <p:cNvPr id="20" name="TextBox 19"/>
          <p:cNvSpPr txBox="1"/>
          <p:nvPr/>
        </p:nvSpPr>
        <p:spPr>
          <a:xfrm>
            <a:off x="685800" y="6327648"/>
            <a:ext cx="10789920" cy="274320"/>
          </a:xfrm>
          <a:prstGeom prst="rect">
            <a:avLst/>
          </a:prstGeom>
          <a:noFill/>
        </p:spPr>
        <p:txBody>
          <a:bodyPr wrap="square" lIns="0" rIns="0" tIns="0" bIns="0" anchor="t">
            <a:spAutoFit/>
          </a:bodyPr>
          <a:lstStyle/>
          <a:p>
            <a:pPr algn="l">
              <a:lnSpc>
                <a:spcPct val="115000"/>
              </a:lnSpc>
            </a:pPr>
            <a:r>
              <a:rPr sz="1100" b="0">
                <a:solidFill>
                  <a:srgbClr val="8A8F98"/>
                </a:solidFill>
                <a:latin typeface="맑은 고딕"/>
                <a:ea typeface="맑은 고딕"/>
                <a:cs typeface="맑은 고딕"/>
              </a:rPr>
              <a:t>LangChain 마이그레이션 도우미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5F1"/>
        </a:solidFill>
        <a:effectLst/>
      </p:bgPr>
    </p:bg>
    <p:spTree>
      <p:nvGrpSpPr>
        <p:cNvPr id="1" name=""/>
        <p:cNvGrpSpPr/>
        <p:nvPr/>
      </p:nvGrpSpPr>
      <p:grpSpPr/>
      <p:sp>
        <p:nvSpPr>
          <p:cNvPr id="2" name="TextBox 1"/>
          <p:cNvSpPr txBox="1"/>
          <p:nvPr/>
        </p:nvSpPr>
        <p:spPr>
          <a:xfrm>
            <a:off x="685800" y="566928"/>
            <a:ext cx="10789920" cy="274320"/>
          </a:xfrm>
          <a:prstGeom prst="rect">
            <a:avLst/>
          </a:prstGeom>
          <a:noFill/>
        </p:spPr>
        <p:txBody>
          <a:bodyPr wrap="square" lIns="0" rIns="0" tIns="0" bIns="0" anchor="t">
            <a:spAutoFit/>
          </a:bodyPr>
          <a:lstStyle/>
          <a:p>
            <a:pPr algn="l">
              <a:lnSpc>
                <a:spcPct val="115000"/>
              </a:lnSpc>
            </a:pPr>
            <a:r>
              <a:rPr sz="1300" b="1">
                <a:solidFill>
                  <a:srgbClr val="1F5FAE"/>
                </a:solidFill>
                <a:latin typeface="맑은 고딕"/>
                <a:ea typeface="맑은 고딕"/>
                <a:cs typeface="맑은 고딕"/>
              </a:rPr>
              <a:t>문제</a:t>
            </a:r>
          </a:p>
        </p:txBody>
      </p:sp>
      <p:sp>
        <p:nvSpPr>
          <p:cNvPr id="3" name="TextBox 2"/>
          <p:cNvSpPr txBox="1"/>
          <p:nvPr/>
        </p:nvSpPr>
        <p:spPr>
          <a:xfrm>
            <a:off x="685800" y="868680"/>
            <a:ext cx="10789920" cy="731520"/>
          </a:xfrm>
          <a:prstGeom prst="rect">
            <a:avLst/>
          </a:prstGeom>
          <a:noFill/>
        </p:spPr>
        <p:txBody>
          <a:bodyPr wrap="square" lIns="0" rIns="0" tIns="0" bIns="0" anchor="t">
            <a:spAutoFit/>
          </a:bodyPr>
          <a:lstStyle/>
          <a:p>
            <a:pPr algn="l">
              <a:lnSpc>
                <a:spcPct val="115000"/>
              </a:lnSpc>
            </a:pPr>
            <a:r>
              <a:rPr sz="3200" b="1">
                <a:solidFill>
                  <a:srgbClr val="1B2433"/>
                </a:solidFill>
                <a:latin typeface="맑은 고딕"/>
                <a:ea typeface="맑은 고딕"/>
                <a:cs typeface="맑은 고딕"/>
              </a:rPr>
              <a:t>ChatGPT가 준 LangChain 코드, 실행하면 깨집니다</a:t>
            </a:r>
          </a:p>
        </p:txBody>
      </p:sp>
      <p:sp>
        <p:nvSpPr>
          <p:cNvPr id="4" name="Rounded Rectangle 3"/>
          <p:cNvSpPr/>
          <p:nvPr/>
        </p:nvSpPr>
        <p:spPr>
          <a:xfrm>
            <a:off x="685800" y="1828800"/>
            <a:ext cx="6035040" cy="2834640"/>
          </a:xfrm>
          <a:prstGeom prst="roundRect">
            <a:avLst>
              <a:gd name="adj" fmla="val 6000"/>
            </a:avLst>
          </a:prstGeom>
          <a:solidFill>
            <a:srgbClr val="14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60120" y="2057400"/>
            <a:ext cx="5486400" cy="274320"/>
          </a:xfrm>
          <a:prstGeom prst="rect">
            <a:avLst/>
          </a:prstGeom>
          <a:noFill/>
        </p:spPr>
        <p:txBody>
          <a:bodyPr wrap="square" lIns="0" rIns="0" tIns="0" bIns="0" anchor="t">
            <a:spAutoFit/>
          </a:bodyPr>
          <a:lstStyle/>
          <a:p>
            <a:pPr algn="l">
              <a:lnSpc>
                <a:spcPct val="115000"/>
              </a:lnSpc>
            </a:pPr>
            <a:r>
              <a:rPr sz="1300" b="0">
                <a:solidFill>
                  <a:srgbClr val="8FA0B3"/>
                </a:solidFill>
                <a:latin typeface="Consolas"/>
                <a:ea typeface="Consolas"/>
                <a:cs typeface="Consolas"/>
              </a:rPr>
              <a:t># LLM이 흔히 주는 코드</a:t>
            </a:r>
          </a:p>
        </p:txBody>
      </p:sp>
      <p:sp>
        <p:nvSpPr>
          <p:cNvPr id="6" name="TextBox 5"/>
          <p:cNvSpPr txBox="1"/>
          <p:nvPr/>
        </p:nvSpPr>
        <p:spPr>
          <a:xfrm>
            <a:off x="960120" y="2423160"/>
            <a:ext cx="5486400" cy="731520"/>
          </a:xfrm>
          <a:prstGeom prst="rect">
            <a:avLst/>
          </a:prstGeom>
          <a:noFill/>
        </p:spPr>
        <p:txBody>
          <a:bodyPr wrap="square" lIns="0" rIns="0" tIns="0" bIns="0" anchor="t">
            <a:spAutoFit/>
          </a:bodyPr>
          <a:lstStyle/>
          <a:p>
            <a:pPr algn="l">
              <a:lnSpc>
                <a:spcPct val="140000"/>
              </a:lnSpc>
            </a:pPr>
            <a:r>
              <a:rPr sz="1500" b="0">
                <a:solidFill>
                  <a:srgbClr val="E8ECF1"/>
                </a:solidFill>
                <a:latin typeface="Consolas"/>
                <a:ea typeface="Consolas"/>
                <a:cs typeface="Consolas"/>
              </a:rPr>
              <a:t>from langchain.chat_models import ChatOpenAI</a:t>
            </a:r>
          </a:p>
          <a:p>
            <a:pPr algn="l">
              <a:lnSpc>
                <a:spcPct val="140000"/>
              </a:lnSpc>
            </a:pPr>
            <a:r>
              <a:rPr sz="1500" b="0">
                <a:solidFill>
                  <a:srgbClr val="E8ECF1"/>
                </a:solidFill>
                <a:latin typeface="Consolas"/>
                <a:ea typeface="Consolas"/>
                <a:cs typeface="Consolas"/>
              </a:rPr>
              <a:t>from langchain.chains import LLMChain</a:t>
            </a:r>
          </a:p>
        </p:txBody>
      </p:sp>
      <p:cxnSp>
        <p:nvCxnSpPr>
          <p:cNvPr id="7" name="Connector 6"/>
          <p:cNvCxnSpPr/>
          <p:nvPr/>
        </p:nvCxnSpPr>
        <p:spPr>
          <a:xfrm>
            <a:off x="960120" y="3246120"/>
            <a:ext cx="5486400" cy="0"/>
          </a:xfrm>
          <a:prstGeom prst="line">
            <a:avLst/>
          </a:prstGeom>
          <a:ln w="9525">
            <a:solidFill>
              <a:srgbClr val="34445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60120" y="3429000"/>
            <a:ext cx="5486400" cy="274320"/>
          </a:xfrm>
          <a:prstGeom prst="rect">
            <a:avLst/>
          </a:prstGeom>
          <a:noFill/>
        </p:spPr>
        <p:txBody>
          <a:bodyPr wrap="square" lIns="0" rIns="0" tIns="0" bIns="0" anchor="t">
            <a:spAutoFit/>
          </a:bodyPr>
          <a:lstStyle/>
          <a:p>
            <a:pPr algn="l">
              <a:lnSpc>
                <a:spcPct val="115000"/>
              </a:lnSpc>
            </a:pPr>
            <a:r>
              <a:rPr sz="1300" b="0">
                <a:solidFill>
                  <a:srgbClr val="8FA0B3"/>
                </a:solidFill>
                <a:latin typeface="Consolas"/>
                <a:ea typeface="Consolas"/>
                <a:cs typeface="Consolas"/>
              </a:rPr>
              <a:t># LangChain 1.4.4에서 실행 결과</a:t>
            </a:r>
          </a:p>
        </p:txBody>
      </p:sp>
      <p:sp>
        <p:nvSpPr>
          <p:cNvPr id="9" name="TextBox 8"/>
          <p:cNvSpPr txBox="1"/>
          <p:nvPr/>
        </p:nvSpPr>
        <p:spPr>
          <a:xfrm>
            <a:off x="960120" y="3794760"/>
            <a:ext cx="5486400" cy="731520"/>
          </a:xfrm>
          <a:prstGeom prst="rect">
            <a:avLst/>
          </a:prstGeom>
          <a:noFill/>
        </p:spPr>
        <p:txBody>
          <a:bodyPr wrap="square" lIns="0" rIns="0" tIns="0" bIns="0" anchor="t">
            <a:spAutoFit/>
          </a:bodyPr>
          <a:lstStyle/>
          <a:p>
            <a:pPr algn="l">
              <a:lnSpc>
                <a:spcPct val="140000"/>
              </a:lnSpc>
            </a:pPr>
            <a:r>
              <a:rPr sz="1300" b="0">
                <a:solidFill>
                  <a:srgbClr val="F2A27E"/>
                </a:solidFill>
                <a:latin typeface="Consolas"/>
                <a:ea typeface="Consolas"/>
                <a:cs typeface="Consolas"/>
              </a:rPr>
              <a:t>ImportError: cannot import name 'ChatOpenAI'</a:t>
            </a:r>
          </a:p>
          <a:p>
            <a:pPr algn="l">
              <a:lnSpc>
                <a:spcPct val="140000"/>
              </a:lnSpc>
            </a:pPr>
            <a:r>
              <a:rPr sz="1300" b="0">
                <a:solidFill>
                  <a:srgbClr val="F2A27E"/>
                </a:solidFill>
                <a:latin typeface="Consolas"/>
                <a:ea typeface="Consolas"/>
                <a:cs typeface="Consolas"/>
              </a:rPr>
              <a:t>ModuleNotFoundError: No module named 'langchain.chains'</a:t>
            </a:r>
          </a:p>
        </p:txBody>
      </p:sp>
      <p:sp>
        <p:nvSpPr>
          <p:cNvPr id="10" name="TextBox 9"/>
          <p:cNvSpPr txBox="1"/>
          <p:nvPr/>
        </p:nvSpPr>
        <p:spPr>
          <a:xfrm>
            <a:off x="7178040" y="1828800"/>
            <a:ext cx="4389120" cy="457200"/>
          </a:xfrm>
          <a:prstGeom prst="rect">
            <a:avLst/>
          </a:prstGeom>
          <a:noFill/>
        </p:spPr>
        <p:txBody>
          <a:bodyPr wrap="square" lIns="0" rIns="0" tIns="0" bIns="0" anchor="t">
            <a:spAutoFit/>
          </a:bodyPr>
          <a:lstStyle/>
          <a:p>
            <a:pPr algn="l">
              <a:lnSpc>
                <a:spcPct val="115000"/>
              </a:lnSpc>
            </a:pPr>
            <a:r>
              <a:rPr sz="2200" b="1">
                <a:solidFill>
                  <a:srgbClr val="1B2433"/>
                </a:solidFill>
                <a:latin typeface="맑은 고딕"/>
                <a:ea typeface="맑은 고딕"/>
                <a:cs typeface="맑은 고딕"/>
              </a:rPr>
              <a:t>첫 줄부터 에러</a:t>
            </a:r>
          </a:p>
        </p:txBody>
      </p:sp>
      <p:sp>
        <p:nvSpPr>
          <p:cNvPr id="11" name="TextBox 10"/>
          <p:cNvSpPr txBox="1"/>
          <p:nvPr/>
        </p:nvSpPr>
        <p:spPr>
          <a:xfrm>
            <a:off x="7178040" y="2286000"/>
            <a:ext cx="4389120" cy="914400"/>
          </a:xfrm>
          <a:prstGeom prst="rect">
            <a:avLst/>
          </a:prstGeom>
          <a:noFill/>
        </p:spPr>
        <p:txBody>
          <a:bodyPr wrap="square" lIns="0" rIns="0" tIns="0" bIns="0" anchor="t">
            <a:spAutoFit/>
          </a:bodyPr>
          <a:lstStyle/>
          <a:p>
            <a:pPr algn="l">
              <a:lnSpc>
                <a:spcPct val="135000"/>
              </a:lnSpc>
            </a:pPr>
            <a:r>
              <a:rPr sz="1700" b="0">
                <a:solidFill>
                  <a:srgbClr val="4A5363"/>
                </a:solidFill>
                <a:latin typeface="맑은 고딕"/>
                <a:ea typeface="맑은 고딕"/>
                <a:cs typeface="맑은 고딕"/>
              </a:rPr>
              <a:t>LangChain 1.0에서 패키지가 나뉘고, 옛 체인과 에이전트가 빠졌습니다.</a:t>
            </a:r>
          </a:p>
        </p:txBody>
      </p:sp>
      <p:sp>
        <p:nvSpPr>
          <p:cNvPr id="12" name="TextBox 11"/>
          <p:cNvSpPr txBox="1"/>
          <p:nvPr/>
        </p:nvSpPr>
        <p:spPr>
          <a:xfrm>
            <a:off x="7178040" y="3383280"/>
            <a:ext cx="4389120" cy="457200"/>
          </a:xfrm>
          <a:prstGeom prst="rect">
            <a:avLst/>
          </a:prstGeom>
          <a:noFill/>
        </p:spPr>
        <p:txBody>
          <a:bodyPr wrap="square" lIns="0" rIns="0" tIns="0" bIns="0" anchor="t">
            <a:spAutoFit/>
          </a:bodyPr>
          <a:lstStyle/>
          <a:p>
            <a:pPr algn="l">
              <a:lnSpc>
                <a:spcPct val="115000"/>
              </a:lnSpc>
            </a:pPr>
            <a:r>
              <a:rPr sz="2200" b="1">
                <a:solidFill>
                  <a:srgbClr val="1B2433"/>
                </a:solidFill>
                <a:latin typeface="맑은 고딕"/>
                <a:ea typeface="맑은 고딕"/>
                <a:cs typeface="맑은 고딕"/>
              </a:rPr>
              <a:t>더 큰 문제</a:t>
            </a:r>
          </a:p>
        </p:txBody>
      </p:sp>
      <p:sp>
        <p:nvSpPr>
          <p:cNvPr id="13" name="TextBox 12"/>
          <p:cNvSpPr txBox="1"/>
          <p:nvPr/>
        </p:nvSpPr>
        <p:spPr>
          <a:xfrm>
            <a:off x="7178040" y="3840480"/>
            <a:ext cx="4389120" cy="731520"/>
          </a:xfrm>
          <a:prstGeom prst="rect">
            <a:avLst/>
          </a:prstGeom>
          <a:noFill/>
        </p:spPr>
        <p:txBody>
          <a:bodyPr wrap="square" lIns="0" rIns="0" tIns="0" bIns="0" anchor="t">
            <a:spAutoFit/>
          </a:bodyPr>
          <a:lstStyle/>
          <a:p>
            <a:pPr algn="l">
              <a:lnSpc>
                <a:spcPct val="135000"/>
              </a:lnSpc>
            </a:pPr>
            <a:r>
              <a:rPr sz="1700" b="0">
                <a:solidFill>
                  <a:srgbClr val="4A5363"/>
                </a:solidFill>
                <a:latin typeface="맑은 고딕"/>
                <a:ea typeface="맑은 고딕"/>
                <a:cs typeface="맑은 고딕"/>
              </a:rPr>
              <a:t>LLM은 자기 답이 틀렸다는 것을 </a:t>
            </a:r>
            <a:r>
              <a:rPr sz="1700" b="1">
                <a:solidFill>
                  <a:srgbClr val="1B2433"/>
                </a:solidFill>
                <a:latin typeface="맑은 고딕"/>
                <a:ea typeface="맑은 고딕"/>
                <a:cs typeface="맑은 고딕"/>
              </a:rPr>
              <a:t>모릅니다.</a:t>
            </a:r>
          </a:p>
        </p:txBody>
      </p:sp>
      <p:sp>
        <p:nvSpPr>
          <p:cNvPr id="14" name="TextBox 13"/>
          <p:cNvSpPr txBox="1"/>
          <p:nvPr/>
        </p:nvSpPr>
        <p:spPr>
          <a:xfrm>
            <a:off x="685800" y="6327648"/>
            <a:ext cx="10789920" cy="274320"/>
          </a:xfrm>
          <a:prstGeom prst="rect">
            <a:avLst/>
          </a:prstGeom>
          <a:noFill/>
        </p:spPr>
        <p:txBody>
          <a:bodyPr wrap="square" lIns="0" rIns="0" tIns="0" bIns="0" anchor="t">
            <a:spAutoFit/>
          </a:bodyPr>
          <a:lstStyle/>
          <a:p>
            <a:pPr algn="l">
              <a:lnSpc>
                <a:spcPct val="115000"/>
              </a:lnSpc>
            </a:pPr>
            <a:r>
              <a:rPr sz="1100" b="0">
                <a:solidFill>
                  <a:srgbClr val="8A8F98"/>
                </a:solidFill>
                <a:latin typeface="맑은 고딕"/>
                <a:ea typeface="맑은 고딕"/>
                <a:cs typeface="맑은 고딕"/>
              </a:rPr>
              <a:t>LangChain 마이그레이션 도우미 · 3</a:t>
            </a:r>
          </a:p>
        </p:txBody>
      </p:sp>
      <p:sp>
        <p:nvSpPr>
          <p:cNvPr id="15" name="Rectangle 14"/>
          <p:cNvSpPr/>
          <p:nvPr/>
        </p:nvSpPr>
        <p:spPr>
          <a:xfrm>
            <a:off x="0" y="6803136"/>
            <a:ext cx="12191695" cy="54864"/>
          </a:xfrm>
          <a:prstGeom prst="rect">
            <a:avLst/>
          </a:prstGeom>
          <a:solidFill>
            <a:srgbClr val="E1E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6803136"/>
            <a:ext cx="2031949" cy="54864"/>
          </a:xfrm>
          <a:prstGeom prst="rect">
            <a:avLst/>
          </a:prstGeom>
          <a:solidFill>
            <a:srgbClr val="1F5F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5040" y="566928"/>
            <a:ext cx="5486400" cy="274320"/>
          </a:xfrm>
          <a:prstGeom prst="rect">
            <a:avLst/>
          </a:prstGeom>
          <a:noFill/>
        </p:spPr>
        <p:txBody>
          <a:bodyPr wrap="square" lIns="0" rIns="0" tIns="0" bIns="0" anchor="t">
            <a:spAutoFit/>
          </a:bodyPr>
          <a:lstStyle/>
          <a:p>
            <a:pPr algn="r">
              <a:lnSpc>
                <a:spcPct val="115000"/>
              </a:lnSpc>
            </a:pPr>
            <a:r>
              <a:rPr sz="1000" b="0">
                <a:solidFill>
                  <a:srgbClr val="8A8F98"/>
                </a:solidFill>
                <a:latin typeface="맑은 고딕"/>
                <a:ea typeface="맑은 고딕"/>
                <a:cs typeface="맑은 고딕"/>
              </a:rPr>
              <a:t>● 문제와 해결   만든 것   평가와 결과   배운 것</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5F1"/>
        </a:solidFill>
        <a:effectLst/>
      </p:bgPr>
    </p:bg>
    <p:spTree>
      <p:nvGrpSpPr>
        <p:cNvPr id="1" name=""/>
        <p:cNvGrpSpPr/>
        <p:nvPr/>
      </p:nvGrpSpPr>
      <p:grpSpPr/>
      <p:sp>
        <p:nvSpPr>
          <p:cNvPr id="2" name="TextBox 1"/>
          <p:cNvSpPr txBox="1"/>
          <p:nvPr/>
        </p:nvSpPr>
        <p:spPr>
          <a:xfrm>
            <a:off x="685800" y="566928"/>
            <a:ext cx="10789920" cy="274320"/>
          </a:xfrm>
          <a:prstGeom prst="rect">
            <a:avLst/>
          </a:prstGeom>
          <a:noFill/>
        </p:spPr>
        <p:txBody>
          <a:bodyPr wrap="square" lIns="0" rIns="0" tIns="0" bIns="0" anchor="t">
            <a:spAutoFit/>
          </a:bodyPr>
          <a:lstStyle/>
          <a:p>
            <a:pPr algn="l">
              <a:lnSpc>
                <a:spcPct val="115000"/>
              </a:lnSpc>
            </a:pPr>
            <a:r>
              <a:rPr sz="1300" b="1">
                <a:solidFill>
                  <a:srgbClr val="1F5FAE"/>
                </a:solidFill>
                <a:latin typeface="맑은 고딕"/>
                <a:ea typeface="맑은 고딕"/>
                <a:cs typeface="맑은 고딕"/>
              </a:rPr>
              <a:t>원인: 버전 지체 환각</a:t>
            </a:r>
          </a:p>
        </p:txBody>
      </p:sp>
      <p:sp>
        <p:nvSpPr>
          <p:cNvPr id="3" name="TextBox 2"/>
          <p:cNvSpPr txBox="1"/>
          <p:nvPr/>
        </p:nvSpPr>
        <p:spPr>
          <a:xfrm>
            <a:off x="685800" y="868680"/>
            <a:ext cx="10789920" cy="731520"/>
          </a:xfrm>
          <a:prstGeom prst="rect">
            <a:avLst/>
          </a:prstGeom>
          <a:noFill/>
        </p:spPr>
        <p:txBody>
          <a:bodyPr wrap="square" lIns="0" rIns="0" tIns="0" bIns="0" anchor="t">
            <a:spAutoFit/>
          </a:bodyPr>
          <a:lstStyle/>
          <a:p>
            <a:pPr algn="l">
              <a:lnSpc>
                <a:spcPct val="115000"/>
              </a:lnSpc>
            </a:pPr>
            <a:r>
              <a:rPr sz="3200" b="1">
                <a:solidFill>
                  <a:srgbClr val="1B2433"/>
                </a:solidFill>
                <a:latin typeface="맑은 고딕"/>
                <a:ea typeface="맑은 고딕"/>
                <a:cs typeface="맑은 고딕"/>
              </a:rPr>
              <a:t>인터넷에는 옛 버전 코드가 더 많습니다</a:t>
            </a:r>
          </a:p>
        </p:txBody>
      </p:sp>
      <p:sp>
        <p:nvSpPr>
          <p:cNvPr id="4" name="TextBox 3"/>
          <p:cNvSpPr txBox="1"/>
          <p:nvPr/>
        </p:nvSpPr>
        <p:spPr>
          <a:xfrm>
            <a:off x="685800" y="1572768"/>
            <a:ext cx="10789920" cy="457200"/>
          </a:xfrm>
          <a:prstGeom prst="rect">
            <a:avLst/>
          </a:prstGeom>
          <a:noFill/>
        </p:spPr>
        <p:txBody>
          <a:bodyPr wrap="square" lIns="0" rIns="0" tIns="0" bIns="0" anchor="t">
            <a:spAutoFit/>
          </a:bodyPr>
          <a:lstStyle/>
          <a:p>
            <a:pPr algn="l">
              <a:lnSpc>
                <a:spcPct val="115000"/>
              </a:lnSpc>
            </a:pPr>
            <a:r>
              <a:rPr sz="1600" b="0">
                <a:solidFill>
                  <a:srgbClr val="4A5363"/>
                </a:solidFill>
                <a:latin typeface="맑은 고딕"/>
                <a:ea typeface="맑은 고딕"/>
                <a:cs typeface="맑은 고딕"/>
              </a:rPr>
              <a:t>LLM은 데이터가 많은 쪽을 따라갑니다. 라이브러리는 빨리 바뀌어도, 학습 데이터 속 코드는 대부분 과거 버전입니다.</a:t>
            </a:r>
          </a:p>
        </p:txBody>
      </p:sp>
      <p:sp>
        <p:nvSpPr>
          <p:cNvPr id="5" name="Rounded Rectangle 4"/>
          <p:cNvSpPr/>
          <p:nvPr/>
        </p:nvSpPr>
        <p:spPr>
          <a:xfrm>
            <a:off x="685800" y="2331720"/>
            <a:ext cx="3429000" cy="219456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60120" y="2560320"/>
            <a:ext cx="2880360" cy="731520"/>
          </a:xfrm>
          <a:prstGeom prst="rect">
            <a:avLst/>
          </a:prstGeom>
          <a:noFill/>
        </p:spPr>
        <p:txBody>
          <a:bodyPr wrap="square" lIns="0" rIns="0" tIns="0" bIns="0" anchor="t">
            <a:spAutoFit/>
          </a:bodyPr>
          <a:lstStyle/>
          <a:p>
            <a:pPr algn="l">
              <a:lnSpc>
                <a:spcPct val="115000"/>
              </a:lnSpc>
            </a:pPr>
            <a:r>
              <a:rPr sz="4000" b="1">
                <a:solidFill>
                  <a:srgbClr val="1F5FAE"/>
                </a:solidFill>
                <a:latin typeface="맑은 고딕"/>
                <a:ea typeface="맑은 고딕"/>
                <a:cs typeface="맑은 고딕"/>
              </a:rPr>
              <a:t>42.55%</a:t>
            </a:r>
          </a:p>
        </p:txBody>
      </p:sp>
      <p:sp>
        <p:nvSpPr>
          <p:cNvPr id="7" name="TextBox 6"/>
          <p:cNvSpPr txBox="1"/>
          <p:nvPr/>
        </p:nvSpPr>
        <p:spPr>
          <a:xfrm>
            <a:off x="960120" y="3337560"/>
            <a:ext cx="2880360" cy="822960"/>
          </a:xfrm>
          <a:prstGeom prst="rect">
            <a:avLst/>
          </a:prstGeom>
          <a:noFill/>
        </p:spPr>
        <p:txBody>
          <a:bodyPr wrap="square" lIns="0" rIns="0" tIns="0" bIns="0" anchor="t">
            <a:spAutoFit/>
          </a:bodyPr>
          <a:lstStyle/>
          <a:p>
            <a:pPr algn="l">
              <a:lnSpc>
                <a:spcPct val="130000"/>
              </a:lnSpc>
            </a:pPr>
            <a:r>
              <a:rPr sz="1500" b="0">
                <a:solidFill>
                  <a:srgbClr val="1B2433"/>
                </a:solidFill>
                <a:latin typeface="맑은 고딕"/>
                <a:ea typeface="맑은 고딕"/>
                <a:cs typeface="맑은 고딕"/>
              </a:rPr>
              <a:t>문서가 부족할 때, LLM 코드 중 목표 버전에서 실행되는 비율</a:t>
            </a:r>
          </a:p>
        </p:txBody>
      </p:sp>
      <p:sp>
        <p:nvSpPr>
          <p:cNvPr id="8" name="TextBox 7"/>
          <p:cNvSpPr txBox="1"/>
          <p:nvPr/>
        </p:nvSpPr>
        <p:spPr>
          <a:xfrm>
            <a:off x="960120" y="4069079"/>
            <a:ext cx="2880360" cy="274320"/>
          </a:xfrm>
          <a:prstGeom prst="rect">
            <a:avLst/>
          </a:prstGeom>
          <a:noFill/>
        </p:spPr>
        <p:txBody>
          <a:bodyPr wrap="square" lIns="0" rIns="0" tIns="0" bIns="0" anchor="t">
            <a:spAutoFit/>
          </a:bodyPr>
          <a:lstStyle/>
          <a:p>
            <a:pPr algn="l">
              <a:lnSpc>
                <a:spcPct val="115000"/>
              </a:lnSpc>
            </a:pPr>
            <a:r>
              <a:rPr sz="1100" b="0">
                <a:solidFill>
                  <a:srgbClr val="8A8F98"/>
                </a:solidFill>
                <a:latin typeface="맑은 고딕"/>
                <a:ea typeface="맑은 고딕"/>
                <a:cs typeface="맑은 고딕"/>
              </a:rPr>
              <a:t>When LLMs Lag Behind, 2026</a:t>
            </a:r>
          </a:p>
        </p:txBody>
      </p:sp>
      <p:sp>
        <p:nvSpPr>
          <p:cNvPr id="9" name="Rounded Rectangle 8"/>
          <p:cNvSpPr/>
          <p:nvPr/>
        </p:nvSpPr>
        <p:spPr>
          <a:xfrm>
            <a:off x="4343400" y="2331720"/>
            <a:ext cx="3429000" cy="219456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617720" y="2560320"/>
            <a:ext cx="2880360" cy="731520"/>
          </a:xfrm>
          <a:prstGeom prst="rect">
            <a:avLst/>
          </a:prstGeom>
          <a:noFill/>
        </p:spPr>
        <p:txBody>
          <a:bodyPr wrap="square" lIns="0" rIns="0" tIns="0" bIns="0" anchor="t">
            <a:spAutoFit/>
          </a:bodyPr>
          <a:lstStyle/>
          <a:p>
            <a:pPr algn="l">
              <a:lnSpc>
                <a:spcPct val="115000"/>
              </a:lnSpc>
            </a:pPr>
            <a:r>
              <a:rPr sz="4000" b="1">
                <a:solidFill>
                  <a:srgbClr val="1F5FAE"/>
                </a:solidFill>
                <a:latin typeface="맑은 고딕"/>
                <a:ea typeface="맑은 고딕"/>
                <a:cs typeface="맑은 고딕"/>
              </a:rPr>
              <a:t>66.36%</a:t>
            </a:r>
          </a:p>
        </p:txBody>
      </p:sp>
      <p:sp>
        <p:nvSpPr>
          <p:cNvPr id="11" name="TextBox 10"/>
          <p:cNvSpPr txBox="1"/>
          <p:nvPr/>
        </p:nvSpPr>
        <p:spPr>
          <a:xfrm>
            <a:off x="4617720" y="3337560"/>
            <a:ext cx="2880360" cy="822960"/>
          </a:xfrm>
          <a:prstGeom prst="rect">
            <a:avLst/>
          </a:prstGeom>
          <a:noFill/>
        </p:spPr>
        <p:txBody>
          <a:bodyPr wrap="square" lIns="0" rIns="0" tIns="0" bIns="0" anchor="t">
            <a:spAutoFit/>
          </a:bodyPr>
          <a:lstStyle/>
          <a:p>
            <a:pPr algn="l">
              <a:lnSpc>
                <a:spcPct val="130000"/>
              </a:lnSpc>
            </a:pPr>
            <a:r>
              <a:rPr sz="1500" b="0">
                <a:solidFill>
                  <a:srgbClr val="1B2433"/>
                </a:solidFill>
                <a:latin typeface="맑은 고딕"/>
                <a:ea typeface="맑은 고딕"/>
                <a:cs typeface="맑은 고딕"/>
              </a:rPr>
              <a:t>구조화된 문서를 줘도 실행되는 비율</a:t>
            </a:r>
          </a:p>
        </p:txBody>
      </p:sp>
      <p:sp>
        <p:nvSpPr>
          <p:cNvPr id="12" name="TextBox 11"/>
          <p:cNvSpPr txBox="1"/>
          <p:nvPr/>
        </p:nvSpPr>
        <p:spPr>
          <a:xfrm>
            <a:off x="4617720" y="4069079"/>
            <a:ext cx="2880360" cy="274320"/>
          </a:xfrm>
          <a:prstGeom prst="rect">
            <a:avLst/>
          </a:prstGeom>
          <a:noFill/>
        </p:spPr>
        <p:txBody>
          <a:bodyPr wrap="square" lIns="0" rIns="0" tIns="0" bIns="0" anchor="t">
            <a:spAutoFit/>
          </a:bodyPr>
          <a:lstStyle/>
          <a:p>
            <a:pPr algn="l">
              <a:lnSpc>
                <a:spcPct val="115000"/>
              </a:lnSpc>
            </a:pPr>
            <a:r>
              <a:rPr sz="1100" b="0">
                <a:solidFill>
                  <a:srgbClr val="8A8F98"/>
                </a:solidFill>
                <a:latin typeface="맑은 고딕"/>
                <a:ea typeface="맑은 고딕"/>
                <a:cs typeface="맑은 고딕"/>
              </a:rPr>
              <a:t>When LLMs Lag Behind, 2026</a:t>
            </a:r>
          </a:p>
        </p:txBody>
      </p:sp>
      <p:sp>
        <p:nvSpPr>
          <p:cNvPr id="13" name="Rounded Rectangle 12"/>
          <p:cNvSpPr/>
          <p:nvPr/>
        </p:nvSpPr>
        <p:spPr>
          <a:xfrm>
            <a:off x="8001000" y="2331720"/>
            <a:ext cx="3429000" cy="219456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275320" y="2560320"/>
            <a:ext cx="2880360" cy="731520"/>
          </a:xfrm>
          <a:prstGeom prst="rect">
            <a:avLst/>
          </a:prstGeom>
          <a:noFill/>
        </p:spPr>
        <p:txBody>
          <a:bodyPr wrap="square" lIns="0" rIns="0" tIns="0" bIns="0" anchor="t">
            <a:spAutoFit/>
          </a:bodyPr>
          <a:lstStyle/>
          <a:p>
            <a:pPr algn="l">
              <a:lnSpc>
                <a:spcPct val="115000"/>
              </a:lnSpc>
            </a:pPr>
            <a:r>
              <a:rPr sz="4000" b="1">
                <a:solidFill>
                  <a:srgbClr val="1F5FAE"/>
                </a:solidFill>
                <a:latin typeface="맑은 고딕"/>
                <a:ea typeface="맑은 고딕"/>
                <a:cs typeface="맑은 고딕"/>
              </a:rPr>
              <a:t>48~51%</a:t>
            </a:r>
          </a:p>
        </p:txBody>
      </p:sp>
      <p:sp>
        <p:nvSpPr>
          <p:cNvPr id="15" name="TextBox 14"/>
          <p:cNvSpPr txBox="1"/>
          <p:nvPr/>
        </p:nvSpPr>
        <p:spPr>
          <a:xfrm>
            <a:off x="8275320" y="3337560"/>
            <a:ext cx="2880360" cy="822960"/>
          </a:xfrm>
          <a:prstGeom prst="rect">
            <a:avLst/>
          </a:prstGeom>
          <a:noFill/>
        </p:spPr>
        <p:txBody>
          <a:bodyPr wrap="square" lIns="0" rIns="0" tIns="0" bIns="0" anchor="t">
            <a:spAutoFit/>
          </a:bodyPr>
          <a:lstStyle/>
          <a:p>
            <a:pPr algn="l">
              <a:lnSpc>
                <a:spcPct val="130000"/>
              </a:lnSpc>
            </a:pPr>
            <a:r>
              <a:rPr sz="1500" b="0">
                <a:solidFill>
                  <a:srgbClr val="1B2433"/>
                </a:solidFill>
                <a:latin typeface="맑은 고딕"/>
                <a:ea typeface="맑은 고딕"/>
                <a:cs typeface="맑은 고딕"/>
              </a:rPr>
              <a:t>최신 상용 모델의 버전 지정 코드 생성 성공률</a:t>
            </a:r>
          </a:p>
        </p:txBody>
      </p:sp>
      <p:sp>
        <p:nvSpPr>
          <p:cNvPr id="16" name="TextBox 15"/>
          <p:cNvSpPr txBox="1"/>
          <p:nvPr/>
        </p:nvSpPr>
        <p:spPr>
          <a:xfrm>
            <a:off x="8275320" y="4069079"/>
            <a:ext cx="2880360" cy="274320"/>
          </a:xfrm>
          <a:prstGeom prst="rect">
            <a:avLst/>
          </a:prstGeom>
          <a:noFill/>
        </p:spPr>
        <p:txBody>
          <a:bodyPr wrap="square" lIns="0" rIns="0" tIns="0" bIns="0" anchor="t">
            <a:spAutoFit/>
          </a:bodyPr>
          <a:lstStyle/>
          <a:p>
            <a:pPr algn="l">
              <a:lnSpc>
                <a:spcPct val="115000"/>
              </a:lnSpc>
            </a:pPr>
            <a:r>
              <a:rPr sz="1100" b="0">
                <a:solidFill>
                  <a:srgbClr val="8A8F98"/>
                </a:solidFill>
                <a:latin typeface="맑은 고딕"/>
                <a:ea typeface="맑은 고딕"/>
                <a:cs typeface="맑은 고딕"/>
              </a:rPr>
              <a:t>GitChameleon 2.0, 2025</a:t>
            </a:r>
          </a:p>
        </p:txBody>
      </p:sp>
      <p:sp>
        <p:nvSpPr>
          <p:cNvPr id="17" name="TextBox 16"/>
          <p:cNvSpPr txBox="1"/>
          <p:nvPr/>
        </p:nvSpPr>
        <p:spPr>
          <a:xfrm>
            <a:off x="685800" y="4892040"/>
            <a:ext cx="10789920" cy="457200"/>
          </a:xfrm>
          <a:prstGeom prst="rect">
            <a:avLst/>
          </a:prstGeom>
          <a:noFill/>
        </p:spPr>
        <p:txBody>
          <a:bodyPr wrap="square" lIns="0" rIns="0" tIns="0" bIns="0" anchor="t">
            <a:spAutoFit/>
          </a:bodyPr>
          <a:lstStyle/>
          <a:p>
            <a:pPr algn="l">
              <a:lnSpc>
                <a:spcPct val="115000"/>
              </a:lnSpc>
            </a:pPr>
            <a:r>
              <a:rPr sz="1700" b="1">
                <a:solidFill>
                  <a:srgbClr val="1F5FAE"/>
                </a:solidFill>
                <a:latin typeface="맑은 고딕"/>
                <a:ea typeface="맑은 고딕"/>
                <a:cs typeface="맑은 고딕"/>
              </a:rPr>
              <a:t>→ 문서를 주는 것만으로는 부족하고, 고친 코드를 확인하는 단계가 필요합니다.</a:t>
            </a:r>
          </a:p>
        </p:txBody>
      </p:sp>
      <p:sp>
        <p:nvSpPr>
          <p:cNvPr id="18" name="TextBox 17"/>
          <p:cNvSpPr txBox="1"/>
          <p:nvPr/>
        </p:nvSpPr>
        <p:spPr>
          <a:xfrm>
            <a:off x="685800" y="6327648"/>
            <a:ext cx="10789920" cy="274320"/>
          </a:xfrm>
          <a:prstGeom prst="rect">
            <a:avLst/>
          </a:prstGeom>
          <a:noFill/>
        </p:spPr>
        <p:txBody>
          <a:bodyPr wrap="square" lIns="0" rIns="0" tIns="0" bIns="0" anchor="t">
            <a:spAutoFit/>
          </a:bodyPr>
          <a:lstStyle/>
          <a:p>
            <a:pPr algn="l">
              <a:lnSpc>
                <a:spcPct val="115000"/>
              </a:lnSpc>
            </a:pPr>
            <a:r>
              <a:rPr sz="1100" b="0">
                <a:solidFill>
                  <a:srgbClr val="8A8F98"/>
                </a:solidFill>
                <a:latin typeface="맑은 고딕"/>
                <a:ea typeface="맑은 고딕"/>
                <a:cs typeface="맑은 고딕"/>
              </a:rPr>
              <a:t>LangChain 마이그레이션 도우미 · 4</a:t>
            </a:r>
          </a:p>
        </p:txBody>
      </p:sp>
      <p:sp>
        <p:nvSpPr>
          <p:cNvPr id="19" name="Rectangle 18"/>
          <p:cNvSpPr/>
          <p:nvPr/>
        </p:nvSpPr>
        <p:spPr>
          <a:xfrm>
            <a:off x="0" y="6803136"/>
            <a:ext cx="12191695" cy="54864"/>
          </a:xfrm>
          <a:prstGeom prst="rect">
            <a:avLst/>
          </a:prstGeom>
          <a:solidFill>
            <a:srgbClr val="E1E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6803136"/>
            <a:ext cx="2709265" cy="54864"/>
          </a:xfrm>
          <a:prstGeom prst="rect">
            <a:avLst/>
          </a:prstGeom>
          <a:solidFill>
            <a:srgbClr val="1F5F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566928"/>
            <a:ext cx="5486400" cy="274320"/>
          </a:xfrm>
          <a:prstGeom prst="rect">
            <a:avLst/>
          </a:prstGeom>
          <a:noFill/>
        </p:spPr>
        <p:txBody>
          <a:bodyPr wrap="square" lIns="0" rIns="0" tIns="0" bIns="0" anchor="t">
            <a:spAutoFit/>
          </a:bodyPr>
          <a:lstStyle/>
          <a:p>
            <a:pPr algn="r">
              <a:lnSpc>
                <a:spcPct val="115000"/>
              </a:lnSpc>
            </a:pPr>
            <a:r>
              <a:rPr sz="1000" b="0">
                <a:solidFill>
                  <a:srgbClr val="8A8F98"/>
                </a:solidFill>
                <a:latin typeface="맑은 고딕"/>
                <a:ea typeface="맑은 고딕"/>
                <a:cs typeface="맑은 고딕"/>
              </a:rPr>
              <a:t>● 문제와 해결   만든 것   평가와 결과   배운 것</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5F1"/>
        </a:solidFill>
        <a:effectLst/>
      </p:bgPr>
    </p:bg>
    <p:spTree>
      <p:nvGrpSpPr>
        <p:cNvPr id="1" name=""/>
        <p:cNvGrpSpPr/>
        <p:nvPr/>
      </p:nvGrpSpPr>
      <p:grpSpPr/>
      <p:sp>
        <p:nvSpPr>
          <p:cNvPr id="2" name="TextBox 1"/>
          <p:cNvSpPr txBox="1"/>
          <p:nvPr/>
        </p:nvSpPr>
        <p:spPr>
          <a:xfrm>
            <a:off x="685800" y="566928"/>
            <a:ext cx="10789920" cy="274320"/>
          </a:xfrm>
          <a:prstGeom prst="rect">
            <a:avLst/>
          </a:prstGeom>
          <a:noFill/>
        </p:spPr>
        <p:txBody>
          <a:bodyPr wrap="square" lIns="0" rIns="0" tIns="0" bIns="0" anchor="t">
            <a:spAutoFit/>
          </a:bodyPr>
          <a:lstStyle/>
          <a:p>
            <a:pPr algn="l">
              <a:lnSpc>
                <a:spcPct val="115000"/>
              </a:lnSpc>
            </a:pPr>
            <a:r>
              <a:rPr sz="1300" b="1">
                <a:solidFill>
                  <a:srgbClr val="1F5FAE"/>
                </a:solidFill>
                <a:latin typeface="맑은 고딕"/>
                <a:ea typeface="맑은 고딕"/>
                <a:cs typeface="맑은 고딕"/>
              </a:rPr>
              <a:t>해결</a:t>
            </a:r>
          </a:p>
        </p:txBody>
      </p:sp>
      <p:sp>
        <p:nvSpPr>
          <p:cNvPr id="3" name="TextBox 2"/>
          <p:cNvSpPr txBox="1"/>
          <p:nvPr/>
        </p:nvSpPr>
        <p:spPr>
          <a:xfrm>
            <a:off x="685800" y="868680"/>
            <a:ext cx="10789920" cy="731520"/>
          </a:xfrm>
          <a:prstGeom prst="rect">
            <a:avLst/>
          </a:prstGeom>
          <a:noFill/>
        </p:spPr>
        <p:txBody>
          <a:bodyPr wrap="square" lIns="0" rIns="0" tIns="0" bIns="0" anchor="t">
            <a:spAutoFit/>
          </a:bodyPr>
          <a:lstStyle/>
          <a:p>
            <a:pPr algn="l">
              <a:lnSpc>
                <a:spcPct val="115000"/>
              </a:lnSpc>
            </a:pPr>
            <a:r>
              <a:rPr sz="3200" b="1">
                <a:solidFill>
                  <a:srgbClr val="1B2433"/>
                </a:solidFill>
                <a:latin typeface="맑은 고딕"/>
                <a:ea typeface="맑은 고딕"/>
                <a:cs typeface="맑은 고딕"/>
              </a:rPr>
              <a:t>근거로 고치고, 검사로 한 번 더 확인합니다</a:t>
            </a:r>
          </a:p>
        </p:txBody>
      </p:sp>
      <p:graphicFrame>
        <p:nvGraphicFramePr>
          <p:cNvPr id="4" name="Table 3"/>
          <p:cNvGraphicFramePr>
            <a:graphicFrameLocks noGrp="1"/>
          </p:cNvGraphicFramePr>
          <p:nvPr/>
        </p:nvGraphicFramePr>
        <p:xfrm>
          <a:off x="685800" y="1828800"/>
          <a:ext cx="10817352" cy="3401568"/>
        </p:xfrm>
        <a:graphic>
          <a:graphicData uri="http://schemas.openxmlformats.org/drawingml/2006/table">
            <a:tbl>
              <a:tblPr firstRow="1" bandRow="1">
                <a:tableStyleId>{5940675A-B579-460E-94D1-54222C63F5DA}</a:tableStyleId>
              </a:tblPr>
              <a:tblGrid>
                <a:gridCol w="1737360"/>
                <a:gridCol w="3108960"/>
                <a:gridCol w="5971032"/>
              </a:tblGrid>
              <a:tr h="566928">
                <a:tc>
                  <a:txBody>
                    <a:bodyPr wrap="square"/>
                    <a:lstStyle/>
                    <a:p>
                      <a:r>
                        <a:rPr sz="1500" b="1">
                          <a:solidFill>
                            <a:srgbClr val="1B2433"/>
                          </a:solidFill>
                          <a:latin typeface="맑은 고딕"/>
                          <a:ea typeface="맑은 고딕"/>
                        </a:rPr>
                        <a:t>구분</a:t>
                      </a:r>
                    </a:p>
                  </a:txBody>
                  <a:tcPr marL="109728" marR="109728" marT="45720" marB="45720" anchor="ctr">
                    <a:solidFill>
                      <a:srgbClr val="ECEBE5"/>
                    </a:solidFill>
                  </a:tcPr>
                </a:tc>
                <a:tc>
                  <a:txBody>
                    <a:bodyPr wrap="square"/>
                    <a:lstStyle/>
                    <a:p>
                      <a:r>
                        <a:rPr sz="1500" b="1">
                          <a:solidFill>
                            <a:srgbClr val="1B2433"/>
                          </a:solidFill>
                          <a:latin typeface="맑은 고딕"/>
                          <a:ea typeface="맑은 고딕"/>
                        </a:rPr>
                        <a:t>일반 LLM</a:t>
                      </a:r>
                    </a:p>
                  </a:txBody>
                  <a:tcPr marL="109728" marR="109728" marT="45720" marB="45720" anchor="ctr">
                    <a:solidFill>
                      <a:srgbClr val="ECEBE5"/>
                    </a:solidFill>
                  </a:tcPr>
                </a:tc>
                <a:tc>
                  <a:txBody>
                    <a:bodyPr wrap="square"/>
                    <a:lstStyle/>
                    <a:p>
                      <a:r>
                        <a:rPr sz="1500" b="1">
                          <a:solidFill>
                            <a:srgbClr val="1B2433"/>
                          </a:solidFill>
                          <a:latin typeface="맑은 고딕"/>
                          <a:ea typeface="맑은 고딕"/>
                        </a:rPr>
                        <a:t>우리 챗봇</a:t>
                      </a:r>
                    </a:p>
                  </a:txBody>
                  <a:tcPr marL="109728" marR="109728" marT="45720" marB="45720" anchor="ctr">
                    <a:solidFill>
                      <a:srgbClr val="ECEBE5"/>
                    </a:solidFill>
                  </a:tcPr>
                </a:tc>
              </a:tr>
              <a:tr h="566928">
                <a:tc>
                  <a:txBody>
                    <a:bodyPr wrap="square"/>
                    <a:lstStyle/>
                    <a:p>
                      <a:r>
                        <a:rPr sz="1500" b="1">
                          <a:solidFill>
                            <a:srgbClr val="1B2433"/>
                          </a:solidFill>
                          <a:latin typeface="맑은 고딕"/>
                          <a:ea typeface="맑은 고딕"/>
                        </a:rPr>
                        <a:t>근거</a:t>
                      </a:r>
                    </a:p>
                  </a:txBody>
                  <a:tcPr marL="109728" marR="109728" marT="45720" marB="45720" anchor="ctr">
                    <a:solidFill>
                      <a:srgbClr val="FFFFFF"/>
                    </a:solidFill>
                  </a:tcPr>
                </a:tc>
                <a:tc>
                  <a:txBody>
                    <a:bodyPr wrap="square"/>
                    <a:lstStyle/>
                    <a:p>
                      <a:r>
                        <a:rPr sz="1500" b="0">
                          <a:solidFill>
                            <a:srgbClr val="4A5363"/>
                          </a:solidFill>
                          <a:latin typeface="맑은 고딕"/>
                          <a:ea typeface="맑은 고딕"/>
                        </a:rPr>
                        <a:t>학습 데이터 (옛 버전이 다수)</a:t>
                      </a:r>
                    </a:p>
                  </a:txBody>
                  <a:tcPr marL="109728" marR="109728" marT="45720" marB="45720" anchor="ctr">
                    <a:solidFill>
                      <a:srgbClr val="FFFFFF"/>
                    </a:solidFill>
                  </a:tcPr>
                </a:tc>
                <a:tc>
                  <a:txBody>
                    <a:bodyPr wrap="square"/>
                    <a:lstStyle/>
                    <a:p>
                      <a:r>
                        <a:rPr sz="1500" b="0">
                          <a:solidFill>
                            <a:srgbClr val="1B2433"/>
                          </a:solidFill>
                          <a:latin typeface="맑은 고딕"/>
                          <a:ea typeface="맑은 고딕"/>
                        </a:rPr>
                        <a:t>import · 메서드 대응표 + 최신 공식 문서 검색 (RAG)</a:t>
                      </a:r>
                    </a:p>
                  </a:txBody>
                  <a:tcPr marL="109728" marR="109728" marT="45720" marB="45720" anchor="ctr">
                    <a:solidFill>
                      <a:srgbClr val="FFFFFF"/>
                    </a:solidFill>
                  </a:tcPr>
                </a:tc>
              </a:tr>
              <a:tr h="566928">
                <a:tc>
                  <a:txBody>
                    <a:bodyPr wrap="square"/>
                    <a:lstStyle/>
                    <a:p>
                      <a:r>
                        <a:rPr sz="1500" b="1">
                          <a:solidFill>
                            <a:srgbClr val="1B2433"/>
                          </a:solidFill>
                          <a:latin typeface="맑은 고딕"/>
                          <a:ea typeface="맑은 고딕"/>
                        </a:rPr>
                        <a:t>확인</a:t>
                      </a:r>
                    </a:p>
                  </a:txBody>
                  <a:tcPr marL="109728" marR="109728" marT="45720" marB="45720" anchor="ctr">
                    <a:solidFill>
                      <a:srgbClr val="FFFFFF"/>
                    </a:solidFill>
                  </a:tcPr>
                </a:tc>
                <a:tc>
                  <a:txBody>
                    <a:bodyPr wrap="square"/>
                    <a:lstStyle/>
                    <a:p>
                      <a:r>
                        <a:rPr sz="1500" b="0">
                          <a:solidFill>
                            <a:srgbClr val="4A5363"/>
                          </a:solidFill>
                          <a:latin typeface="맑은 고딕"/>
                          <a:ea typeface="맑은 고딕"/>
                        </a:rPr>
                        <a:t>없음</a:t>
                      </a:r>
                    </a:p>
                  </a:txBody>
                  <a:tcPr marL="109728" marR="109728" marT="45720" marB="45720" anchor="ctr">
                    <a:solidFill>
                      <a:srgbClr val="FFFFFF"/>
                    </a:solidFill>
                  </a:tcPr>
                </a:tc>
                <a:tc>
                  <a:txBody>
                    <a:bodyPr wrap="square"/>
                    <a:lstStyle/>
                    <a:p>
                      <a:r>
                        <a:rPr sz="1500" b="0">
                          <a:solidFill>
                            <a:srgbClr val="1B2433"/>
                          </a:solidFill>
                          <a:latin typeface="맑은 고딕"/>
                          <a:ea typeface="맑은 고딕"/>
                        </a:rPr>
                        <a:t>verifier가 LLM 없이 11가지 검사 (문법, import 존재, 남은 옛 import …)</a:t>
                      </a:r>
                    </a:p>
                  </a:txBody>
                  <a:tcPr marL="109728" marR="109728" marT="45720" marB="45720" anchor="ctr">
                    <a:solidFill>
                      <a:srgbClr val="FFFFFF"/>
                    </a:solidFill>
                  </a:tcPr>
                </a:tc>
              </a:tr>
              <a:tr h="566928">
                <a:tc>
                  <a:txBody>
                    <a:bodyPr wrap="square"/>
                    <a:lstStyle/>
                    <a:p>
                      <a:r>
                        <a:rPr sz="1500" b="1">
                          <a:solidFill>
                            <a:srgbClr val="1B2433"/>
                          </a:solidFill>
                          <a:latin typeface="맑은 고딕"/>
                          <a:ea typeface="맑은 고딕"/>
                        </a:rPr>
                        <a:t>틀렸을 때</a:t>
                      </a:r>
                    </a:p>
                  </a:txBody>
                  <a:tcPr marL="109728" marR="109728" marT="45720" marB="45720" anchor="ctr">
                    <a:solidFill>
                      <a:srgbClr val="FFFFFF"/>
                    </a:solidFill>
                  </a:tcPr>
                </a:tc>
                <a:tc>
                  <a:txBody>
                    <a:bodyPr wrap="square"/>
                    <a:lstStyle/>
                    <a:p>
                      <a:r>
                        <a:rPr sz="1500" b="0">
                          <a:solidFill>
                            <a:srgbClr val="4A5363"/>
                          </a:solidFill>
                          <a:latin typeface="맑은 고딕"/>
                          <a:ea typeface="맑은 고딕"/>
                        </a:rPr>
                        <a:t>모름</a:t>
                      </a:r>
                    </a:p>
                  </a:txBody>
                  <a:tcPr marL="109728" marR="109728" marT="45720" marB="45720" anchor="ctr">
                    <a:solidFill>
                      <a:srgbClr val="FFFFFF"/>
                    </a:solidFill>
                  </a:tcPr>
                </a:tc>
                <a:tc>
                  <a:txBody>
                    <a:bodyPr wrap="square"/>
                    <a:lstStyle/>
                    <a:p>
                      <a:r>
                        <a:rPr sz="1500" b="0">
                          <a:solidFill>
                            <a:srgbClr val="1B2433"/>
                          </a:solidFill>
                          <a:latin typeface="맑은 고딕"/>
                          <a:ea typeface="맑은 고딕"/>
                        </a:rPr>
                        <a:t>실패 이유로 근거를 다시 찾고, 틀린 근거는 빼고 다시 고침 (최대 3회)</a:t>
                      </a:r>
                    </a:p>
                  </a:txBody>
                  <a:tcPr marL="109728" marR="109728" marT="45720" marB="45720" anchor="ctr">
                    <a:solidFill>
                      <a:srgbClr val="FFFFFF"/>
                    </a:solidFill>
                  </a:tcPr>
                </a:tc>
              </a:tr>
              <a:tr h="566928">
                <a:tc>
                  <a:txBody>
                    <a:bodyPr wrap="square"/>
                    <a:lstStyle/>
                    <a:p>
                      <a:r>
                        <a:rPr sz="1500" b="1">
                          <a:solidFill>
                            <a:srgbClr val="1B2433"/>
                          </a:solidFill>
                          <a:latin typeface="맑은 고딕"/>
                          <a:ea typeface="맑은 고딕"/>
                        </a:rPr>
                        <a:t>답변</a:t>
                      </a:r>
                    </a:p>
                  </a:txBody>
                  <a:tcPr marL="109728" marR="109728" marT="45720" marB="45720" anchor="ctr">
                    <a:solidFill>
                      <a:srgbClr val="FFFFFF"/>
                    </a:solidFill>
                  </a:tcPr>
                </a:tc>
                <a:tc>
                  <a:txBody>
                    <a:bodyPr wrap="square"/>
                    <a:lstStyle/>
                    <a:p>
                      <a:r>
                        <a:rPr sz="1500" b="0">
                          <a:solidFill>
                            <a:srgbClr val="4A5363"/>
                          </a:solidFill>
                          <a:latin typeface="맑은 고딕"/>
                          <a:ea typeface="맑은 고딕"/>
                        </a:rPr>
                        <a:t>코드만</a:t>
                      </a:r>
                    </a:p>
                  </a:txBody>
                  <a:tcPr marL="109728" marR="109728" marT="45720" marB="45720" anchor="ctr">
                    <a:solidFill>
                      <a:srgbClr val="FFFFFF"/>
                    </a:solidFill>
                  </a:tcPr>
                </a:tc>
                <a:tc>
                  <a:txBody>
                    <a:bodyPr wrap="square"/>
                    <a:lstStyle/>
                    <a:p>
                      <a:r>
                        <a:rPr sz="1500" b="0">
                          <a:solidFill>
                            <a:srgbClr val="1B2433"/>
                          </a:solidFill>
                          <a:latin typeface="맑은 고딕"/>
                          <a:ea typeface="맑은 고딕"/>
                        </a:rPr>
                        <a:t>고친 코드 + 바뀐 줄마다 근거 ID · 이유 + 시도 횟수 + 설치할 패키지</a:t>
                      </a:r>
                    </a:p>
                  </a:txBody>
                  <a:tcPr marL="109728" marR="109728" marT="45720" marB="45720" anchor="ctr">
                    <a:solidFill>
                      <a:srgbClr val="FFFFFF"/>
                    </a:solidFill>
                  </a:tcPr>
                </a:tc>
              </a:tr>
              <a:tr h="566928">
                <a:tc>
                  <a:txBody>
                    <a:bodyPr wrap="square"/>
                    <a:lstStyle/>
                    <a:p>
                      <a:r>
                        <a:rPr sz="1500" b="1">
                          <a:solidFill>
                            <a:srgbClr val="1B2433"/>
                          </a:solidFill>
                          <a:latin typeface="맑은 고딕"/>
                          <a:ea typeface="맑은 고딕"/>
                        </a:rPr>
                        <a:t>버전</a:t>
                      </a:r>
                    </a:p>
                  </a:txBody>
                  <a:tcPr marL="109728" marR="109728" marT="45720" marB="45720" anchor="ctr">
                    <a:solidFill>
                      <a:srgbClr val="FFFFFF"/>
                    </a:solidFill>
                  </a:tcPr>
                </a:tc>
                <a:tc>
                  <a:txBody>
                    <a:bodyPr wrap="square"/>
                    <a:lstStyle/>
                    <a:p>
                      <a:r>
                        <a:rPr sz="1500" b="0">
                          <a:solidFill>
                            <a:srgbClr val="4A5363"/>
                          </a:solidFill>
                          <a:latin typeface="맑은 고딕"/>
                          <a:ea typeface="맑은 고딕"/>
                        </a:rPr>
                        <a:t>대부분 최신으로만</a:t>
                      </a:r>
                    </a:p>
                  </a:txBody>
                  <a:tcPr marL="109728" marR="109728" marT="45720" marB="45720" anchor="ctr">
                    <a:solidFill>
                      <a:srgbClr val="FFFFFF"/>
                    </a:solidFill>
                  </a:tcPr>
                </a:tc>
                <a:tc>
                  <a:txBody>
                    <a:bodyPr wrap="square"/>
                    <a:lstStyle/>
                    <a:p>
                      <a:r>
                        <a:rPr sz="1500" b="0">
                          <a:solidFill>
                            <a:srgbClr val="1B2433"/>
                          </a:solidFill>
                          <a:latin typeface="맑은 고딕"/>
                          <a:ea typeface="맑은 고딕"/>
                        </a:rPr>
                        <a:t>지금 버전 → 바꿀 버전 선택 (0.0.300 ~ 1.x)</a:t>
                      </a:r>
                    </a:p>
                  </a:txBody>
                  <a:tcPr marL="109728" marR="109728" marT="45720" marB="45720" anchor="ctr">
                    <a:solidFill>
                      <a:srgbClr val="FFFFFF"/>
                    </a:solidFill>
                  </a:tcPr>
                </a:tc>
              </a:tr>
            </a:tbl>
          </a:graphicData>
        </a:graphic>
      </p:graphicFrame>
      <p:sp>
        <p:nvSpPr>
          <p:cNvPr id="5" name="TextBox 4"/>
          <p:cNvSpPr txBox="1"/>
          <p:nvPr/>
        </p:nvSpPr>
        <p:spPr>
          <a:xfrm>
            <a:off x="685800" y="6327648"/>
            <a:ext cx="10789920" cy="274320"/>
          </a:xfrm>
          <a:prstGeom prst="rect">
            <a:avLst/>
          </a:prstGeom>
          <a:noFill/>
        </p:spPr>
        <p:txBody>
          <a:bodyPr wrap="square" lIns="0" rIns="0" tIns="0" bIns="0" anchor="t">
            <a:spAutoFit/>
          </a:bodyPr>
          <a:lstStyle/>
          <a:p>
            <a:pPr algn="l">
              <a:lnSpc>
                <a:spcPct val="115000"/>
              </a:lnSpc>
            </a:pPr>
            <a:r>
              <a:rPr sz="1100" b="0">
                <a:solidFill>
                  <a:srgbClr val="8A8F98"/>
                </a:solidFill>
                <a:latin typeface="맑은 고딕"/>
                <a:ea typeface="맑은 고딕"/>
                <a:cs typeface="맑은 고딕"/>
              </a:rPr>
              <a:t>LangChain 마이그레이션 도우미 · 5</a:t>
            </a:r>
          </a:p>
        </p:txBody>
      </p:sp>
      <p:sp>
        <p:nvSpPr>
          <p:cNvPr id="6" name="Rectangle 5"/>
          <p:cNvSpPr/>
          <p:nvPr/>
        </p:nvSpPr>
        <p:spPr>
          <a:xfrm>
            <a:off x="0" y="6803136"/>
            <a:ext cx="12191695" cy="54864"/>
          </a:xfrm>
          <a:prstGeom prst="rect">
            <a:avLst/>
          </a:prstGeom>
          <a:solidFill>
            <a:srgbClr val="E1E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803136"/>
            <a:ext cx="3386581" cy="54864"/>
          </a:xfrm>
          <a:prstGeom prst="rect">
            <a:avLst/>
          </a:prstGeom>
          <a:solidFill>
            <a:srgbClr val="1F5F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0" y="566928"/>
            <a:ext cx="5486400" cy="274320"/>
          </a:xfrm>
          <a:prstGeom prst="rect">
            <a:avLst/>
          </a:prstGeom>
          <a:noFill/>
        </p:spPr>
        <p:txBody>
          <a:bodyPr wrap="square" lIns="0" rIns="0" tIns="0" bIns="0" anchor="t">
            <a:spAutoFit/>
          </a:bodyPr>
          <a:lstStyle/>
          <a:p>
            <a:pPr algn="r">
              <a:lnSpc>
                <a:spcPct val="115000"/>
              </a:lnSpc>
            </a:pPr>
            <a:r>
              <a:rPr sz="1000" b="0">
                <a:solidFill>
                  <a:srgbClr val="8A8F98"/>
                </a:solidFill>
                <a:latin typeface="맑은 고딕"/>
                <a:ea typeface="맑은 고딕"/>
                <a:cs typeface="맑은 고딕"/>
              </a:rPr>
              <a:t>● 문제와 해결   만든 것   평가와 결과   배운 것</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5F1"/>
        </a:solidFill>
        <a:effectLst/>
      </p:bgPr>
    </p:bg>
    <p:spTree>
      <p:nvGrpSpPr>
        <p:cNvPr id="1" name=""/>
        <p:cNvGrpSpPr/>
        <p:nvPr/>
      </p:nvGrpSpPr>
      <p:grpSpPr/>
      <p:sp>
        <p:nvSpPr>
          <p:cNvPr id="2" name="TextBox 1"/>
          <p:cNvSpPr txBox="1"/>
          <p:nvPr/>
        </p:nvSpPr>
        <p:spPr>
          <a:xfrm>
            <a:off x="685800" y="566928"/>
            <a:ext cx="10789920" cy="274320"/>
          </a:xfrm>
          <a:prstGeom prst="rect">
            <a:avLst/>
          </a:prstGeom>
          <a:noFill/>
        </p:spPr>
        <p:txBody>
          <a:bodyPr wrap="square" lIns="0" rIns="0" tIns="0" bIns="0" anchor="t">
            <a:spAutoFit/>
          </a:bodyPr>
          <a:lstStyle/>
          <a:p>
            <a:pPr algn="l">
              <a:lnSpc>
                <a:spcPct val="115000"/>
              </a:lnSpc>
            </a:pPr>
            <a:r>
              <a:rPr sz="1300" b="1">
                <a:solidFill>
                  <a:srgbClr val="1F5FAE"/>
                </a:solidFill>
                <a:latin typeface="맑은 고딕"/>
                <a:ea typeface="맑은 고딕"/>
                <a:cs typeface="맑은 고딕"/>
              </a:rPr>
              <a:t>근거 데이터 · 2번</a:t>
            </a:r>
          </a:p>
        </p:txBody>
      </p:sp>
      <p:sp>
        <p:nvSpPr>
          <p:cNvPr id="3" name="TextBox 2"/>
          <p:cNvSpPr txBox="1"/>
          <p:nvPr/>
        </p:nvSpPr>
        <p:spPr>
          <a:xfrm>
            <a:off x="685800" y="868680"/>
            <a:ext cx="10789920" cy="731520"/>
          </a:xfrm>
          <a:prstGeom prst="rect">
            <a:avLst/>
          </a:prstGeom>
          <a:noFill/>
        </p:spPr>
        <p:txBody>
          <a:bodyPr wrap="square" lIns="0" rIns="0" tIns="0" bIns="0" anchor="t">
            <a:spAutoFit/>
          </a:bodyPr>
          <a:lstStyle/>
          <a:p>
            <a:pPr algn="l">
              <a:lnSpc>
                <a:spcPct val="115000"/>
              </a:lnSpc>
            </a:pPr>
            <a:r>
              <a:rPr sz="3200" b="1">
                <a:solidFill>
                  <a:srgbClr val="1B2433"/>
                </a:solidFill>
                <a:latin typeface="맑은 고딕"/>
                <a:ea typeface="맑은 고딕"/>
                <a:cs typeface="맑은 고딕"/>
              </a:rPr>
              <a:t>고칠 때 볼 근거를 미리 만들어 두었습니다</a:t>
            </a:r>
          </a:p>
        </p:txBody>
      </p:sp>
      <p:sp>
        <p:nvSpPr>
          <p:cNvPr id="4" name="Rounded Rectangle 3"/>
          <p:cNvSpPr/>
          <p:nvPr/>
        </p:nvSpPr>
        <p:spPr>
          <a:xfrm>
            <a:off x="685800" y="1828800"/>
            <a:ext cx="2560320" cy="196596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60120" y="2057400"/>
            <a:ext cx="2011679" cy="731520"/>
          </a:xfrm>
          <a:prstGeom prst="rect">
            <a:avLst/>
          </a:prstGeom>
          <a:noFill/>
        </p:spPr>
        <p:txBody>
          <a:bodyPr wrap="square" lIns="0" rIns="0" tIns="0" bIns="0" anchor="t">
            <a:spAutoFit/>
          </a:bodyPr>
          <a:lstStyle/>
          <a:p>
            <a:pPr algn="l">
              <a:lnSpc>
                <a:spcPct val="115000"/>
              </a:lnSpc>
            </a:pPr>
            <a:r>
              <a:rPr sz="3200" b="1">
                <a:solidFill>
                  <a:srgbClr val="1F5FAE"/>
                </a:solidFill>
                <a:latin typeface="맑은 고딕"/>
                <a:ea typeface="맑은 고딕"/>
                <a:cs typeface="맑은 고딕"/>
              </a:rPr>
              <a:t>9,155줄</a:t>
            </a:r>
          </a:p>
        </p:txBody>
      </p:sp>
      <p:sp>
        <p:nvSpPr>
          <p:cNvPr id="6" name="TextBox 5"/>
          <p:cNvSpPr txBox="1"/>
          <p:nvPr/>
        </p:nvSpPr>
        <p:spPr>
          <a:xfrm>
            <a:off x="960120" y="2834640"/>
            <a:ext cx="2011679" cy="822960"/>
          </a:xfrm>
          <a:prstGeom prst="rect">
            <a:avLst/>
          </a:prstGeom>
          <a:noFill/>
        </p:spPr>
        <p:txBody>
          <a:bodyPr wrap="square" lIns="0" rIns="0" tIns="0" bIns="0" anchor="t">
            <a:spAutoFit/>
          </a:bodyPr>
          <a:lstStyle/>
          <a:p>
            <a:pPr algn="l">
              <a:lnSpc>
                <a:spcPct val="130000"/>
              </a:lnSpc>
            </a:pPr>
            <a:r>
              <a:rPr sz="1500" b="0">
                <a:solidFill>
                  <a:srgbClr val="1B2433"/>
                </a:solidFill>
                <a:latin typeface="맑은 고딕"/>
                <a:ea typeface="맑은 고딕"/>
                <a:cs typeface="맑은 고딕"/>
              </a:rPr>
              <a:t>import 대응표</a:t>
            </a:r>
          </a:p>
          <a:p>
            <a:pPr algn="l">
              <a:lnSpc>
                <a:spcPct val="130000"/>
              </a:lnSpc>
            </a:pPr>
            <a:r>
              <a:rPr sz="1500" b="0">
                <a:solidFill>
                  <a:srgbClr val="1B2433"/>
                </a:solidFill>
                <a:latin typeface="맑은 고딕"/>
                <a:ea typeface="맑은 고딕"/>
                <a:cs typeface="맑은 고딕"/>
              </a:rPr>
              <a:t>옛 경로 → 1.x 경로</a:t>
            </a:r>
          </a:p>
        </p:txBody>
      </p:sp>
      <p:sp>
        <p:nvSpPr>
          <p:cNvPr id="7" name="Rounded Rectangle 6"/>
          <p:cNvSpPr/>
          <p:nvPr/>
        </p:nvSpPr>
        <p:spPr>
          <a:xfrm>
            <a:off x="3429000" y="1828800"/>
            <a:ext cx="2560320" cy="196596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703320" y="2057400"/>
            <a:ext cx="2011679" cy="731520"/>
          </a:xfrm>
          <a:prstGeom prst="rect">
            <a:avLst/>
          </a:prstGeom>
          <a:noFill/>
        </p:spPr>
        <p:txBody>
          <a:bodyPr wrap="square" lIns="0" rIns="0" tIns="0" bIns="0" anchor="t">
            <a:spAutoFit/>
          </a:bodyPr>
          <a:lstStyle/>
          <a:p>
            <a:pPr algn="l">
              <a:lnSpc>
                <a:spcPct val="115000"/>
              </a:lnSpc>
            </a:pPr>
            <a:r>
              <a:rPr sz="3200" b="1">
                <a:solidFill>
                  <a:srgbClr val="1F5FAE"/>
                </a:solidFill>
                <a:latin typeface="맑은 고딕"/>
                <a:ea typeface="맑은 고딕"/>
                <a:cs typeface="맑은 고딕"/>
              </a:rPr>
              <a:t>42개</a:t>
            </a:r>
          </a:p>
        </p:txBody>
      </p:sp>
      <p:sp>
        <p:nvSpPr>
          <p:cNvPr id="9" name="TextBox 8"/>
          <p:cNvSpPr txBox="1"/>
          <p:nvPr/>
        </p:nvSpPr>
        <p:spPr>
          <a:xfrm>
            <a:off x="3703320" y="2834640"/>
            <a:ext cx="2011679" cy="822960"/>
          </a:xfrm>
          <a:prstGeom prst="rect">
            <a:avLst/>
          </a:prstGeom>
          <a:noFill/>
        </p:spPr>
        <p:txBody>
          <a:bodyPr wrap="square" lIns="0" rIns="0" tIns="0" bIns="0" anchor="t">
            <a:spAutoFit/>
          </a:bodyPr>
          <a:lstStyle/>
          <a:p>
            <a:pPr algn="l">
              <a:lnSpc>
                <a:spcPct val="130000"/>
              </a:lnSpc>
            </a:pPr>
            <a:r>
              <a:rPr sz="1500" b="0">
                <a:solidFill>
                  <a:srgbClr val="1B2433"/>
                </a:solidFill>
                <a:latin typeface="맑은 고딕"/>
                <a:ea typeface="맑은 고딕"/>
                <a:cs typeface="맑은 고딕"/>
              </a:rPr>
              <a:t>메서드 대응표</a:t>
            </a:r>
          </a:p>
          <a:p>
            <a:pPr algn="l">
              <a:lnSpc>
                <a:spcPct val="130000"/>
              </a:lnSpc>
            </a:pPr>
            <a:r>
              <a:rPr sz="1500" b="0">
                <a:solidFill>
                  <a:srgbClr val="1B2433"/>
                </a:solidFill>
                <a:latin typeface="맑은 고딕"/>
                <a:ea typeface="맑은 고딕"/>
                <a:cs typeface="맑은 고딕"/>
              </a:rPr>
              <a:t>.run() → .invoke() 등</a:t>
            </a:r>
          </a:p>
        </p:txBody>
      </p:sp>
      <p:sp>
        <p:nvSpPr>
          <p:cNvPr id="10" name="Rounded Rectangle 9"/>
          <p:cNvSpPr/>
          <p:nvPr/>
        </p:nvSpPr>
        <p:spPr>
          <a:xfrm>
            <a:off x="6172200" y="1828800"/>
            <a:ext cx="2560320" cy="196596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46520" y="2057400"/>
            <a:ext cx="2011679" cy="731520"/>
          </a:xfrm>
          <a:prstGeom prst="rect">
            <a:avLst/>
          </a:prstGeom>
          <a:noFill/>
        </p:spPr>
        <p:txBody>
          <a:bodyPr wrap="square" lIns="0" rIns="0" tIns="0" bIns="0" anchor="t">
            <a:spAutoFit/>
          </a:bodyPr>
          <a:lstStyle/>
          <a:p>
            <a:pPr algn="l">
              <a:lnSpc>
                <a:spcPct val="115000"/>
              </a:lnSpc>
            </a:pPr>
            <a:r>
              <a:rPr sz="3200" b="1">
                <a:solidFill>
                  <a:srgbClr val="1F5FAE"/>
                </a:solidFill>
                <a:latin typeface="맑은 고딕"/>
                <a:ea typeface="맑은 고딕"/>
                <a:cs typeface="맑은 고딕"/>
              </a:rPr>
              <a:t>295개</a:t>
            </a:r>
          </a:p>
        </p:txBody>
      </p:sp>
      <p:sp>
        <p:nvSpPr>
          <p:cNvPr id="12" name="TextBox 11"/>
          <p:cNvSpPr txBox="1"/>
          <p:nvPr/>
        </p:nvSpPr>
        <p:spPr>
          <a:xfrm>
            <a:off x="6446520" y="2834640"/>
            <a:ext cx="2011679" cy="822960"/>
          </a:xfrm>
          <a:prstGeom prst="rect">
            <a:avLst/>
          </a:prstGeom>
          <a:noFill/>
        </p:spPr>
        <p:txBody>
          <a:bodyPr wrap="square" lIns="0" rIns="0" tIns="0" bIns="0" anchor="t">
            <a:spAutoFit/>
          </a:bodyPr>
          <a:lstStyle/>
          <a:p>
            <a:pPr algn="l">
              <a:lnSpc>
                <a:spcPct val="130000"/>
              </a:lnSpc>
            </a:pPr>
            <a:r>
              <a:rPr sz="1500" b="0">
                <a:solidFill>
                  <a:srgbClr val="1B2433"/>
                </a:solidFill>
                <a:latin typeface="맑은 고딕"/>
                <a:ea typeface="맑은 고딕"/>
                <a:cs typeface="맑은 고딕"/>
              </a:rPr>
              <a:t>공식 문서</a:t>
            </a:r>
          </a:p>
          <a:p>
            <a:pPr algn="l">
              <a:lnSpc>
                <a:spcPct val="130000"/>
              </a:lnSpc>
            </a:pPr>
            <a:r>
              <a:rPr sz="1500" b="0">
                <a:solidFill>
                  <a:srgbClr val="1B2433"/>
                </a:solidFill>
                <a:latin typeface="맑은 고딕"/>
                <a:ea typeface="맑은 고딕"/>
                <a:cs typeface="맑은 고딕"/>
              </a:rPr>
              <a:t>최신 271 · 가이드 24</a:t>
            </a:r>
          </a:p>
        </p:txBody>
      </p:sp>
      <p:sp>
        <p:nvSpPr>
          <p:cNvPr id="13" name="Rounded Rectangle 12"/>
          <p:cNvSpPr/>
          <p:nvPr/>
        </p:nvSpPr>
        <p:spPr>
          <a:xfrm>
            <a:off x="8915400" y="1828800"/>
            <a:ext cx="2560320" cy="196596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89720" y="2057400"/>
            <a:ext cx="2011679" cy="731520"/>
          </a:xfrm>
          <a:prstGeom prst="rect">
            <a:avLst/>
          </a:prstGeom>
          <a:noFill/>
        </p:spPr>
        <p:txBody>
          <a:bodyPr wrap="square" lIns="0" rIns="0" tIns="0" bIns="0" anchor="t">
            <a:spAutoFit/>
          </a:bodyPr>
          <a:lstStyle/>
          <a:p>
            <a:pPr algn="l">
              <a:lnSpc>
                <a:spcPct val="115000"/>
              </a:lnSpc>
            </a:pPr>
            <a:r>
              <a:rPr sz="3200" b="1">
                <a:solidFill>
                  <a:srgbClr val="1F5FAE"/>
                </a:solidFill>
                <a:latin typeface="맑은 고딕"/>
                <a:ea typeface="맑은 고딕"/>
                <a:cs typeface="맑은 고딕"/>
              </a:rPr>
              <a:t>11,945개</a:t>
            </a:r>
          </a:p>
        </p:txBody>
      </p:sp>
      <p:sp>
        <p:nvSpPr>
          <p:cNvPr id="15" name="TextBox 14"/>
          <p:cNvSpPr txBox="1"/>
          <p:nvPr/>
        </p:nvSpPr>
        <p:spPr>
          <a:xfrm>
            <a:off x="9189720" y="2834640"/>
            <a:ext cx="2011679" cy="822960"/>
          </a:xfrm>
          <a:prstGeom prst="rect">
            <a:avLst/>
          </a:prstGeom>
          <a:noFill/>
        </p:spPr>
        <p:txBody>
          <a:bodyPr wrap="square" lIns="0" rIns="0" tIns="0" bIns="0" anchor="t">
            <a:spAutoFit/>
          </a:bodyPr>
          <a:lstStyle/>
          <a:p>
            <a:pPr algn="l">
              <a:lnSpc>
                <a:spcPct val="130000"/>
              </a:lnSpc>
            </a:pPr>
            <a:r>
              <a:rPr sz="1500" b="0">
                <a:solidFill>
                  <a:srgbClr val="1B2433"/>
                </a:solidFill>
                <a:latin typeface="맑은 고딕"/>
                <a:ea typeface="맑은 고딕"/>
                <a:cs typeface="맑은 고딕"/>
              </a:rPr>
              <a:t>검색용 조각 (청크)</a:t>
            </a:r>
          </a:p>
          <a:p>
            <a:pPr algn="l">
              <a:lnSpc>
                <a:spcPct val="130000"/>
              </a:lnSpc>
            </a:pPr>
            <a:r>
              <a:rPr sz="1500" b="0">
                <a:solidFill>
                  <a:srgbClr val="1B2433"/>
                </a:solidFill>
                <a:latin typeface="맑은 고딕"/>
                <a:ea typeface="맑은 고딕"/>
                <a:cs typeface="맑은 고딕"/>
              </a:rPr>
              <a:t>Chroma Cloud + BM25</a:t>
            </a:r>
          </a:p>
        </p:txBody>
      </p:sp>
      <p:sp>
        <p:nvSpPr>
          <p:cNvPr id="16" name="TextBox 15"/>
          <p:cNvSpPr txBox="1"/>
          <p:nvPr/>
        </p:nvSpPr>
        <p:spPr>
          <a:xfrm>
            <a:off x="685800" y="4114800"/>
            <a:ext cx="10789920" cy="365760"/>
          </a:xfrm>
          <a:prstGeom prst="rect">
            <a:avLst/>
          </a:prstGeom>
          <a:noFill/>
        </p:spPr>
        <p:txBody>
          <a:bodyPr wrap="square" lIns="0" rIns="0" tIns="0" bIns="0" anchor="t">
            <a:spAutoFit/>
          </a:bodyPr>
          <a:lstStyle/>
          <a:p>
            <a:pPr algn="l">
              <a:lnSpc>
                <a:spcPct val="115000"/>
              </a:lnSpc>
            </a:pPr>
            <a:r>
              <a:rPr sz="1700" b="1">
                <a:solidFill>
                  <a:srgbClr val="1B2433"/>
                </a:solidFill>
                <a:latin typeface="맑은 고딕"/>
                <a:ea typeface="맑은 고딕"/>
                <a:cs typeface="맑은 고딕"/>
              </a:rPr>
              <a:t>출처 4가지</a:t>
            </a:r>
          </a:p>
        </p:txBody>
      </p:sp>
      <p:graphicFrame>
        <p:nvGraphicFramePr>
          <p:cNvPr id="17" name="Table 16"/>
          <p:cNvGraphicFramePr>
            <a:graphicFrameLocks noGrp="1"/>
          </p:cNvGraphicFramePr>
          <p:nvPr/>
        </p:nvGraphicFramePr>
        <p:xfrm>
          <a:off x="685800" y="4526280"/>
          <a:ext cx="10817352" cy="914400"/>
        </p:xfrm>
        <a:graphic>
          <a:graphicData uri="http://schemas.openxmlformats.org/drawingml/2006/table">
            <a:tbl>
              <a:tblPr firstRow="1" bandRow="1">
                <a:tableStyleId>{5940675A-B579-460E-94D1-54222C63F5DA}</a:tableStyleId>
              </a:tblPr>
              <a:tblGrid>
                <a:gridCol w="2697480"/>
                <a:gridCol w="2697480"/>
                <a:gridCol w="2697480"/>
                <a:gridCol w="2724912"/>
              </a:tblGrid>
              <a:tr h="457200">
                <a:tc>
                  <a:txBody>
                    <a:bodyPr wrap="square"/>
                    <a:lstStyle/>
                    <a:p>
                      <a:r>
                        <a:rPr sz="1300" b="1">
                          <a:solidFill>
                            <a:srgbClr val="1B2433"/>
                          </a:solidFill>
                          <a:latin typeface="맑은 고딕"/>
                          <a:ea typeface="맑은 고딕"/>
                        </a:rPr>
                        <a:t>PyPI 패키지 코드</a:t>
                      </a:r>
                    </a:p>
                  </a:txBody>
                  <a:tcPr marL="109728" marR="109728" marT="45720" marB="45720" anchor="ctr">
                    <a:solidFill>
                      <a:srgbClr val="ECEBE5"/>
                    </a:solidFill>
                  </a:tcPr>
                </a:tc>
                <a:tc>
                  <a:txBody>
                    <a:bodyPr wrap="square"/>
                    <a:lstStyle/>
                    <a:p>
                      <a:r>
                        <a:rPr sz="1300" b="1">
                          <a:solidFill>
                            <a:srgbClr val="1B2433"/>
                          </a:solidFill>
                          <a:latin typeface="맑은 고딕"/>
                          <a:ea typeface="맑은 고딕"/>
                        </a:rPr>
                        <a:t>langchain-cli 변환 규칙</a:t>
                      </a:r>
                    </a:p>
                  </a:txBody>
                  <a:tcPr marL="109728" marR="109728" marT="45720" marB="45720" anchor="ctr">
                    <a:solidFill>
                      <a:srgbClr val="ECEBE5"/>
                    </a:solidFill>
                  </a:tcPr>
                </a:tc>
                <a:tc>
                  <a:txBody>
                    <a:bodyPr wrap="square"/>
                    <a:lstStyle/>
                    <a:p>
                      <a:r>
                        <a:rPr sz="1300" b="1">
                          <a:solidFill>
                            <a:srgbClr val="1B2433"/>
                          </a:solidFill>
                          <a:latin typeface="맑은 고딕"/>
                          <a:ea typeface="맑은 고딕"/>
                        </a:rPr>
                        <a:t>최신 공식 문서</a:t>
                      </a:r>
                    </a:p>
                  </a:txBody>
                  <a:tcPr marL="109728" marR="109728" marT="45720" marB="45720" anchor="ctr">
                    <a:solidFill>
                      <a:srgbClr val="ECEBE5"/>
                    </a:solidFill>
                  </a:tcPr>
                </a:tc>
                <a:tc>
                  <a:txBody>
                    <a:bodyPr wrap="square"/>
                    <a:lstStyle/>
                    <a:p>
                      <a:r>
                        <a:rPr sz="1300" b="1">
                          <a:solidFill>
                            <a:srgbClr val="1B2433"/>
                          </a:solidFill>
                          <a:latin typeface="맑은 고딕"/>
                          <a:ea typeface="맑은 고딕"/>
                        </a:rPr>
                        <a:t>0.3.30 옛 마이그레이션 가이드</a:t>
                      </a:r>
                    </a:p>
                  </a:txBody>
                  <a:tcPr marL="109728" marR="109728" marT="45720" marB="45720" anchor="ctr">
                    <a:solidFill>
                      <a:srgbClr val="ECEBE5"/>
                    </a:solidFill>
                  </a:tcPr>
                </a:tc>
              </a:tr>
              <a:tr h="457200">
                <a:tc>
                  <a:txBody>
                    <a:bodyPr wrap="square"/>
                    <a:lstStyle/>
                    <a:p>
                      <a:r>
                        <a:rPr sz="1300" b="0">
                          <a:solidFill>
                            <a:srgbClr val="1B2433"/>
                          </a:solidFill>
                          <a:latin typeface="맑은 고딕"/>
                          <a:ea typeface="맑은 고딕"/>
                        </a:rPr>
                        <a:t>버전별 도구 목록 23개</a:t>
                      </a:r>
                    </a:p>
                  </a:txBody>
                  <a:tcPr marL="109728" marR="109728" marT="45720" marB="45720" anchor="ctr">
                    <a:solidFill>
                      <a:srgbClr val="FFFFFF"/>
                    </a:solidFill>
                  </a:tcPr>
                </a:tc>
                <a:tc>
                  <a:txBody>
                    <a:bodyPr wrap="square"/>
                    <a:lstStyle/>
                    <a:p>
                      <a:r>
                        <a:rPr sz="1300" b="0">
                          <a:solidFill>
                            <a:srgbClr val="1B2433"/>
                          </a:solidFill>
                          <a:latin typeface="맑은 고딕"/>
                          <a:ea typeface="맑은 고딕"/>
                        </a:rPr>
                        <a:t>공식 자동 변환 규칙</a:t>
                      </a:r>
                    </a:p>
                  </a:txBody>
                  <a:tcPr marL="109728" marR="109728" marT="45720" marB="45720" anchor="ctr">
                    <a:solidFill>
                      <a:srgbClr val="FFFFFF"/>
                    </a:solidFill>
                  </a:tcPr>
                </a:tc>
                <a:tc>
                  <a:txBody>
                    <a:bodyPr wrap="square"/>
                    <a:lstStyle/>
                    <a:p>
                      <a:r>
                        <a:rPr sz="1300" b="0">
                          <a:solidFill>
                            <a:srgbClr val="1B2433"/>
                          </a:solidFill>
                          <a:latin typeface="맑은 고딕"/>
                          <a:ea typeface="맑은 고딕"/>
                        </a:rPr>
                        <a:t>임베딩: text-embedding-3-small</a:t>
                      </a:r>
                    </a:p>
                  </a:txBody>
                  <a:tcPr marL="109728" marR="109728" marT="45720" marB="45720" anchor="ctr">
                    <a:solidFill>
                      <a:srgbClr val="FFFFFF"/>
                    </a:solidFill>
                  </a:tcPr>
                </a:tc>
                <a:tc>
                  <a:txBody>
                    <a:bodyPr wrap="square"/>
                    <a:lstStyle/>
                    <a:p>
                      <a:r>
                        <a:rPr sz="1300" b="0">
                          <a:solidFill>
                            <a:srgbClr val="1B2433"/>
                          </a:solidFill>
                          <a:latin typeface="맑은 고딕"/>
                          <a:ea typeface="맑은 고딕"/>
                        </a:rPr>
                        <a:t>옛 방식 → 새 방식 설명</a:t>
                      </a:r>
                    </a:p>
                  </a:txBody>
                  <a:tcPr marL="109728" marR="109728" marT="45720" marB="45720" anchor="ctr">
                    <a:solidFill>
                      <a:srgbClr val="FFFFFF"/>
                    </a:solidFill>
                  </a:tcPr>
                </a:tc>
              </a:tr>
            </a:tbl>
          </a:graphicData>
        </a:graphic>
      </p:graphicFrame>
      <p:sp>
        <p:nvSpPr>
          <p:cNvPr id="18" name="TextBox 17"/>
          <p:cNvSpPr txBox="1"/>
          <p:nvPr/>
        </p:nvSpPr>
        <p:spPr>
          <a:xfrm>
            <a:off x="685800" y="6327648"/>
            <a:ext cx="10789920" cy="274320"/>
          </a:xfrm>
          <a:prstGeom prst="rect">
            <a:avLst/>
          </a:prstGeom>
          <a:noFill/>
        </p:spPr>
        <p:txBody>
          <a:bodyPr wrap="square" lIns="0" rIns="0" tIns="0" bIns="0" anchor="t">
            <a:spAutoFit/>
          </a:bodyPr>
          <a:lstStyle/>
          <a:p>
            <a:pPr algn="l">
              <a:lnSpc>
                <a:spcPct val="115000"/>
              </a:lnSpc>
            </a:pPr>
            <a:r>
              <a:rPr sz="1100" b="0">
                <a:solidFill>
                  <a:srgbClr val="8A8F98"/>
                </a:solidFill>
                <a:latin typeface="맑은 고딕"/>
                <a:ea typeface="맑은 고딕"/>
                <a:cs typeface="맑은 고딕"/>
              </a:rPr>
              <a:t>LangChain 마이그레이션 도우미 · 6 · 2026-10-14 팀 저장소 기준</a:t>
            </a:r>
          </a:p>
        </p:txBody>
      </p:sp>
      <p:sp>
        <p:nvSpPr>
          <p:cNvPr id="19" name="Rectangle 18"/>
          <p:cNvSpPr/>
          <p:nvPr/>
        </p:nvSpPr>
        <p:spPr>
          <a:xfrm>
            <a:off x="0" y="6803136"/>
            <a:ext cx="12191695" cy="54864"/>
          </a:xfrm>
          <a:prstGeom prst="rect">
            <a:avLst/>
          </a:prstGeom>
          <a:solidFill>
            <a:srgbClr val="E1E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6803136"/>
            <a:ext cx="4063898" cy="54864"/>
          </a:xfrm>
          <a:prstGeom prst="rect">
            <a:avLst/>
          </a:prstGeom>
          <a:solidFill>
            <a:srgbClr val="1F5F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566928"/>
            <a:ext cx="5486400" cy="274320"/>
          </a:xfrm>
          <a:prstGeom prst="rect">
            <a:avLst/>
          </a:prstGeom>
          <a:noFill/>
        </p:spPr>
        <p:txBody>
          <a:bodyPr wrap="square" lIns="0" rIns="0" tIns="0" bIns="0" anchor="t">
            <a:spAutoFit/>
          </a:bodyPr>
          <a:lstStyle/>
          <a:p>
            <a:pPr algn="r">
              <a:lnSpc>
                <a:spcPct val="115000"/>
              </a:lnSpc>
            </a:pPr>
            <a:r>
              <a:rPr sz="1000" b="0">
                <a:solidFill>
                  <a:srgbClr val="8A8F98"/>
                </a:solidFill>
                <a:latin typeface="맑은 고딕"/>
                <a:ea typeface="맑은 고딕"/>
                <a:cs typeface="맑은 고딕"/>
              </a:rPr>
              <a:t>문제와 해결   ● 만든 것   평가와 결과   배운 것</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5F1"/>
        </a:solidFill>
        <a:effectLst/>
      </p:bgPr>
    </p:bg>
    <p:spTree>
      <p:nvGrpSpPr>
        <p:cNvPr id="1" name=""/>
        <p:cNvGrpSpPr/>
        <p:nvPr/>
      </p:nvGrpSpPr>
      <p:grpSpPr/>
      <p:sp>
        <p:nvSpPr>
          <p:cNvPr id="2" name="TextBox 1"/>
          <p:cNvSpPr txBox="1"/>
          <p:nvPr/>
        </p:nvSpPr>
        <p:spPr>
          <a:xfrm>
            <a:off x="685800" y="566928"/>
            <a:ext cx="10789920" cy="274320"/>
          </a:xfrm>
          <a:prstGeom prst="rect">
            <a:avLst/>
          </a:prstGeom>
          <a:noFill/>
        </p:spPr>
        <p:txBody>
          <a:bodyPr wrap="square" lIns="0" rIns="0" tIns="0" bIns="0" anchor="t">
            <a:spAutoFit/>
          </a:bodyPr>
          <a:lstStyle/>
          <a:p>
            <a:pPr algn="l">
              <a:lnSpc>
                <a:spcPct val="115000"/>
              </a:lnSpc>
            </a:pPr>
            <a:r>
              <a:rPr sz="1300" b="1">
                <a:solidFill>
                  <a:srgbClr val="1F5FAE"/>
                </a:solidFill>
                <a:latin typeface="맑은 고딕"/>
                <a:ea typeface="맑은 고딕"/>
                <a:cs typeface="맑은 고딕"/>
              </a:rPr>
              <a:t>시스템 구조 · 1번</a:t>
            </a:r>
          </a:p>
        </p:txBody>
      </p:sp>
      <p:sp>
        <p:nvSpPr>
          <p:cNvPr id="3" name="TextBox 2"/>
          <p:cNvSpPr txBox="1"/>
          <p:nvPr/>
        </p:nvSpPr>
        <p:spPr>
          <a:xfrm>
            <a:off x="685800" y="868680"/>
            <a:ext cx="10789920" cy="731520"/>
          </a:xfrm>
          <a:prstGeom prst="rect">
            <a:avLst/>
          </a:prstGeom>
          <a:noFill/>
        </p:spPr>
        <p:txBody>
          <a:bodyPr wrap="square" lIns="0" rIns="0" tIns="0" bIns="0" anchor="t">
            <a:spAutoFit/>
          </a:bodyPr>
          <a:lstStyle/>
          <a:p>
            <a:pPr algn="l">
              <a:lnSpc>
                <a:spcPct val="115000"/>
              </a:lnSpc>
            </a:pPr>
            <a:r>
              <a:rPr sz="3200" b="1">
                <a:solidFill>
                  <a:srgbClr val="1B2433"/>
                </a:solidFill>
                <a:latin typeface="맑은 고딕"/>
                <a:ea typeface="맑은 고딕"/>
                <a:cs typeface="맑은 고딕"/>
              </a:rPr>
              <a:t>네 단계를 거치고, 실패하면 되돌아갑니다</a:t>
            </a:r>
          </a:p>
        </p:txBody>
      </p:sp>
      <p:sp>
        <p:nvSpPr>
          <p:cNvPr id="4" name="TextBox 3"/>
          <p:cNvSpPr txBox="1"/>
          <p:nvPr/>
        </p:nvSpPr>
        <p:spPr>
          <a:xfrm>
            <a:off x="685800" y="1554480"/>
            <a:ext cx="10789920" cy="365760"/>
          </a:xfrm>
          <a:prstGeom prst="rect">
            <a:avLst/>
          </a:prstGeom>
          <a:noFill/>
        </p:spPr>
        <p:txBody>
          <a:bodyPr wrap="square" lIns="0" rIns="0" tIns="0" bIns="0" anchor="t">
            <a:spAutoFit/>
          </a:bodyPr>
          <a:lstStyle/>
          <a:p>
            <a:pPr algn="l">
              <a:lnSpc>
                <a:spcPct val="115000"/>
              </a:lnSpc>
            </a:pPr>
            <a:r>
              <a:rPr sz="1400" b="0">
                <a:solidFill>
                  <a:srgbClr val="4A5363"/>
                </a:solidFill>
                <a:latin typeface="맑은 고딕"/>
                <a:ea typeface="맑은 고딕"/>
                <a:cs typeface="맑은 고딕"/>
              </a:rPr>
              <a:t>질문 분류(migration · langchain · general) → 코드 변환 요청이면 아래 파이프라인 (LangGraph)</a:t>
            </a:r>
          </a:p>
        </p:txBody>
      </p:sp>
      <p:sp>
        <p:nvSpPr>
          <p:cNvPr id="5" name="Rounded Rectangle 4"/>
          <p:cNvSpPr/>
          <p:nvPr/>
        </p:nvSpPr>
        <p:spPr>
          <a:xfrm>
            <a:off x="685800" y="2148840"/>
            <a:ext cx="1874519" cy="160020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68680" y="2313432"/>
            <a:ext cx="1508760" cy="274320"/>
          </a:xfrm>
          <a:prstGeom prst="rect">
            <a:avLst/>
          </a:prstGeom>
          <a:noFill/>
        </p:spPr>
        <p:txBody>
          <a:bodyPr wrap="square" lIns="0" rIns="0" tIns="0" bIns="0" anchor="t">
            <a:spAutoFit/>
          </a:bodyPr>
          <a:lstStyle/>
          <a:p>
            <a:pPr algn="l">
              <a:lnSpc>
                <a:spcPct val="115000"/>
              </a:lnSpc>
            </a:pPr>
            <a:r>
              <a:rPr sz="1200" b="0">
                <a:solidFill>
                  <a:srgbClr val="8A8F98"/>
                </a:solidFill>
                <a:latin typeface="맑은 고딕"/>
                <a:ea typeface="맑은 고딕"/>
                <a:cs typeface="맑은 고딕"/>
              </a:rPr>
              <a:t>담당 1번</a:t>
            </a:r>
          </a:p>
        </p:txBody>
      </p:sp>
      <p:sp>
        <p:nvSpPr>
          <p:cNvPr id="7" name="TextBox 6"/>
          <p:cNvSpPr txBox="1"/>
          <p:nvPr/>
        </p:nvSpPr>
        <p:spPr>
          <a:xfrm>
            <a:off x="868680" y="2587752"/>
            <a:ext cx="1508760" cy="365760"/>
          </a:xfrm>
          <a:prstGeom prst="rect">
            <a:avLst/>
          </a:prstGeom>
          <a:noFill/>
        </p:spPr>
        <p:txBody>
          <a:bodyPr wrap="square" lIns="0" rIns="0" tIns="0" bIns="0" anchor="t">
            <a:spAutoFit/>
          </a:bodyPr>
          <a:lstStyle/>
          <a:p>
            <a:pPr algn="l">
              <a:lnSpc>
                <a:spcPct val="115000"/>
              </a:lnSpc>
            </a:pPr>
            <a:r>
              <a:rPr sz="1700" b="1">
                <a:solidFill>
                  <a:srgbClr val="1B2433"/>
                </a:solidFill>
                <a:latin typeface="맑은 고딕"/>
                <a:ea typeface="맑은 고딕"/>
                <a:cs typeface="맑은 고딕"/>
              </a:rPr>
              <a:t>① analyzer</a:t>
            </a:r>
          </a:p>
        </p:txBody>
      </p:sp>
      <p:sp>
        <p:nvSpPr>
          <p:cNvPr id="8" name="TextBox 7"/>
          <p:cNvSpPr txBox="1"/>
          <p:nvPr/>
        </p:nvSpPr>
        <p:spPr>
          <a:xfrm>
            <a:off x="868680" y="2990088"/>
            <a:ext cx="1508760" cy="731520"/>
          </a:xfrm>
          <a:prstGeom prst="rect">
            <a:avLst/>
          </a:prstGeom>
          <a:noFill/>
        </p:spPr>
        <p:txBody>
          <a:bodyPr wrap="square" lIns="0" rIns="0" tIns="0" bIns="0" anchor="t">
            <a:spAutoFit/>
          </a:bodyPr>
          <a:lstStyle/>
          <a:p>
            <a:pPr algn="l">
              <a:lnSpc>
                <a:spcPct val="125000"/>
              </a:lnSpc>
            </a:pPr>
            <a:r>
              <a:rPr sz="1300" b="0">
                <a:solidFill>
                  <a:srgbClr val="4A5363"/>
                </a:solidFill>
                <a:latin typeface="맑은 고딕"/>
                <a:ea typeface="맑은 고딕"/>
                <a:cs typeface="맑은 고딕"/>
              </a:rPr>
              <a:t>바꿀 부분 찾기</a:t>
            </a:r>
          </a:p>
        </p:txBody>
      </p:sp>
      <p:cxnSp>
        <p:nvCxnSpPr>
          <p:cNvPr id="9" name="Connector 8"/>
          <p:cNvCxnSpPr/>
          <p:nvPr/>
        </p:nvCxnSpPr>
        <p:spPr>
          <a:xfrm>
            <a:off x="2596896" y="2944368"/>
            <a:ext cx="283464" cy="0"/>
          </a:xfrm>
          <a:prstGeom prst="line">
            <a:avLst/>
          </a:prstGeom>
          <a:ln w="19050">
            <a:solidFill>
              <a:srgbClr val="8A8F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916936" y="2148840"/>
            <a:ext cx="1874519" cy="160020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099816" y="2313432"/>
            <a:ext cx="1508760" cy="274320"/>
          </a:xfrm>
          <a:prstGeom prst="rect">
            <a:avLst/>
          </a:prstGeom>
          <a:noFill/>
        </p:spPr>
        <p:txBody>
          <a:bodyPr wrap="square" lIns="0" rIns="0" tIns="0" bIns="0" anchor="t">
            <a:spAutoFit/>
          </a:bodyPr>
          <a:lstStyle/>
          <a:p>
            <a:pPr algn="l">
              <a:lnSpc>
                <a:spcPct val="115000"/>
              </a:lnSpc>
            </a:pPr>
            <a:r>
              <a:rPr sz="1200" b="0">
                <a:solidFill>
                  <a:srgbClr val="8A8F98"/>
                </a:solidFill>
                <a:latin typeface="맑은 고딕"/>
                <a:ea typeface="맑은 고딕"/>
                <a:cs typeface="맑은 고딕"/>
              </a:rPr>
              <a:t>담당 2번</a:t>
            </a:r>
          </a:p>
        </p:txBody>
      </p:sp>
      <p:sp>
        <p:nvSpPr>
          <p:cNvPr id="12" name="TextBox 11"/>
          <p:cNvSpPr txBox="1"/>
          <p:nvPr/>
        </p:nvSpPr>
        <p:spPr>
          <a:xfrm>
            <a:off x="3099816" y="2587752"/>
            <a:ext cx="1508760" cy="365760"/>
          </a:xfrm>
          <a:prstGeom prst="rect">
            <a:avLst/>
          </a:prstGeom>
          <a:noFill/>
        </p:spPr>
        <p:txBody>
          <a:bodyPr wrap="square" lIns="0" rIns="0" tIns="0" bIns="0" anchor="t">
            <a:spAutoFit/>
          </a:bodyPr>
          <a:lstStyle/>
          <a:p>
            <a:pPr algn="l">
              <a:lnSpc>
                <a:spcPct val="115000"/>
              </a:lnSpc>
            </a:pPr>
            <a:r>
              <a:rPr sz="1700" b="1">
                <a:solidFill>
                  <a:srgbClr val="1B2433"/>
                </a:solidFill>
                <a:latin typeface="맑은 고딕"/>
                <a:ea typeface="맑은 고딕"/>
                <a:cs typeface="맑은 고딕"/>
              </a:rPr>
              <a:t>② retriever</a:t>
            </a:r>
          </a:p>
        </p:txBody>
      </p:sp>
      <p:sp>
        <p:nvSpPr>
          <p:cNvPr id="13" name="TextBox 12"/>
          <p:cNvSpPr txBox="1"/>
          <p:nvPr/>
        </p:nvSpPr>
        <p:spPr>
          <a:xfrm>
            <a:off x="3099816" y="2990088"/>
            <a:ext cx="1508760" cy="731520"/>
          </a:xfrm>
          <a:prstGeom prst="rect">
            <a:avLst/>
          </a:prstGeom>
          <a:noFill/>
        </p:spPr>
        <p:txBody>
          <a:bodyPr wrap="square" lIns="0" rIns="0" tIns="0" bIns="0" anchor="t">
            <a:spAutoFit/>
          </a:bodyPr>
          <a:lstStyle/>
          <a:p>
            <a:pPr algn="l">
              <a:lnSpc>
                <a:spcPct val="125000"/>
              </a:lnSpc>
            </a:pPr>
            <a:r>
              <a:rPr sz="1300" b="0">
                <a:solidFill>
                  <a:srgbClr val="4A5363"/>
                </a:solidFill>
                <a:latin typeface="맑은 고딕"/>
                <a:ea typeface="맑은 고딕"/>
                <a:cs typeface="맑은 고딕"/>
              </a:rPr>
              <a:t>대응표 정확 매칭</a:t>
            </a:r>
          </a:p>
          <a:p>
            <a:pPr algn="l">
              <a:lnSpc>
                <a:spcPct val="125000"/>
              </a:lnSpc>
            </a:pPr>
            <a:r>
              <a:rPr sz="1300" b="0">
                <a:solidFill>
                  <a:srgbClr val="4A5363"/>
                </a:solidFill>
                <a:latin typeface="맑은 고딕"/>
                <a:ea typeface="맑은 고딕"/>
                <a:cs typeface="맑은 고딕"/>
              </a:rPr>
              <a:t>+ 하이브리드 검색</a:t>
            </a:r>
          </a:p>
        </p:txBody>
      </p:sp>
      <p:cxnSp>
        <p:nvCxnSpPr>
          <p:cNvPr id="14" name="Connector 13"/>
          <p:cNvCxnSpPr/>
          <p:nvPr/>
        </p:nvCxnSpPr>
        <p:spPr>
          <a:xfrm>
            <a:off x="4828032" y="2944368"/>
            <a:ext cx="283464" cy="0"/>
          </a:xfrm>
          <a:prstGeom prst="line">
            <a:avLst/>
          </a:prstGeom>
          <a:ln w="19050">
            <a:solidFill>
              <a:srgbClr val="8A8F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48072" y="2148840"/>
            <a:ext cx="1874519" cy="160020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330952" y="2313432"/>
            <a:ext cx="1508760" cy="274320"/>
          </a:xfrm>
          <a:prstGeom prst="rect">
            <a:avLst/>
          </a:prstGeom>
          <a:noFill/>
        </p:spPr>
        <p:txBody>
          <a:bodyPr wrap="square" lIns="0" rIns="0" tIns="0" bIns="0" anchor="t">
            <a:spAutoFit/>
          </a:bodyPr>
          <a:lstStyle/>
          <a:p>
            <a:pPr algn="l">
              <a:lnSpc>
                <a:spcPct val="115000"/>
              </a:lnSpc>
            </a:pPr>
            <a:r>
              <a:rPr sz="1200" b="0">
                <a:solidFill>
                  <a:srgbClr val="8A8F98"/>
                </a:solidFill>
                <a:latin typeface="맑은 고딕"/>
                <a:ea typeface="맑은 고딕"/>
                <a:cs typeface="맑은 고딕"/>
              </a:rPr>
              <a:t>담당 3번</a:t>
            </a:r>
          </a:p>
        </p:txBody>
      </p:sp>
      <p:sp>
        <p:nvSpPr>
          <p:cNvPr id="17" name="TextBox 16"/>
          <p:cNvSpPr txBox="1"/>
          <p:nvPr/>
        </p:nvSpPr>
        <p:spPr>
          <a:xfrm>
            <a:off x="5330952" y="2587752"/>
            <a:ext cx="1508760" cy="365760"/>
          </a:xfrm>
          <a:prstGeom prst="rect">
            <a:avLst/>
          </a:prstGeom>
          <a:noFill/>
        </p:spPr>
        <p:txBody>
          <a:bodyPr wrap="square" lIns="0" rIns="0" tIns="0" bIns="0" anchor="t">
            <a:spAutoFit/>
          </a:bodyPr>
          <a:lstStyle/>
          <a:p>
            <a:pPr algn="l">
              <a:lnSpc>
                <a:spcPct val="115000"/>
              </a:lnSpc>
            </a:pPr>
            <a:r>
              <a:rPr sz="1700" b="1">
                <a:solidFill>
                  <a:srgbClr val="1B2433"/>
                </a:solidFill>
                <a:latin typeface="맑은 고딕"/>
                <a:ea typeface="맑은 고딕"/>
                <a:cs typeface="맑은 고딕"/>
              </a:rPr>
              <a:t>③ rewriter</a:t>
            </a:r>
          </a:p>
        </p:txBody>
      </p:sp>
      <p:sp>
        <p:nvSpPr>
          <p:cNvPr id="18" name="TextBox 17"/>
          <p:cNvSpPr txBox="1"/>
          <p:nvPr/>
        </p:nvSpPr>
        <p:spPr>
          <a:xfrm>
            <a:off x="5330952" y="2990088"/>
            <a:ext cx="1508760" cy="731520"/>
          </a:xfrm>
          <a:prstGeom prst="rect">
            <a:avLst/>
          </a:prstGeom>
          <a:noFill/>
        </p:spPr>
        <p:txBody>
          <a:bodyPr wrap="square" lIns="0" rIns="0" tIns="0" bIns="0" anchor="t">
            <a:spAutoFit/>
          </a:bodyPr>
          <a:lstStyle/>
          <a:p>
            <a:pPr algn="l">
              <a:lnSpc>
                <a:spcPct val="125000"/>
              </a:lnSpc>
            </a:pPr>
            <a:r>
              <a:rPr sz="1300" b="0">
                <a:solidFill>
                  <a:srgbClr val="4A5363"/>
                </a:solidFill>
                <a:latin typeface="맑은 고딕"/>
                <a:ea typeface="맑은 고딕"/>
                <a:cs typeface="맑은 고딕"/>
              </a:rPr>
              <a:t>근거 ID를 붙여</a:t>
            </a:r>
          </a:p>
          <a:p>
            <a:pPr algn="l">
              <a:lnSpc>
                <a:spcPct val="125000"/>
              </a:lnSpc>
            </a:pPr>
            <a:r>
              <a:rPr sz="1300" b="0">
                <a:solidFill>
                  <a:srgbClr val="4A5363"/>
                </a:solidFill>
                <a:latin typeface="맑은 고딕"/>
                <a:ea typeface="맑은 고딕"/>
                <a:cs typeface="맑은 고딕"/>
              </a:rPr>
              <a:t>코드 다시 쓰기</a:t>
            </a:r>
          </a:p>
        </p:txBody>
      </p:sp>
      <p:cxnSp>
        <p:nvCxnSpPr>
          <p:cNvPr id="19" name="Connector 18"/>
          <p:cNvCxnSpPr/>
          <p:nvPr/>
        </p:nvCxnSpPr>
        <p:spPr>
          <a:xfrm>
            <a:off x="7059168" y="2944368"/>
            <a:ext cx="283464" cy="0"/>
          </a:xfrm>
          <a:prstGeom prst="line">
            <a:avLst/>
          </a:prstGeom>
          <a:ln w="19050">
            <a:solidFill>
              <a:srgbClr val="8A8F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79208" y="2148840"/>
            <a:ext cx="1874519" cy="1600200"/>
          </a:xfrm>
          <a:prstGeom prst="roundRect">
            <a:avLst>
              <a:gd name="adj" fmla="val 6000"/>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562088" y="2313432"/>
            <a:ext cx="1508760" cy="274320"/>
          </a:xfrm>
          <a:prstGeom prst="rect">
            <a:avLst/>
          </a:prstGeom>
          <a:noFill/>
        </p:spPr>
        <p:txBody>
          <a:bodyPr wrap="square" lIns="0" rIns="0" tIns="0" bIns="0" anchor="t">
            <a:spAutoFit/>
          </a:bodyPr>
          <a:lstStyle/>
          <a:p>
            <a:pPr algn="l">
              <a:lnSpc>
                <a:spcPct val="115000"/>
              </a:lnSpc>
            </a:pPr>
            <a:r>
              <a:rPr sz="1200" b="0">
                <a:solidFill>
                  <a:srgbClr val="D6E5F8"/>
                </a:solidFill>
                <a:latin typeface="맑은 고딕"/>
                <a:ea typeface="맑은 고딕"/>
                <a:cs typeface="맑은 고딕"/>
              </a:rPr>
              <a:t>담당 3번</a:t>
            </a:r>
          </a:p>
        </p:txBody>
      </p:sp>
      <p:sp>
        <p:nvSpPr>
          <p:cNvPr id="22" name="TextBox 21"/>
          <p:cNvSpPr txBox="1"/>
          <p:nvPr/>
        </p:nvSpPr>
        <p:spPr>
          <a:xfrm>
            <a:off x="7562088" y="2587752"/>
            <a:ext cx="1508760" cy="365760"/>
          </a:xfrm>
          <a:prstGeom prst="rect">
            <a:avLst/>
          </a:prstGeom>
          <a:noFill/>
        </p:spPr>
        <p:txBody>
          <a:bodyPr wrap="square" lIns="0" rIns="0" tIns="0" bIns="0" anchor="t">
            <a:spAutoFit/>
          </a:bodyPr>
          <a:lstStyle/>
          <a:p>
            <a:pPr algn="l">
              <a:lnSpc>
                <a:spcPct val="115000"/>
              </a:lnSpc>
            </a:pPr>
            <a:r>
              <a:rPr sz="1700" b="1">
                <a:solidFill>
                  <a:srgbClr val="FFFFFF"/>
                </a:solidFill>
                <a:latin typeface="맑은 고딕"/>
                <a:ea typeface="맑은 고딕"/>
                <a:cs typeface="맑은 고딕"/>
              </a:rPr>
              <a:t>④ verifier</a:t>
            </a:r>
          </a:p>
        </p:txBody>
      </p:sp>
      <p:sp>
        <p:nvSpPr>
          <p:cNvPr id="23" name="TextBox 22"/>
          <p:cNvSpPr txBox="1"/>
          <p:nvPr/>
        </p:nvSpPr>
        <p:spPr>
          <a:xfrm>
            <a:off x="7562088" y="2990088"/>
            <a:ext cx="1508760" cy="731520"/>
          </a:xfrm>
          <a:prstGeom prst="rect">
            <a:avLst/>
          </a:prstGeom>
          <a:noFill/>
        </p:spPr>
        <p:txBody>
          <a:bodyPr wrap="square" lIns="0" rIns="0" tIns="0" bIns="0" anchor="t">
            <a:spAutoFit/>
          </a:bodyPr>
          <a:lstStyle/>
          <a:p>
            <a:pPr algn="l">
              <a:lnSpc>
                <a:spcPct val="125000"/>
              </a:lnSpc>
            </a:pPr>
            <a:r>
              <a:rPr sz="1300" b="0">
                <a:solidFill>
                  <a:srgbClr val="E4EEFB"/>
                </a:solidFill>
                <a:latin typeface="맑은 고딕"/>
                <a:ea typeface="맑은 고딕"/>
                <a:cs typeface="맑은 고딕"/>
              </a:rPr>
              <a:t>LLM 없이</a:t>
            </a:r>
          </a:p>
          <a:p>
            <a:pPr algn="l">
              <a:lnSpc>
                <a:spcPct val="125000"/>
              </a:lnSpc>
            </a:pPr>
            <a:r>
              <a:rPr sz="1300" b="0">
                <a:solidFill>
                  <a:srgbClr val="E4EEFB"/>
                </a:solidFill>
                <a:latin typeface="맑은 고딕"/>
                <a:ea typeface="맑은 고딕"/>
                <a:cs typeface="맑은 고딕"/>
              </a:rPr>
              <a:t>11가지 검사</a:t>
            </a:r>
          </a:p>
        </p:txBody>
      </p:sp>
      <p:cxnSp>
        <p:nvCxnSpPr>
          <p:cNvPr id="24" name="Connector 23"/>
          <p:cNvCxnSpPr/>
          <p:nvPr/>
        </p:nvCxnSpPr>
        <p:spPr>
          <a:xfrm>
            <a:off x="9290304" y="2944368"/>
            <a:ext cx="283464" cy="0"/>
          </a:xfrm>
          <a:prstGeom prst="line">
            <a:avLst/>
          </a:prstGeom>
          <a:ln w="19050">
            <a:solidFill>
              <a:srgbClr val="8A8F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610344" y="2148840"/>
            <a:ext cx="1874519" cy="160020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793224" y="2313432"/>
            <a:ext cx="1508760" cy="274320"/>
          </a:xfrm>
          <a:prstGeom prst="rect">
            <a:avLst/>
          </a:prstGeom>
          <a:noFill/>
        </p:spPr>
        <p:txBody>
          <a:bodyPr wrap="square" lIns="0" rIns="0" tIns="0" bIns="0" anchor="t">
            <a:spAutoFit/>
          </a:bodyPr>
          <a:lstStyle/>
          <a:p>
            <a:pPr algn="l">
              <a:lnSpc>
                <a:spcPct val="115000"/>
              </a:lnSpc>
            </a:pPr>
            <a:r>
              <a:rPr sz="1200" b="0">
                <a:solidFill>
                  <a:srgbClr val="8A8F98"/>
                </a:solidFill>
                <a:latin typeface="맑은 고딕"/>
                <a:ea typeface="맑은 고딕"/>
                <a:cs typeface="맑은 고딕"/>
              </a:rPr>
              <a:t>담당 4번</a:t>
            </a:r>
          </a:p>
        </p:txBody>
      </p:sp>
      <p:sp>
        <p:nvSpPr>
          <p:cNvPr id="27" name="TextBox 26"/>
          <p:cNvSpPr txBox="1"/>
          <p:nvPr/>
        </p:nvSpPr>
        <p:spPr>
          <a:xfrm>
            <a:off x="9793224" y="2587752"/>
            <a:ext cx="1508760" cy="365760"/>
          </a:xfrm>
          <a:prstGeom prst="rect">
            <a:avLst/>
          </a:prstGeom>
          <a:noFill/>
        </p:spPr>
        <p:txBody>
          <a:bodyPr wrap="square" lIns="0" rIns="0" tIns="0" bIns="0" anchor="t">
            <a:spAutoFit/>
          </a:bodyPr>
          <a:lstStyle/>
          <a:p>
            <a:pPr algn="l">
              <a:lnSpc>
                <a:spcPct val="115000"/>
              </a:lnSpc>
            </a:pPr>
            <a:r>
              <a:rPr sz="1700" b="1">
                <a:solidFill>
                  <a:srgbClr val="1B2433"/>
                </a:solidFill>
                <a:latin typeface="맑은 고딕"/>
                <a:ea typeface="맑은 고딕"/>
                <a:cs typeface="맑은 고딕"/>
              </a:rPr>
              <a:t>결과 → 화면</a:t>
            </a:r>
          </a:p>
        </p:txBody>
      </p:sp>
      <p:sp>
        <p:nvSpPr>
          <p:cNvPr id="28" name="TextBox 27"/>
          <p:cNvSpPr txBox="1"/>
          <p:nvPr/>
        </p:nvSpPr>
        <p:spPr>
          <a:xfrm>
            <a:off x="9793224" y="2990088"/>
            <a:ext cx="1508760" cy="731520"/>
          </a:xfrm>
          <a:prstGeom prst="rect">
            <a:avLst/>
          </a:prstGeom>
          <a:noFill/>
        </p:spPr>
        <p:txBody>
          <a:bodyPr wrap="square" lIns="0" rIns="0" tIns="0" bIns="0" anchor="t">
            <a:spAutoFit/>
          </a:bodyPr>
          <a:lstStyle/>
          <a:p>
            <a:pPr algn="l">
              <a:lnSpc>
                <a:spcPct val="125000"/>
              </a:lnSpc>
            </a:pPr>
            <a:r>
              <a:rPr sz="1300" b="0">
                <a:solidFill>
                  <a:srgbClr val="4A5363"/>
                </a:solidFill>
                <a:latin typeface="맑은 고딕"/>
                <a:ea typeface="맑은 고딕"/>
                <a:cs typeface="맑은 고딕"/>
              </a:rPr>
              <a:t>결과 패널 표시</a:t>
            </a:r>
          </a:p>
          <a:p>
            <a:pPr algn="l">
              <a:lnSpc>
                <a:spcPct val="125000"/>
              </a:lnSpc>
            </a:pPr>
            <a:r>
              <a:rPr sz="1300" b="0">
                <a:solidFill>
                  <a:srgbClr val="4A5363"/>
                </a:solidFill>
                <a:latin typeface="맑은 고딕"/>
                <a:ea typeface="맑은 고딕"/>
                <a:cs typeface="맑은 고딕"/>
              </a:rPr>
              <a:t>TiDB에 대화 저장</a:t>
            </a:r>
          </a:p>
        </p:txBody>
      </p:sp>
      <p:cxnSp>
        <p:nvCxnSpPr>
          <p:cNvPr id="29" name="Connector 28"/>
          <p:cNvCxnSpPr/>
          <p:nvPr/>
        </p:nvCxnSpPr>
        <p:spPr>
          <a:xfrm>
            <a:off x="8316468" y="3749039"/>
            <a:ext cx="0" cy="594361"/>
          </a:xfrm>
          <a:prstGeom prst="line">
            <a:avLst/>
          </a:prstGeom>
          <a:ln w="19050">
            <a:solidFill>
              <a:srgbClr val="B4471B"/>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3854196" y="4343400"/>
            <a:ext cx="4462272" cy="0"/>
          </a:xfrm>
          <a:prstGeom prst="line">
            <a:avLst/>
          </a:prstGeom>
          <a:ln w="19050">
            <a:solidFill>
              <a:srgbClr val="B4471B"/>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854196" y="3794760"/>
            <a:ext cx="0" cy="548640"/>
          </a:xfrm>
          <a:prstGeom prst="line">
            <a:avLst/>
          </a:prstGeom>
          <a:ln w="19050">
            <a:solidFill>
              <a:srgbClr val="B4471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939796" y="4434840"/>
            <a:ext cx="6291072" cy="365760"/>
          </a:xfrm>
          <a:prstGeom prst="rect">
            <a:avLst/>
          </a:prstGeom>
          <a:noFill/>
        </p:spPr>
        <p:txBody>
          <a:bodyPr wrap="square" lIns="0" rIns="0" tIns="0" bIns="0" anchor="t">
            <a:spAutoFit/>
          </a:bodyPr>
          <a:lstStyle/>
          <a:p>
            <a:pPr algn="ctr">
              <a:lnSpc>
                <a:spcPct val="115000"/>
              </a:lnSpc>
            </a:pPr>
            <a:r>
              <a:rPr sz="1400" b="1">
                <a:solidFill>
                  <a:srgbClr val="B4471B"/>
                </a:solidFill>
                <a:latin typeface="맑은 고딕"/>
                <a:ea typeface="맑은 고딕"/>
                <a:cs typeface="맑은 고딕"/>
              </a:rPr>
              <a:t>검증 실패 → 실패 이유 + 틀린 근거 제외로 다시 검색 (최대 3회)</a:t>
            </a:r>
          </a:p>
        </p:txBody>
      </p:sp>
      <p:sp>
        <p:nvSpPr>
          <p:cNvPr id="33" name="TextBox 32"/>
          <p:cNvSpPr txBox="1"/>
          <p:nvPr/>
        </p:nvSpPr>
        <p:spPr>
          <a:xfrm>
            <a:off x="685800" y="5257800"/>
            <a:ext cx="10789920" cy="365760"/>
          </a:xfrm>
          <a:prstGeom prst="rect">
            <a:avLst/>
          </a:prstGeom>
          <a:noFill/>
        </p:spPr>
        <p:txBody>
          <a:bodyPr wrap="square" lIns="0" rIns="0" tIns="0" bIns="0" anchor="t">
            <a:spAutoFit/>
          </a:bodyPr>
          <a:lstStyle/>
          <a:p>
            <a:pPr algn="l">
              <a:lnSpc>
                <a:spcPct val="115000"/>
              </a:lnSpc>
            </a:pPr>
            <a:r>
              <a:rPr sz="1400" b="0">
                <a:solidFill>
                  <a:srgbClr val="4A5363"/>
                </a:solidFill>
                <a:latin typeface="맑은 고딕"/>
                <a:ea typeface="맑은 고딕"/>
                <a:cs typeface="맑은 고딕"/>
              </a:rPr>
              <a:t>연결 · 재시도 판단 · 질문 분류: 1번 (LangGraph)   ·   변환 기준: LangChain 1.4.4   ·   모델: gpt-4o-mini</a:t>
            </a:r>
          </a:p>
        </p:txBody>
      </p:sp>
      <p:sp>
        <p:nvSpPr>
          <p:cNvPr id="34" name="TextBox 33"/>
          <p:cNvSpPr txBox="1"/>
          <p:nvPr/>
        </p:nvSpPr>
        <p:spPr>
          <a:xfrm>
            <a:off x="685800" y="6327648"/>
            <a:ext cx="10789920" cy="274320"/>
          </a:xfrm>
          <a:prstGeom prst="rect">
            <a:avLst/>
          </a:prstGeom>
          <a:noFill/>
        </p:spPr>
        <p:txBody>
          <a:bodyPr wrap="square" lIns="0" rIns="0" tIns="0" bIns="0" anchor="t">
            <a:spAutoFit/>
          </a:bodyPr>
          <a:lstStyle/>
          <a:p>
            <a:pPr algn="l">
              <a:lnSpc>
                <a:spcPct val="115000"/>
              </a:lnSpc>
            </a:pPr>
            <a:r>
              <a:rPr sz="1100" b="0">
                <a:solidFill>
                  <a:srgbClr val="8A8F98"/>
                </a:solidFill>
                <a:latin typeface="맑은 고딕"/>
                <a:ea typeface="맑은 고딕"/>
                <a:cs typeface="맑은 고딕"/>
              </a:rPr>
              <a:t>LangChain 마이그레이션 도우미 · 7</a:t>
            </a:r>
          </a:p>
        </p:txBody>
      </p:sp>
      <p:sp>
        <p:nvSpPr>
          <p:cNvPr id="35" name="Rectangle 34"/>
          <p:cNvSpPr/>
          <p:nvPr/>
        </p:nvSpPr>
        <p:spPr>
          <a:xfrm>
            <a:off x="0" y="6803136"/>
            <a:ext cx="12191695" cy="54864"/>
          </a:xfrm>
          <a:prstGeom prst="rect">
            <a:avLst/>
          </a:prstGeom>
          <a:solidFill>
            <a:srgbClr val="E1E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6803136"/>
            <a:ext cx="4741214" cy="54864"/>
          </a:xfrm>
          <a:prstGeom prst="rect">
            <a:avLst/>
          </a:prstGeom>
          <a:solidFill>
            <a:srgbClr val="1F5F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35040" y="566928"/>
            <a:ext cx="5486400" cy="274320"/>
          </a:xfrm>
          <a:prstGeom prst="rect">
            <a:avLst/>
          </a:prstGeom>
          <a:noFill/>
        </p:spPr>
        <p:txBody>
          <a:bodyPr wrap="square" lIns="0" rIns="0" tIns="0" bIns="0" anchor="t">
            <a:spAutoFit/>
          </a:bodyPr>
          <a:lstStyle/>
          <a:p>
            <a:pPr algn="r">
              <a:lnSpc>
                <a:spcPct val="115000"/>
              </a:lnSpc>
            </a:pPr>
            <a:r>
              <a:rPr sz="1000" b="0">
                <a:solidFill>
                  <a:srgbClr val="8A8F98"/>
                </a:solidFill>
                <a:latin typeface="맑은 고딕"/>
                <a:ea typeface="맑은 고딕"/>
                <a:cs typeface="맑은 고딕"/>
              </a:rPr>
              <a:t>문제와 해결   ● 만든 것   평가와 결과   배운 것</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5F1"/>
        </a:solidFill>
        <a:effectLst/>
      </p:bgPr>
    </p:bg>
    <p:spTree>
      <p:nvGrpSpPr>
        <p:cNvPr id="1" name=""/>
        <p:cNvGrpSpPr/>
        <p:nvPr/>
      </p:nvGrpSpPr>
      <p:grpSpPr/>
      <p:sp>
        <p:nvSpPr>
          <p:cNvPr id="2" name="TextBox 1"/>
          <p:cNvSpPr txBox="1"/>
          <p:nvPr/>
        </p:nvSpPr>
        <p:spPr>
          <a:xfrm>
            <a:off x="685800" y="566928"/>
            <a:ext cx="10789920" cy="274320"/>
          </a:xfrm>
          <a:prstGeom prst="rect">
            <a:avLst/>
          </a:prstGeom>
          <a:noFill/>
        </p:spPr>
        <p:txBody>
          <a:bodyPr wrap="square" lIns="0" rIns="0" tIns="0" bIns="0" anchor="t">
            <a:spAutoFit/>
          </a:bodyPr>
          <a:lstStyle/>
          <a:p>
            <a:pPr algn="l">
              <a:lnSpc>
                <a:spcPct val="115000"/>
              </a:lnSpc>
            </a:pPr>
            <a:r>
              <a:rPr sz="1300" b="1">
                <a:solidFill>
                  <a:srgbClr val="1F5FAE"/>
                </a:solidFill>
                <a:latin typeface="맑은 고딕"/>
                <a:ea typeface="맑은 고딕"/>
                <a:cs typeface="맑은 고딕"/>
              </a:rPr>
              <a:t>검증 · 3번</a:t>
            </a:r>
          </a:p>
        </p:txBody>
      </p:sp>
      <p:sp>
        <p:nvSpPr>
          <p:cNvPr id="3" name="TextBox 2"/>
          <p:cNvSpPr txBox="1"/>
          <p:nvPr/>
        </p:nvSpPr>
        <p:spPr>
          <a:xfrm>
            <a:off x="685800" y="868680"/>
            <a:ext cx="10789920" cy="731520"/>
          </a:xfrm>
          <a:prstGeom prst="rect">
            <a:avLst/>
          </a:prstGeom>
          <a:noFill/>
        </p:spPr>
        <p:txBody>
          <a:bodyPr wrap="square" lIns="0" rIns="0" tIns="0" bIns="0" anchor="t">
            <a:spAutoFit/>
          </a:bodyPr>
          <a:lstStyle/>
          <a:p>
            <a:pPr algn="l">
              <a:lnSpc>
                <a:spcPct val="115000"/>
              </a:lnSpc>
            </a:pPr>
            <a:r>
              <a:rPr sz="3200" b="1">
                <a:solidFill>
                  <a:srgbClr val="1B2433"/>
                </a:solidFill>
                <a:latin typeface="맑은 고딕"/>
                <a:ea typeface="맑은 고딕"/>
                <a:cs typeface="맑은 고딕"/>
              </a:rPr>
              <a:t>verifier는 LLM 없이 11가지를 검사합니다</a:t>
            </a:r>
          </a:p>
        </p:txBody>
      </p:sp>
      <p:sp>
        <p:nvSpPr>
          <p:cNvPr id="4" name="Rounded Rectangle 3"/>
          <p:cNvSpPr/>
          <p:nvPr/>
        </p:nvSpPr>
        <p:spPr>
          <a:xfrm>
            <a:off x="685800" y="1783080"/>
            <a:ext cx="2560320" cy="1207008"/>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86968" y="1892807"/>
            <a:ext cx="548640" cy="365760"/>
          </a:xfrm>
          <a:prstGeom prst="rect">
            <a:avLst/>
          </a:prstGeom>
          <a:noFill/>
        </p:spPr>
        <p:txBody>
          <a:bodyPr wrap="square" lIns="0" rIns="0" tIns="0" bIns="0" anchor="t">
            <a:spAutoFit/>
          </a:bodyPr>
          <a:lstStyle/>
          <a:p>
            <a:pPr algn="l">
              <a:lnSpc>
                <a:spcPct val="115000"/>
              </a:lnSpc>
            </a:pPr>
            <a:r>
              <a:rPr sz="1800" b="1">
                <a:solidFill>
                  <a:srgbClr val="1F5FAE"/>
                </a:solidFill>
                <a:latin typeface="맑은 고딕"/>
                <a:ea typeface="맑은 고딕"/>
                <a:cs typeface="맑은 고딕"/>
              </a:rPr>
              <a:t>1</a:t>
            </a:r>
          </a:p>
        </p:txBody>
      </p:sp>
      <p:sp>
        <p:nvSpPr>
          <p:cNvPr id="6" name="TextBox 5"/>
          <p:cNvSpPr txBox="1"/>
          <p:nvPr/>
        </p:nvSpPr>
        <p:spPr>
          <a:xfrm>
            <a:off x="1371600" y="1920240"/>
            <a:ext cx="1783080" cy="365760"/>
          </a:xfrm>
          <a:prstGeom prst="rect">
            <a:avLst/>
          </a:prstGeom>
          <a:noFill/>
        </p:spPr>
        <p:txBody>
          <a:bodyPr wrap="square" lIns="0" rIns="0" tIns="0" bIns="0" anchor="t">
            <a:spAutoFit/>
          </a:bodyPr>
          <a:lstStyle/>
          <a:p>
            <a:pPr algn="l">
              <a:lnSpc>
                <a:spcPct val="115000"/>
              </a:lnSpc>
            </a:pPr>
            <a:r>
              <a:rPr sz="1500" b="1">
                <a:solidFill>
                  <a:srgbClr val="1B2433"/>
                </a:solidFill>
                <a:latin typeface="맑은 고딕"/>
                <a:ea typeface="맑은 고딕"/>
                <a:cs typeface="맑은 고딕"/>
              </a:rPr>
              <a:t>문법</a:t>
            </a:r>
          </a:p>
        </p:txBody>
      </p:sp>
      <p:sp>
        <p:nvSpPr>
          <p:cNvPr id="7" name="TextBox 6"/>
          <p:cNvSpPr txBox="1"/>
          <p:nvPr/>
        </p:nvSpPr>
        <p:spPr>
          <a:xfrm>
            <a:off x="886968" y="2404872"/>
            <a:ext cx="2194560" cy="502920"/>
          </a:xfrm>
          <a:prstGeom prst="rect">
            <a:avLst/>
          </a:prstGeom>
          <a:noFill/>
        </p:spPr>
        <p:txBody>
          <a:bodyPr wrap="square" lIns="0" rIns="0" tIns="0" bIns="0" anchor="t">
            <a:spAutoFit/>
          </a:bodyPr>
          <a:lstStyle/>
          <a:p>
            <a:pPr algn="l">
              <a:lnSpc>
                <a:spcPct val="115000"/>
              </a:lnSpc>
            </a:pPr>
            <a:r>
              <a:rPr sz="1200" b="0">
                <a:solidFill>
                  <a:srgbClr val="4A5363"/>
                </a:solidFill>
                <a:latin typeface="맑은 고딕"/>
                <a:ea typeface="맑은 고딕"/>
                <a:cs typeface="맑은 고딕"/>
              </a:rPr>
              <a:t>파이썬 문법 통과</a:t>
            </a:r>
          </a:p>
        </p:txBody>
      </p:sp>
      <p:sp>
        <p:nvSpPr>
          <p:cNvPr id="8" name="Rounded Rectangle 7"/>
          <p:cNvSpPr/>
          <p:nvPr/>
        </p:nvSpPr>
        <p:spPr>
          <a:xfrm>
            <a:off x="3429000" y="1783080"/>
            <a:ext cx="2560320" cy="1207008"/>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630168" y="1892807"/>
            <a:ext cx="548640" cy="365760"/>
          </a:xfrm>
          <a:prstGeom prst="rect">
            <a:avLst/>
          </a:prstGeom>
          <a:noFill/>
        </p:spPr>
        <p:txBody>
          <a:bodyPr wrap="square" lIns="0" rIns="0" tIns="0" bIns="0" anchor="t">
            <a:spAutoFit/>
          </a:bodyPr>
          <a:lstStyle/>
          <a:p>
            <a:pPr algn="l">
              <a:lnSpc>
                <a:spcPct val="115000"/>
              </a:lnSpc>
            </a:pPr>
            <a:r>
              <a:rPr sz="1800" b="1">
                <a:solidFill>
                  <a:srgbClr val="1F5FAE"/>
                </a:solidFill>
                <a:latin typeface="맑은 고딕"/>
                <a:ea typeface="맑은 고딕"/>
                <a:cs typeface="맑은 고딕"/>
              </a:rPr>
              <a:t>2</a:t>
            </a:r>
          </a:p>
        </p:txBody>
      </p:sp>
      <p:sp>
        <p:nvSpPr>
          <p:cNvPr id="10" name="TextBox 9"/>
          <p:cNvSpPr txBox="1"/>
          <p:nvPr/>
        </p:nvSpPr>
        <p:spPr>
          <a:xfrm>
            <a:off x="4114800" y="1920240"/>
            <a:ext cx="1783080" cy="365760"/>
          </a:xfrm>
          <a:prstGeom prst="rect">
            <a:avLst/>
          </a:prstGeom>
          <a:noFill/>
        </p:spPr>
        <p:txBody>
          <a:bodyPr wrap="square" lIns="0" rIns="0" tIns="0" bIns="0" anchor="t">
            <a:spAutoFit/>
          </a:bodyPr>
          <a:lstStyle/>
          <a:p>
            <a:pPr algn="l">
              <a:lnSpc>
                <a:spcPct val="115000"/>
              </a:lnSpc>
            </a:pPr>
            <a:r>
              <a:rPr sz="1500" b="1">
                <a:solidFill>
                  <a:srgbClr val="1B2433"/>
                </a:solidFill>
                <a:latin typeface="맑은 고딕"/>
                <a:ea typeface="맑은 고딕"/>
                <a:cs typeface="맑은 고딕"/>
              </a:rPr>
              <a:t>근거 ID</a:t>
            </a:r>
          </a:p>
        </p:txBody>
      </p:sp>
      <p:sp>
        <p:nvSpPr>
          <p:cNvPr id="11" name="TextBox 10"/>
          <p:cNvSpPr txBox="1"/>
          <p:nvPr/>
        </p:nvSpPr>
        <p:spPr>
          <a:xfrm>
            <a:off x="3630168" y="2404872"/>
            <a:ext cx="2194560" cy="502920"/>
          </a:xfrm>
          <a:prstGeom prst="rect">
            <a:avLst/>
          </a:prstGeom>
          <a:noFill/>
        </p:spPr>
        <p:txBody>
          <a:bodyPr wrap="square" lIns="0" rIns="0" tIns="0" bIns="0" anchor="t">
            <a:spAutoFit/>
          </a:bodyPr>
          <a:lstStyle/>
          <a:p>
            <a:pPr algn="l">
              <a:lnSpc>
                <a:spcPct val="115000"/>
              </a:lnSpc>
            </a:pPr>
            <a:r>
              <a:rPr sz="1200" b="0">
                <a:solidFill>
                  <a:srgbClr val="4A5363"/>
                </a:solidFill>
                <a:latin typeface="맑은 고딕"/>
                <a:ea typeface="맑은 고딕"/>
                <a:cs typeface="맑은 고딕"/>
              </a:rPr>
              <a:t>보여 준 근거만 썼는지</a:t>
            </a:r>
          </a:p>
        </p:txBody>
      </p:sp>
      <p:sp>
        <p:nvSpPr>
          <p:cNvPr id="12" name="Rounded Rectangle 11"/>
          <p:cNvSpPr/>
          <p:nvPr/>
        </p:nvSpPr>
        <p:spPr>
          <a:xfrm>
            <a:off x="6172200" y="1783080"/>
            <a:ext cx="2560320" cy="1207008"/>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373368" y="1892807"/>
            <a:ext cx="548640" cy="365760"/>
          </a:xfrm>
          <a:prstGeom prst="rect">
            <a:avLst/>
          </a:prstGeom>
          <a:noFill/>
        </p:spPr>
        <p:txBody>
          <a:bodyPr wrap="square" lIns="0" rIns="0" tIns="0" bIns="0" anchor="t">
            <a:spAutoFit/>
          </a:bodyPr>
          <a:lstStyle/>
          <a:p>
            <a:pPr algn="l">
              <a:lnSpc>
                <a:spcPct val="115000"/>
              </a:lnSpc>
            </a:pPr>
            <a:r>
              <a:rPr sz="1800" b="1">
                <a:solidFill>
                  <a:srgbClr val="1F5FAE"/>
                </a:solidFill>
                <a:latin typeface="맑은 고딕"/>
                <a:ea typeface="맑은 고딕"/>
                <a:cs typeface="맑은 고딕"/>
              </a:rPr>
              <a:t>3</a:t>
            </a:r>
          </a:p>
        </p:txBody>
      </p:sp>
      <p:sp>
        <p:nvSpPr>
          <p:cNvPr id="14" name="TextBox 13"/>
          <p:cNvSpPr txBox="1"/>
          <p:nvPr/>
        </p:nvSpPr>
        <p:spPr>
          <a:xfrm>
            <a:off x="6858000" y="1920240"/>
            <a:ext cx="1783080" cy="365760"/>
          </a:xfrm>
          <a:prstGeom prst="rect">
            <a:avLst/>
          </a:prstGeom>
          <a:noFill/>
        </p:spPr>
        <p:txBody>
          <a:bodyPr wrap="square" lIns="0" rIns="0" tIns="0" bIns="0" anchor="t">
            <a:spAutoFit/>
          </a:bodyPr>
          <a:lstStyle/>
          <a:p>
            <a:pPr algn="l">
              <a:lnSpc>
                <a:spcPct val="115000"/>
              </a:lnSpc>
            </a:pPr>
            <a:r>
              <a:rPr sz="1500" b="1">
                <a:solidFill>
                  <a:srgbClr val="1B2433"/>
                </a:solidFill>
                <a:latin typeface="맑은 고딕"/>
                <a:ea typeface="맑은 고딕"/>
                <a:cs typeface="맑은 고딕"/>
              </a:rPr>
              <a:t>변경 기록</a:t>
            </a:r>
          </a:p>
        </p:txBody>
      </p:sp>
      <p:sp>
        <p:nvSpPr>
          <p:cNvPr id="15" name="TextBox 14"/>
          <p:cNvSpPr txBox="1"/>
          <p:nvPr/>
        </p:nvSpPr>
        <p:spPr>
          <a:xfrm>
            <a:off x="6373368" y="2404872"/>
            <a:ext cx="2194560" cy="502920"/>
          </a:xfrm>
          <a:prstGeom prst="rect">
            <a:avLst/>
          </a:prstGeom>
          <a:noFill/>
        </p:spPr>
        <p:txBody>
          <a:bodyPr wrap="square" lIns="0" rIns="0" tIns="0" bIns="0" anchor="t">
            <a:spAutoFit/>
          </a:bodyPr>
          <a:lstStyle/>
          <a:p>
            <a:pPr algn="l">
              <a:lnSpc>
                <a:spcPct val="115000"/>
              </a:lnSpc>
            </a:pPr>
            <a:r>
              <a:rPr sz="1200" b="0">
                <a:solidFill>
                  <a:srgbClr val="4A5363"/>
                </a:solidFill>
                <a:latin typeface="맑은 고딕"/>
                <a:ea typeface="맑은 고딕"/>
                <a:cs typeface="맑은 고딕"/>
              </a:rPr>
              <a:t>기록 없는 변경 = 환각</a:t>
            </a:r>
          </a:p>
        </p:txBody>
      </p:sp>
      <p:sp>
        <p:nvSpPr>
          <p:cNvPr id="16" name="Rounded Rectangle 15"/>
          <p:cNvSpPr/>
          <p:nvPr/>
        </p:nvSpPr>
        <p:spPr>
          <a:xfrm>
            <a:off x="8915400" y="1783080"/>
            <a:ext cx="2560320" cy="1207008"/>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116568" y="1892807"/>
            <a:ext cx="548640" cy="365760"/>
          </a:xfrm>
          <a:prstGeom prst="rect">
            <a:avLst/>
          </a:prstGeom>
          <a:noFill/>
        </p:spPr>
        <p:txBody>
          <a:bodyPr wrap="square" lIns="0" rIns="0" tIns="0" bIns="0" anchor="t">
            <a:spAutoFit/>
          </a:bodyPr>
          <a:lstStyle/>
          <a:p>
            <a:pPr algn="l">
              <a:lnSpc>
                <a:spcPct val="115000"/>
              </a:lnSpc>
            </a:pPr>
            <a:r>
              <a:rPr sz="1800" b="1">
                <a:solidFill>
                  <a:srgbClr val="1F5FAE"/>
                </a:solidFill>
                <a:latin typeface="맑은 고딕"/>
                <a:ea typeface="맑은 고딕"/>
                <a:cs typeface="맑은 고딕"/>
              </a:rPr>
              <a:t>4</a:t>
            </a:r>
          </a:p>
        </p:txBody>
      </p:sp>
      <p:sp>
        <p:nvSpPr>
          <p:cNvPr id="18" name="TextBox 17"/>
          <p:cNvSpPr txBox="1"/>
          <p:nvPr/>
        </p:nvSpPr>
        <p:spPr>
          <a:xfrm>
            <a:off x="9601200" y="1920240"/>
            <a:ext cx="1783080" cy="365760"/>
          </a:xfrm>
          <a:prstGeom prst="rect">
            <a:avLst/>
          </a:prstGeom>
          <a:noFill/>
        </p:spPr>
        <p:txBody>
          <a:bodyPr wrap="square" lIns="0" rIns="0" tIns="0" bIns="0" anchor="t">
            <a:spAutoFit/>
          </a:bodyPr>
          <a:lstStyle/>
          <a:p>
            <a:pPr algn="l">
              <a:lnSpc>
                <a:spcPct val="115000"/>
              </a:lnSpc>
            </a:pPr>
            <a:r>
              <a:rPr sz="1500" b="1">
                <a:solidFill>
                  <a:srgbClr val="1B2433"/>
                </a:solidFill>
                <a:latin typeface="맑은 고딕"/>
                <a:ea typeface="맑은 고딕"/>
                <a:cs typeface="맑은 고딕"/>
              </a:rPr>
              <a:t>남은 옛 import</a:t>
            </a:r>
          </a:p>
        </p:txBody>
      </p:sp>
      <p:sp>
        <p:nvSpPr>
          <p:cNvPr id="19" name="TextBox 18"/>
          <p:cNvSpPr txBox="1"/>
          <p:nvPr/>
        </p:nvSpPr>
        <p:spPr>
          <a:xfrm>
            <a:off x="9116568" y="2404872"/>
            <a:ext cx="2194560" cy="502920"/>
          </a:xfrm>
          <a:prstGeom prst="rect">
            <a:avLst/>
          </a:prstGeom>
          <a:noFill/>
        </p:spPr>
        <p:txBody>
          <a:bodyPr wrap="square" lIns="0" rIns="0" tIns="0" bIns="0" anchor="t">
            <a:spAutoFit/>
          </a:bodyPr>
          <a:lstStyle/>
          <a:p>
            <a:pPr algn="l">
              <a:lnSpc>
                <a:spcPct val="115000"/>
              </a:lnSpc>
            </a:pPr>
            <a:r>
              <a:rPr sz="1200" b="0">
                <a:solidFill>
                  <a:srgbClr val="4A5363"/>
                </a:solidFill>
                <a:latin typeface="맑은 고딕"/>
                <a:ea typeface="맑은 고딕"/>
                <a:cs typeface="맑은 고딕"/>
              </a:rPr>
              <a:t>옛 경로가 남았는지</a:t>
            </a:r>
          </a:p>
        </p:txBody>
      </p:sp>
      <p:sp>
        <p:nvSpPr>
          <p:cNvPr id="20" name="Rounded Rectangle 19"/>
          <p:cNvSpPr/>
          <p:nvPr/>
        </p:nvSpPr>
        <p:spPr>
          <a:xfrm>
            <a:off x="685800" y="3154680"/>
            <a:ext cx="2560320" cy="1207008"/>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86968" y="3264408"/>
            <a:ext cx="548640" cy="365760"/>
          </a:xfrm>
          <a:prstGeom prst="rect">
            <a:avLst/>
          </a:prstGeom>
          <a:noFill/>
        </p:spPr>
        <p:txBody>
          <a:bodyPr wrap="square" lIns="0" rIns="0" tIns="0" bIns="0" anchor="t">
            <a:spAutoFit/>
          </a:bodyPr>
          <a:lstStyle/>
          <a:p>
            <a:pPr algn="l">
              <a:lnSpc>
                <a:spcPct val="115000"/>
              </a:lnSpc>
            </a:pPr>
            <a:r>
              <a:rPr sz="1800" b="1">
                <a:solidFill>
                  <a:srgbClr val="1F5FAE"/>
                </a:solidFill>
                <a:latin typeface="맑은 고딕"/>
                <a:ea typeface="맑은 고딕"/>
                <a:cs typeface="맑은 고딕"/>
              </a:rPr>
              <a:t>5</a:t>
            </a:r>
          </a:p>
        </p:txBody>
      </p:sp>
      <p:sp>
        <p:nvSpPr>
          <p:cNvPr id="22" name="TextBox 21"/>
          <p:cNvSpPr txBox="1"/>
          <p:nvPr/>
        </p:nvSpPr>
        <p:spPr>
          <a:xfrm>
            <a:off x="1371600" y="3291840"/>
            <a:ext cx="1783080" cy="365760"/>
          </a:xfrm>
          <a:prstGeom prst="rect">
            <a:avLst/>
          </a:prstGeom>
          <a:noFill/>
        </p:spPr>
        <p:txBody>
          <a:bodyPr wrap="square" lIns="0" rIns="0" tIns="0" bIns="0" anchor="t">
            <a:spAutoFit/>
          </a:bodyPr>
          <a:lstStyle/>
          <a:p>
            <a:pPr algn="l">
              <a:lnSpc>
                <a:spcPct val="115000"/>
              </a:lnSpc>
            </a:pPr>
            <a:r>
              <a:rPr sz="1500" b="1">
                <a:solidFill>
                  <a:srgbClr val="1B2433"/>
                </a:solidFill>
                <a:latin typeface="맑은 고딕"/>
                <a:ea typeface="맑은 고딕"/>
                <a:cs typeface="맑은 고딕"/>
              </a:rPr>
              <a:t>import 존재</a:t>
            </a:r>
          </a:p>
        </p:txBody>
      </p:sp>
      <p:sp>
        <p:nvSpPr>
          <p:cNvPr id="23" name="TextBox 22"/>
          <p:cNvSpPr txBox="1"/>
          <p:nvPr/>
        </p:nvSpPr>
        <p:spPr>
          <a:xfrm>
            <a:off x="886968" y="3776472"/>
            <a:ext cx="2194560" cy="502920"/>
          </a:xfrm>
          <a:prstGeom prst="rect">
            <a:avLst/>
          </a:prstGeom>
          <a:noFill/>
        </p:spPr>
        <p:txBody>
          <a:bodyPr wrap="square" lIns="0" rIns="0" tIns="0" bIns="0" anchor="t">
            <a:spAutoFit/>
          </a:bodyPr>
          <a:lstStyle/>
          <a:p>
            <a:pPr algn="l">
              <a:lnSpc>
                <a:spcPct val="115000"/>
              </a:lnSpc>
            </a:pPr>
            <a:r>
              <a:rPr sz="1200" b="0">
                <a:solidFill>
                  <a:srgbClr val="4A5363"/>
                </a:solidFill>
                <a:latin typeface="맑은 고딕"/>
                <a:ea typeface="맑은 고딕"/>
                <a:cs typeface="맑은 고딕"/>
              </a:rPr>
              <a:t>1.x에 그 경로가 있는지</a:t>
            </a:r>
          </a:p>
        </p:txBody>
      </p:sp>
      <p:sp>
        <p:nvSpPr>
          <p:cNvPr id="24" name="Rounded Rectangle 23"/>
          <p:cNvSpPr/>
          <p:nvPr/>
        </p:nvSpPr>
        <p:spPr>
          <a:xfrm>
            <a:off x="3429000" y="3154680"/>
            <a:ext cx="2560320" cy="1207008"/>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3630168" y="3264408"/>
            <a:ext cx="548640" cy="365760"/>
          </a:xfrm>
          <a:prstGeom prst="rect">
            <a:avLst/>
          </a:prstGeom>
          <a:noFill/>
        </p:spPr>
        <p:txBody>
          <a:bodyPr wrap="square" lIns="0" rIns="0" tIns="0" bIns="0" anchor="t">
            <a:spAutoFit/>
          </a:bodyPr>
          <a:lstStyle/>
          <a:p>
            <a:pPr algn="l">
              <a:lnSpc>
                <a:spcPct val="115000"/>
              </a:lnSpc>
            </a:pPr>
            <a:r>
              <a:rPr sz="1800" b="1">
                <a:solidFill>
                  <a:srgbClr val="1F5FAE"/>
                </a:solidFill>
                <a:latin typeface="맑은 고딕"/>
                <a:ea typeface="맑은 고딕"/>
                <a:cs typeface="맑은 고딕"/>
              </a:rPr>
              <a:t>6</a:t>
            </a:r>
          </a:p>
        </p:txBody>
      </p:sp>
      <p:sp>
        <p:nvSpPr>
          <p:cNvPr id="26" name="TextBox 25"/>
          <p:cNvSpPr txBox="1"/>
          <p:nvPr/>
        </p:nvSpPr>
        <p:spPr>
          <a:xfrm>
            <a:off x="4114800" y="3291840"/>
            <a:ext cx="1783080" cy="365760"/>
          </a:xfrm>
          <a:prstGeom prst="rect">
            <a:avLst/>
          </a:prstGeom>
          <a:noFill/>
        </p:spPr>
        <p:txBody>
          <a:bodyPr wrap="square" lIns="0" rIns="0" tIns="0" bIns="0" anchor="t">
            <a:spAutoFit/>
          </a:bodyPr>
          <a:lstStyle/>
          <a:p>
            <a:pPr algn="l">
              <a:lnSpc>
                <a:spcPct val="115000"/>
              </a:lnSpc>
            </a:pPr>
            <a:r>
              <a:rPr sz="1500" b="1">
                <a:solidFill>
                  <a:srgbClr val="1B2433"/>
                </a:solidFill>
                <a:latin typeface="맑은 고딕"/>
                <a:ea typeface="맑은 고딕"/>
                <a:cs typeface="맑은 고딕"/>
              </a:rPr>
              <a:t>남은 옛 메서드</a:t>
            </a:r>
          </a:p>
        </p:txBody>
      </p:sp>
      <p:sp>
        <p:nvSpPr>
          <p:cNvPr id="27" name="TextBox 26"/>
          <p:cNvSpPr txBox="1"/>
          <p:nvPr/>
        </p:nvSpPr>
        <p:spPr>
          <a:xfrm>
            <a:off x="3630168" y="3776472"/>
            <a:ext cx="2194560" cy="502920"/>
          </a:xfrm>
          <a:prstGeom prst="rect">
            <a:avLst/>
          </a:prstGeom>
          <a:noFill/>
        </p:spPr>
        <p:txBody>
          <a:bodyPr wrap="square" lIns="0" rIns="0" tIns="0" bIns="0" anchor="t">
            <a:spAutoFit/>
          </a:bodyPr>
          <a:lstStyle/>
          <a:p>
            <a:pPr algn="l">
              <a:lnSpc>
                <a:spcPct val="115000"/>
              </a:lnSpc>
            </a:pPr>
            <a:r>
              <a:rPr sz="1200" b="0">
                <a:solidFill>
                  <a:srgbClr val="4A5363"/>
                </a:solidFill>
                <a:latin typeface="맑은 고딕"/>
                <a:ea typeface="맑은 고딕"/>
                <a:cs typeface="맑은 고딕"/>
              </a:rPr>
              <a:t>.run() 같은 옛 호출 (경고)</a:t>
            </a:r>
          </a:p>
        </p:txBody>
      </p:sp>
      <p:sp>
        <p:nvSpPr>
          <p:cNvPr id="28" name="Rounded Rectangle 27"/>
          <p:cNvSpPr/>
          <p:nvPr/>
        </p:nvSpPr>
        <p:spPr>
          <a:xfrm>
            <a:off x="6172200" y="3154680"/>
            <a:ext cx="2560320" cy="1207008"/>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373368" y="3264408"/>
            <a:ext cx="548640" cy="365760"/>
          </a:xfrm>
          <a:prstGeom prst="rect">
            <a:avLst/>
          </a:prstGeom>
          <a:noFill/>
        </p:spPr>
        <p:txBody>
          <a:bodyPr wrap="square" lIns="0" rIns="0" tIns="0" bIns="0" anchor="t">
            <a:spAutoFit/>
          </a:bodyPr>
          <a:lstStyle/>
          <a:p>
            <a:pPr algn="l">
              <a:lnSpc>
                <a:spcPct val="115000"/>
              </a:lnSpc>
            </a:pPr>
            <a:r>
              <a:rPr sz="1800" b="1">
                <a:solidFill>
                  <a:srgbClr val="1F5FAE"/>
                </a:solidFill>
                <a:latin typeface="맑은 고딕"/>
                <a:ea typeface="맑은 고딕"/>
                <a:cs typeface="맑은 고딕"/>
              </a:rPr>
              <a:t>7</a:t>
            </a:r>
          </a:p>
        </p:txBody>
      </p:sp>
      <p:sp>
        <p:nvSpPr>
          <p:cNvPr id="30" name="TextBox 29"/>
          <p:cNvSpPr txBox="1"/>
          <p:nvPr/>
        </p:nvSpPr>
        <p:spPr>
          <a:xfrm>
            <a:off x="6858000" y="3291840"/>
            <a:ext cx="1783080" cy="365760"/>
          </a:xfrm>
          <a:prstGeom prst="rect">
            <a:avLst/>
          </a:prstGeom>
          <a:noFill/>
        </p:spPr>
        <p:txBody>
          <a:bodyPr wrap="square" lIns="0" rIns="0" tIns="0" bIns="0" anchor="t">
            <a:spAutoFit/>
          </a:bodyPr>
          <a:lstStyle/>
          <a:p>
            <a:pPr algn="l">
              <a:lnSpc>
                <a:spcPct val="115000"/>
              </a:lnSpc>
            </a:pPr>
            <a:r>
              <a:rPr sz="1500" b="1">
                <a:solidFill>
                  <a:srgbClr val="1B2433"/>
                </a:solidFill>
                <a:latin typeface="맑은 고딕"/>
                <a:ea typeface="맑은 고딕"/>
                <a:cs typeface="맑은 고딕"/>
              </a:rPr>
              <a:t>안 쓰는 import</a:t>
            </a:r>
          </a:p>
        </p:txBody>
      </p:sp>
      <p:sp>
        <p:nvSpPr>
          <p:cNvPr id="31" name="TextBox 30"/>
          <p:cNvSpPr txBox="1"/>
          <p:nvPr/>
        </p:nvSpPr>
        <p:spPr>
          <a:xfrm>
            <a:off x="6373368" y="3776472"/>
            <a:ext cx="2194560" cy="502920"/>
          </a:xfrm>
          <a:prstGeom prst="rect">
            <a:avLst/>
          </a:prstGeom>
          <a:noFill/>
        </p:spPr>
        <p:txBody>
          <a:bodyPr wrap="square" lIns="0" rIns="0" tIns="0" bIns="0" anchor="t">
            <a:spAutoFit/>
          </a:bodyPr>
          <a:lstStyle/>
          <a:p>
            <a:pPr algn="l">
              <a:lnSpc>
                <a:spcPct val="115000"/>
              </a:lnSpc>
            </a:pPr>
            <a:r>
              <a:rPr sz="1200" b="0">
                <a:solidFill>
                  <a:srgbClr val="4A5363"/>
                </a:solidFill>
                <a:latin typeface="맑은 고딕"/>
                <a:ea typeface="맑은 고딕"/>
                <a:cs typeface="맑은 고딕"/>
              </a:rPr>
              <a:t>필요 없는 import가 남았나</a:t>
            </a:r>
          </a:p>
        </p:txBody>
      </p:sp>
      <p:sp>
        <p:nvSpPr>
          <p:cNvPr id="32" name="Rounded Rectangle 31"/>
          <p:cNvSpPr/>
          <p:nvPr/>
        </p:nvSpPr>
        <p:spPr>
          <a:xfrm>
            <a:off x="8915400" y="3154680"/>
            <a:ext cx="2560320" cy="1207008"/>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116568" y="3264408"/>
            <a:ext cx="548640" cy="365760"/>
          </a:xfrm>
          <a:prstGeom prst="rect">
            <a:avLst/>
          </a:prstGeom>
          <a:noFill/>
        </p:spPr>
        <p:txBody>
          <a:bodyPr wrap="square" lIns="0" rIns="0" tIns="0" bIns="0" anchor="t">
            <a:spAutoFit/>
          </a:bodyPr>
          <a:lstStyle/>
          <a:p>
            <a:pPr algn="l">
              <a:lnSpc>
                <a:spcPct val="115000"/>
              </a:lnSpc>
            </a:pPr>
            <a:r>
              <a:rPr sz="1800" b="1">
                <a:solidFill>
                  <a:srgbClr val="1F5FAE"/>
                </a:solidFill>
                <a:latin typeface="맑은 고딕"/>
                <a:ea typeface="맑은 고딕"/>
                <a:cs typeface="맑은 고딕"/>
              </a:rPr>
              <a:t>8</a:t>
            </a:r>
          </a:p>
        </p:txBody>
      </p:sp>
      <p:sp>
        <p:nvSpPr>
          <p:cNvPr id="34" name="TextBox 33"/>
          <p:cNvSpPr txBox="1"/>
          <p:nvPr/>
        </p:nvSpPr>
        <p:spPr>
          <a:xfrm>
            <a:off x="9601200" y="3291840"/>
            <a:ext cx="1783080" cy="365760"/>
          </a:xfrm>
          <a:prstGeom prst="rect">
            <a:avLst/>
          </a:prstGeom>
          <a:noFill/>
        </p:spPr>
        <p:txBody>
          <a:bodyPr wrap="square" lIns="0" rIns="0" tIns="0" bIns="0" anchor="t">
            <a:spAutoFit/>
          </a:bodyPr>
          <a:lstStyle/>
          <a:p>
            <a:pPr algn="l">
              <a:lnSpc>
                <a:spcPct val="115000"/>
              </a:lnSpc>
            </a:pPr>
            <a:r>
              <a:rPr sz="1500" b="1">
                <a:solidFill>
                  <a:srgbClr val="1B2433"/>
                </a:solidFill>
                <a:latin typeface="맑은 고딕"/>
                <a:ea typeface="맑은 고딕"/>
                <a:cs typeface="맑은 고딕"/>
              </a:rPr>
              <a:t>반환값 보존</a:t>
            </a:r>
          </a:p>
        </p:txBody>
      </p:sp>
      <p:sp>
        <p:nvSpPr>
          <p:cNvPr id="35" name="TextBox 34"/>
          <p:cNvSpPr txBox="1"/>
          <p:nvPr/>
        </p:nvSpPr>
        <p:spPr>
          <a:xfrm>
            <a:off x="9116568" y="3776472"/>
            <a:ext cx="2194560" cy="502920"/>
          </a:xfrm>
          <a:prstGeom prst="rect">
            <a:avLst/>
          </a:prstGeom>
          <a:noFill/>
        </p:spPr>
        <p:txBody>
          <a:bodyPr wrap="square" lIns="0" rIns="0" tIns="0" bIns="0" anchor="t">
            <a:spAutoFit/>
          </a:bodyPr>
          <a:lstStyle/>
          <a:p>
            <a:pPr algn="l">
              <a:lnSpc>
                <a:spcPct val="115000"/>
              </a:lnSpc>
            </a:pPr>
            <a:r>
              <a:rPr sz="1200" b="0">
                <a:solidFill>
                  <a:srgbClr val="4A5363"/>
                </a:solidFill>
                <a:latin typeface="맑은 고딕"/>
                <a:ea typeface="맑은 고딕"/>
                <a:cs typeface="맑은 고딕"/>
              </a:rPr>
              <a:t>문자열 결과를 잃지 않았나</a:t>
            </a:r>
          </a:p>
        </p:txBody>
      </p:sp>
      <p:sp>
        <p:nvSpPr>
          <p:cNvPr id="36" name="Rounded Rectangle 35"/>
          <p:cNvSpPr/>
          <p:nvPr/>
        </p:nvSpPr>
        <p:spPr>
          <a:xfrm>
            <a:off x="685800" y="4526280"/>
            <a:ext cx="2560320" cy="1207008"/>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86968" y="4636008"/>
            <a:ext cx="548640" cy="365760"/>
          </a:xfrm>
          <a:prstGeom prst="rect">
            <a:avLst/>
          </a:prstGeom>
          <a:noFill/>
        </p:spPr>
        <p:txBody>
          <a:bodyPr wrap="square" lIns="0" rIns="0" tIns="0" bIns="0" anchor="t">
            <a:spAutoFit/>
          </a:bodyPr>
          <a:lstStyle/>
          <a:p>
            <a:pPr algn="l">
              <a:lnSpc>
                <a:spcPct val="115000"/>
              </a:lnSpc>
            </a:pPr>
            <a:r>
              <a:rPr sz="1800" b="1">
                <a:solidFill>
                  <a:srgbClr val="1F5FAE"/>
                </a:solidFill>
                <a:latin typeface="맑은 고딕"/>
                <a:ea typeface="맑은 고딕"/>
                <a:cs typeface="맑은 고딕"/>
              </a:rPr>
              <a:t>9</a:t>
            </a:r>
          </a:p>
        </p:txBody>
      </p:sp>
      <p:sp>
        <p:nvSpPr>
          <p:cNvPr id="38" name="TextBox 37"/>
          <p:cNvSpPr txBox="1"/>
          <p:nvPr/>
        </p:nvSpPr>
        <p:spPr>
          <a:xfrm>
            <a:off x="1371600" y="4663440"/>
            <a:ext cx="1783080" cy="365760"/>
          </a:xfrm>
          <a:prstGeom prst="rect">
            <a:avLst/>
          </a:prstGeom>
          <a:noFill/>
        </p:spPr>
        <p:txBody>
          <a:bodyPr wrap="square" lIns="0" rIns="0" tIns="0" bIns="0" anchor="t">
            <a:spAutoFit/>
          </a:bodyPr>
          <a:lstStyle/>
          <a:p>
            <a:pPr algn="l">
              <a:lnSpc>
                <a:spcPct val="115000"/>
              </a:lnSpc>
            </a:pPr>
            <a:r>
              <a:rPr sz="1500" b="1">
                <a:solidFill>
                  <a:srgbClr val="1B2433"/>
                </a:solidFill>
                <a:latin typeface="맑은 고딕"/>
                <a:ea typeface="맑은 고딕"/>
                <a:cs typeface="맑은 고딕"/>
              </a:rPr>
              <a:t>정의 안 된 이름</a:t>
            </a:r>
          </a:p>
        </p:txBody>
      </p:sp>
      <p:sp>
        <p:nvSpPr>
          <p:cNvPr id="39" name="TextBox 38"/>
          <p:cNvSpPr txBox="1"/>
          <p:nvPr/>
        </p:nvSpPr>
        <p:spPr>
          <a:xfrm>
            <a:off x="886968" y="5148072"/>
            <a:ext cx="2194560" cy="502920"/>
          </a:xfrm>
          <a:prstGeom prst="rect">
            <a:avLst/>
          </a:prstGeom>
          <a:noFill/>
        </p:spPr>
        <p:txBody>
          <a:bodyPr wrap="square" lIns="0" rIns="0" tIns="0" bIns="0" anchor="t">
            <a:spAutoFit/>
          </a:bodyPr>
          <a:lstStyle/>
          <a:p>
            <a:pPr algn="l">
              <a:lnSpc>
                <a:spcPct val="115000"/>
              </a:lnSpc>
            </a:pPr>
            <a:r>
              <a:rPr sz="1200" b="0">
                <a:solidFill>
                  <a:srgbClr val="4A5363"/>
                </a:solidFill>
                <a:latin typeface="맑은 고딕"/>
                <a:ea typeface="맑은 고딕"/>
                <a:cs typeface="맑은 고딕"/>
              </a:rPr>
              <a:t>실행하면 NameError</a:t>
            </a:r>
          </a:p>
        </p:txBody>
      </p:sp>
      <p:sp>
        <p:nvSpPr>
          <p:cNvPr id="40" name="Rounded Rectangle 39"/>
          <p:cNvSpPr/>
          <p:nvPr/>
        </p:nvSpPr>
        <p:spPr>
          <a:xfrm>
            <a:off x="3429000" y="4526280"/>
            <a:ext cx="2560320" cy="1207008"/>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3630168" y="4636008"/>
            <a:ext cx="548640" cy="365760"/>
          </a:xfrm>
          <a:prstGeom prst="rect">
            <a:avLst/>
          </a:prstGeom>
          <a:noFill/>
        </p:spPr>
        <p:txBody>
          <a:bodyPr wrap="square" lIns="0" rIns="0" tIns="0" bIns="0" anchor="t">
            <a:spAutoFit/>
          </a:bodyPr>
          <a:lstStyle/>
          <a:p>
            <a:pPr algn="l">
              <a:lnSpc>
                <a:spcPct val="115000"/>
              </a:lnSpc>
            </a:pPr>
            <a:r>
              <a:rPr sz="1800" b="1">
                <a:solidFill>
                  <a:srgbClr val="1F5FAE"/>
                </a:solidFill>
                <a:latin typeface="맑은 고딕"/>
                <a:ea typeface="맑은 고딕"/>
                <a:cs typeface="맑은 고딕"/>
              </a:rPr>
              <a:t>10</a:t>
            </a:r>
          </a:p>
        </p:txBody>
      </p:sp>
      <p:sp>
        <p:nvSpPr>
          <p:cNvPr id="42" name="TextBox 41"/>
          <p:cNvSpPr txBox="1"/>
          <p:nvPr/>
        </p:nvSpPr>
        <p:spPr>
          <a:xfrm>
            <a:off x="4114800" y="4663440"/>
            <a:ext cx="1783080" cy="365760"/>
          </a:xfrm>
          <a:prstGeom prst="rect">
            <a:avLst/>
          </a:prstGeom>
          <a:noFill/>
        </p:spPr>
        <p:txBody>
          <a:bodyPr wrap="square" lIns="0" rIns="0" tIns="0" bIns="0" anchor="t">
            <a:spAutoFit/>
          </a:bodyPr>
          <a:lstStyle/>
          <a:p>
            <a:pPr algn="l">
              <a:lnSpc>
                <a:spcPct val="115000"/>
              </a:lnSpc>
            </a:pPr>
            <a:r>
              <a:rPr sz="1500" b="1">
                <a:solidFill>
                  <a:srgbClr val="1B2433"/>
                </a:solidFill>
                <a:latin typeface="맑은 고딕"/>
                <a:ea typeface="맑은 고딕"/>
                <a:cs typeface="맑은 고딕"/>
              </a:rPr>
              <a:t>출력 꺼내기</a:t>
            </a:r>
          </a:p>
        </p:txBody>
      </p:sp>
      <p:sp>
        <p:nvSpPr>
          <p:cNvPr id="43" name="TextBox 42"/>
          <p:cNvSpPr txBox="1"/>
          <p:nvPr/>
        </p:nvSpPr>
        <p:spPr>
          <a:xfrm>
            <a:off x="3630168" y="5148072"/>
            <a:ext cx="2194560" cy="502920"/>
          </a:xfrm>
          <a:prstGeom prst="rect">
            <a:avLst/>
          </a:prstGeom>
          <a:noFill/>
        </p:spPr>
        <p:txBody>
          <a:bodyPr wrap="square" lIns="0" rIns="0" tIns="0" bIns="0" anchor="t">
            <a:spAutoFit/>
          </a:bodyPr>
          <a:lstStyle/>
          <a:p>
            <a:pPr algn="l">
              <a:lnSpc>
                <a:spcPct val="115000"/>
              </a:lnSpc>
            </a:pPr>
            <a:r>
              <a:rPr sz="1200" b="0">
                <a:solidFill>
                  <a:srgbClr val="4A5363"/>
                </a:solidFill>
                <a:latin typeface="맑은 고딕"/>
                <a:ea typeface="맑은 고딕"/>
                <a:cs typeface="맑은 고딕"/>
              </a:rPr>
              <a:t>['text'] 잘못 꺼내기</a:t>
            </a:r>
          </a:p>
        </p:txBody>
      </p:sp>
      <p:sp>
        <p:nvSpPr>
          <p:cNvPr id="44" name="Rounded Rectangle 43"/>
          <p:cNvSpPr/>
          <p:nvPr/>
        </p:nvSpPr>
        <p:spPr>
          <a:xfrm>
            <a:off x="6172200" y="4526280"/>
            <a:ext cx="2560320" cy="1207008"/>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373368" y="4636008"/>
            <a:ext cx="548640" cy="365760"/>
          </a:xfrm>
          <a:prstGeom prst="rect">
            <a:avLst/>
          </a:prstGeom>
          <a:noFill/>
        </p:spPr>
        <p:txBody>
          <a:bodyPr wrap="square" lIns="0" rIns="0" tIns="0" bIns="0" anchor="t">
            <a:spAutoFit/>
          </a:bodyPr>
          <a:lstStyle/>
          <a:p>
            <a:pPr algn="l">
              <a:lnSpc>
                <a:spcPct val="115000"/>
              </a:lnSpc>
            </a:pPr>
            <a:r>
              <a:rPr sz="1800" b="1">
                <a:solidFill>
                  <a:srgbClr val="1F5FAE"/>
                </a:solidFill>
                <a:latin typeface="맑은 고딕"/>
                <a:ea typeface="맑은 고딕"/>
                <a:cs typeface="맑은 고딕"/>
              </a:rPr>
              <a:t>11</a:t>
            </a:r>
          </a:p>
        </p:txBody>
      </p:sp>
      <p:sp>
        <p:nvSpPr>
          <p:cNvPr id="46" name="TextBox 45"/>
          <p:cNvSpPr txBox="1"/>
          <p:nvPr/>
        </p:nvSpPr>
        <p:spPr>
          <a:xfrm>
            <a:off x="6858000" y="4663440"/>
            <a:ext cx="1783080" cy="365760"/>
          </a:xfrm>
          <a:prstGeom prst="rect">
            <a:avLst/>
          </a:prstGeom>
          <a:noFill/>
        </p:spPr>
        <p:txBody>
          <a:bodyPr wrap="square" lIns="0" rIns="0" tIns="0" bIns="0" anchor="t">
            <a:spAutoFit/>
          </a:bodyPr>
          <a:lstStyle/>
          <a:p>
            <a:pPr algn="l">
              <a:lnSpc>
                <a:spcPct val="115000"/>
              </a:lnSpc>
            </a:pPr>
            <a:r>
              <a:rPr sz="1500" b="1">
                <a:solidFill>
                  <a:srgbClr val="1B2433"/>
                </a:solidFill>
                <a:latin typeface="맑은 고딕"/>
                <a:ea typeface="맑은 고딕"/>
                <a:cs typeface="맑은 고딕"/>
              </a:rPr>
              <a:t>체인 입출력 키</a:t>
            </a:r>
          </a:p>
        </p:txBody>
      </p:sp>
      <p:sp>
        <p:nvSpPr>
          <p:cNvPr id="47" name="TextBox 46"/>
          <p:cNvSpPr txBox="1"/>
          <p:nvPr/>
        </p:nvSpPr>
        <p:spPr>
          <a:xfrm>
            <a:off x="6373368" y="5148072"/>
            <a:ext cx="2194560" cy="502920"/>
          </a:xfrm>
          <a:prstGeom prst="rect">
            <a:avLst/>
          </a:prstGeom>
          <a:noFill/>
        </p:spPr>
        <p:txBody>
          <a:bodyPr wrap="square" lIns="0" rIns="0" tIns="0" bIns="0" anchor="t">
            <a:spAutoFit/>
          </a:bodyPr>
          <a:lstStyle/>
          <a:p>
            <a:pPr algn="l">
              <a:lnSpc>
                <a:spcPct val="115000"/>
              </a:lnSpc>
            </a:pPr>
            <a:r>
              <a:rPr sz="1200" b="0">
                <a:solidFill>
                  <a:srgbClr val="4A5363"/>
                </a:solidFill>
                <a:latin typeface="맑은 고딕"/>
                <a:ea typeface="맑은 고딕"/>
                <a:cs typeface="맑은 고딕"/>
              </a:rPr>
              <a:t>실제 키와 같은지</a:t>
            </a:r>
          </a:p>
        </p:txBody>
      </p:sp>
      <p:sp>
        <p:nvSpPr>
          <p:cNvPr id="48" name="Rounded Rectangle 47"/>
          <p:cNvSpPr/>
          <p:nvPr/>
        </p:nvSpPr>
        <p:spPr>
          <a:xfrm>
            <a:off x="8915400" y="4526280"/>
            <a:ext cx="2560320" cy="1207008"/>
          </a:xfrm>
          <a:prstGeom prst="roundRect">
            <a:avLst>
              <a:gd name="adj" fmla="val 6000"/>
            </a:avLst>
          </a:prstGeom>
          <a:solidFill>
            <a:srgbClr val="14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9116568" y="4690872"/>
            <a:ext cx="2194560" cy="914400"/>
          </a:xfrm>
          <a:prstGeom prst="rect">
            <a:avLst/>
          </a:prstGeom>
          <a:noFill/>
        </p:spPr>
        <p:txBody>
          <a:bodyPr wrap="square" lIns="0" rIns="0" tIns="0" bIns="0" anchor="t">
            <a:spAutoFit/>
          </a:bodyPr>
          <a:lstStyle/>
          <a:p>
            <a:pPr algn="l">
              <a:lnSpc>
                <a:spcPct val="140000"/>
              </a:lnSpc>
            </a:pPr>
            <a:r>
              <a:rPr sz="1400" b="1">
                <a:solidFill>
                  <a:srgbClr val="F2F1EC"/>
                </a:solidFill>
                <a:latin typeface="맑은 고딕"/>
                <a:ea typeface="맑은 고딕"/>
                <a:cs typeface="맑은 고딕"/>
              </a:rPr>
              <a:t>오류 → 다시 시도</a:t>
            </a:r>
          </a:p>
          <a:p>
            <a:pPr algn="l">
              <a:lnSpc>
                <a:spcPct val="140000"/>
              </a:lnSpc>
            </a:pPr>
            <a:r>
              <a:rPr sz="1400" b="1">
                <a:solidFill>
                  <a:srgbClr val="F2F1EC"/>
                </a:solidFill>
                <a:latin typeface="맑은 고딕"/>
                <a:ea typeface="맑은 고딕"/>
                <a:cs typeface="맑은 고딕"/>
              </a:rPr>
              <a:t>경고 → 결과에 표시</a:t>
            </a:r>
          </a:p>
        </p:txBody>
      </p:sp>
      <p:sp>
        <p:nvSpPr>
          <p:cNvPr id="50" name="TextBox 49"/>
          <p:cNvSpPr txBox="1"/>
          <p:nvPr/>
        </p:nvSpPr>
        <p:spPr>
          <a:xfrm>
            <a:off x="685800" y="6327648"/>
            <a:ext cx="10789920" cy="274320"/>
          </a:xfrm>
          <a:prstGeom prst="rect">
            <a:avLst/>
          </a:prstGeom>
          <a:noFill/>
        </p:spPr>
        <p:txBody>
          <a:bodyPr wrap="square" lIns="0" rIns="0" tIns="0" bIns="0" anchor="t">
            <a:spAutoFit/>
          </a:bodyPr>
          <a:lstStyle/>
          <a:p>
            <a:pPr algn="l">
              <a:lnSpc>
                <a:spcPct val="115000"/>
              </a:lnSpc>
            </a:pPr>
            <a:r>
              <a:rPr sz="1100" b="0">
                <a:solidFill>
                  <a:srgbClr val="8A8F98"/>
                </a:solidFill>
                <a:latin typeface="맑은 고딕"/>
                <a:ea typeface="맑은 고딕"/>
                <a:cs typeface="맑은 고딕"/>
              </a:rPr>
              <a:t>LangChain 마이그레이션 도우미 · 8</a:t>
            </a:r>
          </a:p>
        </p:txBody>
      </p:sp>
      <p:sp>
        <p:nvSpPr>
          <p:cNvPr id="51" name="Rectangle 50"/>
          <p:cNvSpPr/>
          <p:nvPr/>
        </p:nvSpPr>
        <p:spPr>
          <a:xfrm>
            <a:off x="0" y="6803136"/>
            <a:ext cx="12191695" cy="54864"/>
          </a:xfrm>
          <a:prstGeom prst="rect">
            <a:avLst/>
          </a:prstGeom>
          <a:solidFill>
            <a:srgbClr val="E1E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0" y="6803136"/>
            <a:ext cx="5418531" cy="54864"/>
          </a:xfrm>
          <a:prstGeom prst="rect">
            <a:avLst/>
          </a:prstGeom>
          <a:solidFill>
            <a:srgbClr val="1F5F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035040" y="566928"/>
            <a:ext cx="5486400" cy="274320"/>
          </a:xfrm>
          <a:prstGeom prst="rect">
            <a:avLst/>
          </a:prstGeom>
          <a:noFill/>
        </p:spPr>
        <p:txBody>
          <a:bodyPr wrap="square" lIns="0" rIns="0" tIns="0" bIns="0" anchor="t">
            <a:spAutoFit/>
          </a:bodyPr>
          <a:lstStyle/>
          <a:p>
            <a:pPr algn="r">
              <a:lnSpc>
                <a:spcPct val="115000"/>
              </a:lnSpc>
            </a:pPr>
            <a:r>
              <a:rPr sz="1000" b="0">
                <a:solidFill>
                  <a:srgbClr val="8A8F98"/>
                </a:solidFill>
                <a:latin typeface="맑은 고딕"/>
                <a:ea typeface="맑은 고딕"/>
                <a:cs typeface="맑은 고딕"/>
              </a:rPr>
              <a:t>문제와 해결   ● 만든 것   평가와 결과   배운 것</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5F1"/>
        </a:solidFill>
        <a:effectLst/>
      </p:bgPr>
    </p:bg>
    <p:spTree>
      <p:nvGrpSpPr>
        <p:cNvPr id="1" name=""/>
        <p:cNvGrpSpPr/>
        <p:nvPr/>
      </p:nvGrpSpPr>
      <p:grpSpPr/>
      <p:sp>
        <p:nvSpPr>
          <p:cNvPr id="2" name="TextBox 1"/>
          <p:cNvSpPr txBox="1"/>
          <p:nvPr/>
        </p:nvSpPr>
        <p:spPr>
          <a:xfrm>
            <a:off x="685800" y="566928"/>
            <a:ext cx="10789920" cy="274320"/>
          </a:xfrm>
          <a:prstGeom prst="rect">
            <a:avLst/>
          </a:prstGeom>
          <a:noFill/>
        </p:spPr>
        <p:txBody>
          <a:bodyPr wrap="square" lIns="0" rIns="0" tIns="0" bIns="0" anchor="t">
            <a:spAutoFit/>
          </a:bodyPr>
          <a:lstStyle/>
          <a:p>
            <a:pPr algn="l">
              <a:lnSpc>
                <a:spcPct val="115000"/>
              </a:lnSpc>
            </a:pPr>
            <a:r>
              <a:rPr sz="1300" b="1">
                <a:solidFill>
                  <a:srgbClr val="1F5FAE"/>
                </a:solidFill>
                <a:latin typeface="맑은 고딕"/>
                <a:ea typeface="맑은 고딕"/>
                <a:cs typeface="맑은 고딕"/>
              </a:rPr>
              <a:t>화면 · 4번</a:t>
            </a:r>
          </a:p>
        </p:txBody>
      </p:sp>
      <p:sp>
        <p:nvSpPr>
          <p:cNvPr id="3" name="TextBox 2"/>
          <p:cNvSpPr txBox="1"/>
          <p:nvPr/>
        </p:nvSpPr>
        <p:spPr>
          <a:xfrm>
            <a:off x="685800" y="868680"/>
            <a:ext cx="10789920" cy="731520"/>
          </a:xfrm>
          <a:prstGeom prst="rect">
            <a:avLst/>
          </a:prstGeom>
          <a:noFill/>
        </p:spPr>
        <p:txBody>
          <a:bodyPr wrap="square" lIns="0" rIns="0" tIns="0" bIns="0" anchor="t">
            <a:spAutoFit/>
          </a:bodyPr>
          <a:lstStyle/>
          <a:p>
            <a:pPr algn="l">
              <a:lnSpc>
                <a:spcPct val="115000"/>
              </a:lnSpc>
            </a:pPr>
            <a:r>
              <a:rPr sz="3200" b="1">
                <a:solidFill>
                  <a:srgbClr val="1B2433"/>
                </a:solidFill>
                <a:latin typeface="맑은 고딕"/>
                <a:ea typeface="맑은 고딕"/>
                <a:cs typeface="맑은 고딕"/>
              </a:rPr>
              <a:t>결과와 근거를 한 화면에서 봅니다</a:t>
            </a:r>
          </a:p>
        </p:txBody>
      </p:sp>
      <p:sp>
        <p:nvSpPr>
          <p:cNvPr id="4" name="Rounded Rectangle 3"/>
          <p:cNvSpPr/>
          <p:nvPr/>
        </p:nvSpPr>
        <p:spPr>
          <a:xfrm>
            <a:off x="685800" y="1828800"/>
            <a:ext cx="7223760" cy="3840480"/>
          </a:xfrm>
          <a:prstGeom prst="roundRect">
            <a:avLst>
              <a:gd name="adj" fmla="val 6000"/>
            </a:avLst>
          </a:prstGeom>
          <a:solidFill>
            <a:srgbClr val="FFFFFF"/>
          </a:solidFill>
          <a:ln w="15875">
            <a:solidFill>
              <a:srgbClr val="C3C2B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60120" y="3337559"/>
            <a:ext cx="6675120" cy="822960"/>
          </a:xfrm>
          <a:prstGeom prst="rect">
            <a:avLst/>
          </a:prstGeom>
          <a:noFill/>
        </p:spPr>
        <p:txBody>
          <a:bodyPr wrap="square" lIns="0" rIns="0" tIns="0" bIns="0" anchor="t">
            <a:spAutoFit/>
          </a:bodyPr>
          <a:lstStyle/>
          <a:p>
            <a:pPr algn="ctr">
              <a:lnSpc>
                <a:spcPct val="115000"/>
              </a:lnSpc>
            </a:pPr>
            <a:r>
              <a:rPr sz="1400" b="1">
                <a:solidFill>
                  <a:srgbClr val="8A8F98"/>
                </a:solidFill>
                <a:latin typeface="맑은 고딕"/>
                <a:ea typeface="맑은 고딕"/>
                <a:cs typeface="맑은 고딕"/>
              </a:rPr>
              <a:t>[화면 캡처]</a:t>
            </a:r>
          </a:p>
          <a:p>
            <a:pPr algn="ctr">
              <a:lnSpc>
                <a:spcPct val="115000"/>
              </a:lnSpc>
            </a:pPr>
            <a:r>
              <a:rPr sz="1400" b="1">
                <a:solidFill>
                  <a:srgbClr val="8A8F98"/>
                </a:solidFill>
                <a:latin typeface="맑은 고딕"/>
                <a:ea typeface="맑은 고딕"/>
                <a:cs typeface="맑은 고딕"/>
              </a:rPr>
              <a:t>확인용 예제를 보낸 뒤 결과 패널</a:t>
            </a:r>
          </a:p>
          <a:p>
            <a:pPr algn="ctr">
              <a:lnSpc>
                <a:spcPct val="115000"/>
              </a:lnSpc>
            </a:pPr>
            <a:r>
              <a:rPr sz="1400" b="1">
                <a:solidFill>
                  <a:srgbClr val="8A8F98"/>
                </a:solidFill>
                <a:latin typeface="맑은 고딕"/>
                <a:ea typeface="맑은 고딕"/>
                <a:cs typeface="맑은 고딕"/>
              </a:rPr>
              <a:t>(검증 통과 배지 · 팀 그래프 배지 · 변경표와 근거 ID)</a:t>
            </a:r>
          </a:p>
        </p:txBody>
      </p:sp>
      <p:cxnSp>
        <p:nvCxnSpPr>
          <p:cNvPr id="6" name="Connector 5"/>
          <p:cNvCxnSpPr/>
          <p:nvPr/>
        </p:nvCxnSpPr>
        <p:spPr>
          <a:xfrm>
            <a:off x="8183879" y="1828800"/>
            <a:ext cx="3319273" cy="0"/>
          </a:xfrm>
          <a:prstGeom prst="line">
            <a:avLst/>
          </a:prstGeom>
          <a:ln w="12700">
            <a:solidFill>
              <a:srgbClr val="D4D3C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183879" y="1920240"/>
            <a:ext cx="3319272" cy="365760"/>
          </a:xfrm>
          <a:prstGeom prst="rect">
            <a:avLst/>
          </a:prstGeom>
          <a:noFill/>
        </p:spPr>
        <p:txBody>
          <a:bodyPr wrap="square" lIns="0" rIns="0" tIns="0" bIns="0" anchor="t">
            <a:spAutoFit/>
          </a:bodyPr>
          <a:lstStyle/>
          <a:p>
            <a:pPr algn="l">
              <a:lnSpc>
                <a:spcPct val="115000"/>
              </a:lnSpc>
            </a:pPr>
            <a:r>
              <a:rPr sz="1500" b="1">
                <a:solidFill>
                  <a:srgbClr val="1B2433"/>
                </a:solidFill>
                <a:latin typeface="맑은 고딕"/>
                <a:ea typeface="맑은 고딕"/>
                <a:cs typeface="맑은 고딕"/>
              </a:rPr>
              <a:t>대화형 + 세션 저장</a:t>
            </a:r>
          </a:p>
        </p:txBody>
      </p:sp>
      <p:sp>
        <p:nvSpPr>
          <p:cNvPr id="8" name="TextBox 7"/>
          <p:cNvSpPr txBox="1"/>
          <p:nvPr/>
        </p:nvSpPr>
        <p:spPr>
          <a:xfrm>
            <a:off x="8183879" y="2231136"/>
            <a:ext cx="3319272" cy="365760"/>
          </a:xfrm>
          <a:prstGeom prst="rect">
            <a:avLst/>
          </a:prstGeom>
          <a:noFill/>
        </p:spPr>
        <p:txBody>
          <a:bodyPr wrap="square" lIns="0" rIns="0" tIns="0" bIns="0" anchor="t">
            <a:spAutoFit/>
          </a:bodyPr>
          <a:lstStyle/>
          <a:p>
            <a:pPr algn="l">
              <a:lnSpc>
                <a:spcPct val="115000"/>
              </a:lnSpc>
            </a:pPr>
            <a:r>
              <a:rPr sz="1200" b="0">
                <a:solidFill>
                  <a:srgbClr val="4A5363"/>
                </a:solidFill>
                <a:latin typeface="맑은 고딕"/>
                <a:ea typeface="맑은 고딕"/>
                <a:cs typeface="맑은 고딕"/>
              </a:rPr>
              <a:t>ChatGPT처럼 대화 목록, 새 대화마다 세션 하나</a:t>
            </a:r>
          </a:p>
        </p:txBody>
      </p:sp>
      <p:cxnSp>
        <p:nvCxnSpPr>
          <p:cNvPr id="9" name="Connector 8"/>
          <p:cNvCxnSpPr/>
          <p:nvPr/>
        </p:nvCxnSpPr>
        <p:spPr>
          <a:xfrm>
            <a:off x="8183879" y="2596896"/>
            <a:ext cx="3319273" cy="0"/>
          </a:xfrm>
          <a:prstGeom prst="line">
            <a:avLst/>
          </a:prstGeom>
          <a:ln w="12700">
            <a:solidFill>
              <a:srgbClr val="D4D3C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183879" y="2688336"/>
            <a:ext cx="3319272" cy="365760"/>
          </a:xfrm>
          <a:prstGeom prst="rect">
            <a:avLst/>
          </a:prstGeom>
          <a:noFill/>
        </p:spPr>
        <p:txBody>
          <a:bodyPr wrap="square" lIns="0" rIns="0" tIns="0" bIns="0" anchor="t">
            <a:spAutoFit/>
          </a:bodyPr>
          <a:lstStyle/>
          <a:p>
            <a:pPr algn="l">
              <a:lnSpc>
                <a:spcPct val="115000"/>
              </a:lnSpc>
            </a:pPr>
            <a:r>
              <a:rPr sz="1500" b="1">
                <a:solidFill>
                  <a:srgbClr val="1B2433"/>
                </a:solidFill>
                <a:latin typeface="맑은 고딕"/>
                <a:ea typeface="맑은 고딕"/>
                <a:cs typeface="맑은 고딕"/>
              </a:rPr>
              <a:t>버전 고르기</a:t>
            </a:r>
          </a:p>
        </p:txBody>
      </p:sp>
      <p:sp>
        <p:nvSpPr>
          <p:cNvPr id="11" name="TextBox 10"/>
          <p:cNvSpPr txBox="1"/>
          <p:nvPr/>
        </p:nvSpPr>
        <p:spPr>
          <a:xfrm>
            <a:off x="8183879" y="2999232"/>
            <a:ext cx="3319272" cy="365760"/>
          </a:xfrm>
          <a:prstGeom prst="rect">
            <a:avLst/>
          </a:prstGeom>
          <a:noFill/>
        </p:spPr>
        <p:txBody>
          <a:bodyPr wrap="square" lIns="0" rIns="0" tIns="0" bIns="0" anchor="t">
            <a:spAutoFit/>
          </a:bodyPr>
          <a:lstStyle/>
          <a:p>
            <a:pPr algn="l">
              <a:lnSpc>
                <a:spcPct val="115000"/>
              </a:lnSpc>
            </a:pPr>
            <a:r>
              <a:rPr sz="1200" b="0">
                <a:solidFill>
                  <a:srgbClr val="4A5363"/>
                </a:solidFill>
                <a:latin typeface="맑은 고딕"/>
                <a:ea typeface="맑은 고딕"/>
                <a:cs typeface="맑은 고딕"/>
              </a:rPr>
              <a:t>지금 코드 버전(자동 감지) → 바꿀 버전</a:t>
            </a:r>
          </a:p>
        </p:txBody>
      </p:sp>
      <p:cxnSp>
        <p:nvCxnSpPr>
          <p:cNvPr id="12" name="Connector 11"/>
          <p:cNvCxnSpPr/>
          <p:nvPr/>
        </p:nvCxnSpPr>
        <p:spPr>
          <a:xfrm>
            <a:off x="8183879" y="3364991"/>
            <a:ext cx="3319273" cy="0"/>
          </a:xfrm>
          <a:prstGeom prst="line">
            <a:avLst/>
          </a:prstGeom>
          <a:ln w="12700">
            <a:solidFill>
              <a:srgbClr val="D4D3CC"/>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183879" y="3456432"/>
            <a:ext cx="3319272" cy="365760"/>
          </a:xfrm>
          <a:prstGeom prst="rect">
            <a:avLst/>
          </a:prstGeom>
          <a:noFill/>
        </p:spPr>
        <p:txBody>
          <a:bodyPr wrap="square" lIns="0" rIns="0" tIns="0" bIns="0" anchor="t">
            <a:spAutoFit/>
          </a:bodyPr>
          <a:lstStyle/>
          <a:p>
            <a:pPr algn="l">
              <a:lnSpc>
                <a:spcPct val="115000"/>
              </a:lnSpc>
            </a:pPr>
            <a:r>
              <a:rPr sz="1500" b="1">
                <a:solidFill>
                  <a:srgbClr val="1F5FAE"/>
                </a:solidFill>
                <a:latin typeface="맑은 고딕"/>
                <a:ea typeface="맑은 고딕"/>
                <a:cs typeface="맑은 고딕"/>
              </a:rPr>
              <a:t>결과 패널</a:t>
            </a:r>
          </a:p>
        </p:txBody>
      </p:sp>
      <p:sp>
        <p:nvSpPr>
          <p:cNvPr id="14" name="TextBox 13"/>
          <p:cNvSpPr txBox="1"/>
          <p:nvPr/>
        </p:nvSpPr>
        <p:spPr>
          <a:xfrm>
            <a:off x="8183879" y="3767328"/>
            <a:ext cx="3319272" cy="365760"/>
          </a:xfrm>
          <a:prstGeom prst="rect">
            <a:avLst/>
          </a:prstGeom>
          <a:noFill/>
        </p:spPr>
        <p:txBody>
          <a:bodyPr wrap="square" lIns="0" rIns="0" tIns="0" bIns="0" anchor="t">
            <a:spAutoFit/>
          </a:bodyPr>
          <a:lstStyle/>
          <a:p>
            <a:pPr algn="l">
              <a:lnSpc>
                <a:spcPct val="115000"/>
              </a:lnSpc>
            </a:pPr>
            <a:r>
              <a:rPr sz="1200" b="0">
                <a:solidFill>
                  <a:srgbClr val="4A5363"/>
                </a:solidFill>
                <a:latin typeface="맑은 고딕"/>
                <a:ea typeface="맑은 고딕"/>
                <a:cs typeface="맑은 고딕"/>
              </a:rPr>
              <a:t>검증 배지 · 전후 비교 · 근거 ID와 이유</a:t>
            </a:r>
          </a:p>
        </p:txBody>
      </p:sp>
      <p:cxnSp>
        <p:nvCxnSpPr>
          <p:cNvPr id="15" name="Connector 14"/>
          <p:cNvCxnSpPr/>
          <p:nvPr/>
        </p:nvCxnSpPr>
        <p:spPr>
          <a:xfrm>
            <a:off x="8183879" y="4133087"/>
            <a:ext cx="3319273" cy="0"/>
          </a:xfrm>
          <a:prstGeom prst="line">
            <a:avLst/>
          </a:prstGeom>
          <a:ln w="12700">
            <a:solidFill>
              <a:srgbClr val="D4D3CC"/>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183879" y="4224527"/>
            <a:ext cx="3319272" cy="365760"/>
          </a:xfrm>
          <a:prstGeom prst="rect">
            <a:avLst/>
          </a:prstGeom>
          <a:noFill/>
        </p:spPr>
        <p:txBody>
          <a:bodyPr wrap="square" lIns="0" rIns="0" tIns="0" bIns="0" anchor="t">
            <a:spAutoFit/>
          </a:bodyPr>
          <a:lstStyle/>
          <a:p>
            <a:pPr algn="l">
              <a:lnSpc>
                <a:spcPct val="115000"/>
              </a:lnSpc>
            </a:pPr>
            <a:r>
              <a:rPr sz="1500" b="1">
                <a:solidFill>
                  <a:srgbClr val="1B2433"/>
                </a:solidFill>
                <a:latin typeface="맑은 고딕"/>
                <a:ea typeface="맑은 고딕"/>
                <a:cs typeface="맑은 고딕"/>
              </a:rPr>
              <a:t>안내</a:t>
            </a:r>
          </a:p>
        </p:txBody>
      </p:sp>
      <p:sp>
        <p:nvSpPr>
          <p:cNvPr id="17" name="TextBox 16"/>
          <p:cNvSpPr txBox="1"/>
          <p:nvPr/>
        </p:nvSpPr>
        <p:spPr>
          <a:xfrm>
            <a:off x="8183879" y="4535424"/>
            <a:ext cx="3319272" cy="365760"/>
          </a:xfrm>
          <a:prstGeom prst="rect">
            <a:avLst/>
          </a:prstGeom>
          <a:noFill/>
        </p:spPr>
        <p:txBody>
          <a:bodyPr wrap="square" lIns="0" rIns="0" tIns="0" bIns="0" anchor="t">
            <a:spAutoFit/>
          </a:bodyPr>
          <a:lstStyle/>
          <a:p>
            <a:pPr algn="l">
              <a:lnSpc>
                <a:spcPct val="115000"/>
              </a:lnSpc>
            </a:pPr>
            <a:r>
              <a:rPr sz="1200" b="0">
                <a:solidFill>
                  <a:srgbClr val="4A5363"/>
                </a:solidFill>
                <a:latin typeface="맑은 고딕"/>
                <a:ea typeface="맑은 고딕"/>
                <a:cs typeface="맑은 고딕"/>
              </a:rPr>
              <a:t>근거가 부족해 못 바꾼 줄 · 설치할 패키지</a:t>
            </a:r>
          </a:p>
        </p:txBody>
      </p:sp>
      <p:cxnSp>
        <p:nvCxnSpPr>
          <p:cNvPr id="18" name="Connector 17"/>
          <p:cNvCxnSpPr/>
          <p:nvPr/>
        </p:nvCxnSpPr>
        <p:spPr>
          <a:xfrm>
            <a:off x="8183879" y="4901183"/>
            <a:ext cx="3319273" cy="0"/>
          </a:xfrm>
          <a:prstGeom prst="line">
            <a:avLst/>
          </a:prstGeom>
          <a:ln w="12700">
            <a:solidFill>
              <a:srgbClr val="D4D3CC"/>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183879" y="4992623"/>
            <a:ext cx="3319272" cy="365760"/>
          </a:xfrm>
          <a:prstGeom prst="rect">
            <a:avLst/>
          </a:prstGeom>
          <a:noFill/>
        </p:spPr>
        <p:txBody>
          <a:bodyPr wrap="square" lIns="0" rIns="0" tIns="0" bIns="0" anchor="t">
            <a:spAutoFit/>
          </a:bodyPr>
          <a:lstStyle/>
          <a:p>
            <a:pPr algn="l">
              <a:lnSpc>
                <a:spcPct val="115000"/>
              </a:lnSpc>
            </a:pPr>
            <a:r>
              <a:rPr sz="1500" b="1">
                <a:solidFill>
                  <a:srgbClr val="1B2433"/>
                </a:solidFill>
                <a:latin typeface="맑은 고딕"/>
                <a:ea typeface="맑은 고딕"/>
                <a:cs typeface="맑은 고딕"/>
              </a:rPr>
              <a:t>확인용 예제 30개</a:t>
            </a:r>
          </a:p>
        </p:txBody>
      </p:sp>
      <p:sp>
        <p:nvSpPr>
          <p:cNvPr id="20" name="TextBox 19"/>
          <p:cNvSpPr txBox="1"/>
          <p:nvPr/>
        </p:nvSpPr>
        <p:spPr>
          <a:xfrm>
            <a:off x="8183879" y="5303520"/>
            <a:ext cx="3319272" cy="365760"/>
          </a:xfrm>
          <a:prstGeom prst="rect">
            <a:avLst/>
          </a:prstGeom>
          <a:noFill/>
        </p:spPr>
        <p:txBody>
          <a:bodyPr wrap="square" lIns="0" rIns="0" tIns="0" bIns="0" anchor="t">
            <a:spAutoFit/>
          </a:bodyPr>
          <a:lstStyle/>
          <a:p>
            <a:pPr algn="l">
              <a:lnSpc>
                <a:spcPct val="115000"/>
              </a:lnSpc>
            </a:pPr>
            <a:r>
              <a:rPr sz="1200" b="0">
                <a:solidFill>
                  <a:srgbClr val="4A5363"/>
                </a:solidFill>
                <a:latin typeface="맑은 고딕"/>
                <a:ea typeface="맑은 고딕"/>
                <a:cs typeface="맑은 고딕"/>
              </a:rPr>
              <a:t>사이드바에서 골라 바로 보내기</a:t>
            </a:r>
          </a:p>
        </p:txBody>
      </p:sp>
      <p:sp>
        <p:nvSpPr>
          <p:cNvPr id="21" name="TextBox 20"/>
          <p:cNvSpPr txBox="1"/>
          <p:nvPr/>
        </p:nvSpPr>
        <p:spPr>
          <a:xfrm>
            <a:off x="685800" y="6327648"/>
            <a:ext cx="10789920" cy="274320"/>
          </a:xfrm>
          <a:prstGeom prst="rect">
            <a:avLst/>
          </a:prstGeom>
          <a:noFill/>
        </p:spPr>
        <p:txBody>
          <a:bodyPr wrap="square" lIns="0" rIns="0" tIns="0" bIns="0" anchor="t">
            <a:spAutoFit/>
          </a:bodyPr>
          <a:lstStyle/>
          <a:p>
            <a:pPr algn="l">
              <a:lnSpc>
                <a:spcPct val="115000"/>
              </a:lnSpc>
            </a:pPr>
            <a:r>
              <a:rPr sz="1100" b="0">
                <a:solidFill>
                  <a:srgbClr val="8A8F98"/>
                </a:solidFill>
                <a:latin typeface="맑은 고딕"/>
                <a:ea typeface="맑은 고딕"/>
                <a:cs typeface="맑은 고딕"/>
              </a:rPr>
              <a:t>LangChain 마이그레이션 도우미 · 9</a:t>
            </a:r>
          </a:p>
        </p:txBody>
      </p:sp>
      <p:sp>
        <p:nvSpPr>
          <p:cNvPr id="22" name="Rectangle 21"/>
          <p:cNvSpPr/>
          <p:nvPr/>
        </p:nvSpPr>
        <p:spPr>
          <a:xfrm>
            <a:off x="0" y="6803136"/>
            <a:ext cx="12191695" cy="54864"/>
          </a:xfrm>
          <a:prstGeom prst="rect">
            <a:avLst/>
          </a:prstGeom>
          <a:solidFill>
            <a:srgbClr val="E1E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6095847" cy="54864"/>
          </a:xfrm>
          <a:prstGeom prst="rect">
            <a:avLst/>
          </a:prstGeom>
          <a:solidFill>
            <a:srgbClr val="1F5F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35040" y="566928"/>
            <a:ext cx="5486400" cy="274320"/>
          </a:xfrm>
          <a:prstGeom prst="rect">
            <a:avLst/>
          </a:prstGeom>
          <a:noFill/>
        </p:spPr>
        <p:txBody>
          <a:bodyPr wrap="square" lIns="0" rIns="0" tIns="0" bIns="0" anchor="t">
            <a:spAutoFit/>
          </a:bodyPr>
          <a:lstStyle/>
          <a:p>
            <a:pPr algn="r">
              <a:lnSpc>
                <a:spcPct val="115000"/>
              </a:lnSpc>
            </a:pPr>
            <a:r>
              <a:rPr sz="1000" b="0">
                <a:solidFill>
                  <a:srgbClr val="8A8F98"/>
                </a:solidFill>
                <a:latin typeface="맑은 고딕"/>
                <a:ea typeface="맑은 고딕"/>
                <a:cs typeface="맑은 고딕"/>
              </a:rPr>
              <a:t>문제와 해결   ● 만든 것   평가와 결과   배운 것</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5F1"/>
        </a:solidFill>
        <a:effectLst/>
      </p:bgPr>
    </p:bg>
    <p:spTree>
      <p:nvGrpSpPr>
        <p:cNvPr id="1" name=""/>
        <p:cNvGrpSpPr/>
        <p:nvPr/>
      </p:nvGrpSpPr>
      <p:grpSpPr/>
      <p:sp>
        <p:nvSpPr>
          <p:cNvPr id="2" name="TextBox 1"/>
          <p:cNvSpPr txBox="1"/>
          <p:nvPr/>
        </p:nvSpPr>
        <p:spPr>
          <a:xfrm>
            <a:off x="685800" y="566928"/>
            <a:ext cx="10789920" cy="274320"/>
          </a:xfrm>
          <a:prstGeom prst="rect">
            <a:avLst/>
          </a:prstGeom>
          <a:noFill/>
        </p:spPr>
        <p:txBody>
          <a:bodyPr wrap="square" lIns="0" rIns="0" tIns="0" bIns="0" anchor="t">
            <a:spAutoFit/>
          </a:bodyPr>
          <a:lstStyle/>
          <a:p>
            <a:pPr algn="l">
              <a:lnSpc>
                <a:spcPct val="115000"/>
              </a:lnSpc>
            </a:pPr>
            <a:r>
              <a:rPr sz="1300" b="1">
                <a:solidFill>
                  <a:srgbClr val="1F5FAE"/>
                </a:solidFill>
                <a:latin typeface="맑은 고딕"/>
                <a:ea typeface="맑은 고딕"/>
                <a:cs typeface="맑은 고딕"/>
              </a:rPr>
              <a:t>대화 기록 · 4번</a:t>
            </a:r>
          </a:p>
        </p:txBody>
      </p:sp>
      <p:sp>
        <p:nvSpPr>
          <p:cNvPr id="3" name="TextBox 2"/>
          <p:cNvSpPr txBox="1"/>
          <p:nvPr/>
        </p:nvSpPr>
        <p:spPr>
          <a:xfrm>
            <a:off x="685800" y="868680"/>
            <a:ext cx="10789920" cy="731520"/>
          </a:xfrm>
          <a:prstGeom prst="rect">
            <a:avLst/>
          </a:prstGeom>
          <a:noFill/>
        </p:spPr>
        <p:txBody>
          <a:bodyPr wrap="square" lIns="0" rIns="0" tIns="0" bIns="0" anchor="t">
            <a:spAutoFit/>
          </a:bodyPr>
          <a:lstStyle/>
          <a:p>
            <a:pPr algn="l">
              <a:lnSpc>
                <a:spcPct val="115000"/>
              </a:lnSpc>
            </a:pPr>
            <a:r>
              <a:rPr sz="3200" b="1">
                <a:solidFill>
                  <a:srgbClr val="1B2433"/>
                </a:solidFill>
                <a:latin typeface="맑은 고딕"/>
                <a:ea typeface="맑은 고딕"/>
                <a:cs typeface="맑은 고딕"/>
              </a:rPr>
              <a:t>TiDB에 사용자와 대화를 저장합니다</a:t>
            </a:r>
          </a:p>
        </p:txBody>
      </p:sp>
      <p:sp>
        <p:nvSpPr>
          <p:cNvPr id="4" name="Rounded Rectangle 3"/>
          <p:cNvSpPr/>
          <p:nvPr/>
        </p:nvSpPr>
        <p:spPr>
          <a:xfrm>
            <a:off x="685800" y="1828800"/>
            <a:ext cx="3840480" cy="1655064"/>
          </a:xfrm>
          <a:prstGeom prst="roundRect">
            <a:avLst>
              <a:gd name="adj" fmla="val 6000"/>
            </a:avLst>
          </a:prstGeom>
          <a:solidFill>
            <a:srgbClr val="FFFFFF"/>
          </a:solidFill>
          <a:ln w="9525">
            <a:solidFill>
              <a:srgbClr val="1F5FA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685800" y="1828800"/>
            <a:ext cx="3840480" cy="502920"/>
          </a:xfrm>
          <a:prstGeom prst="roundRect">
            <a:avLst>
              <a:gd name="adj" fmla="val 6000"/>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14400" y="1938528"/>
            <a:ext cx="3383280" cy="320040"/>
          </a:xfrm>
          <a:prstGeom prst="rect">
            <a:avLst/>
          </a:prstGeom>
          <a:noFill/>
        </p:spPr>
        <p:txBody>
          <a:bodyPr wrap="square" lIns="0" rIns="0" tIns="0" bIns="0" anchor="t">
            <a:spAutoFit/>
          </a:bodyPr>
          <a:lstStyle/>
          <a:p>
            <a:pPr algn="l">
              <a:lnSpc>
                <a:spcPct val="115000"/>
              </a:lnSpc>
            </a:pPr>
            <a:r>
              <a:rPr sz="1600" b="1">
                <a:solidFill>
                  <a:srgbClr val="FFFFFF"/>
                </a:solidFill>
                <a:latin typeface="맑은 고딕"/>
                <a:ea typeface="맑은 고딕"/>
                <a:cs typeface="맑은 고딕"/>
              </a:rPr>
              <a:t>users</a:t>
            </a:r>
          </a:p>
        </p:txBody>
      </p:sp>
      <p:sp>
        <p:nvSpPr>
          <p:cNvPr id="7" name="TextBox 6"/>
          <p:cNvSpPr txBox="1"/>
          <p:nvPr/>
        </p:nvSpPr>
        <p:spPr>
          <a:xfrm>
            <a:off x="914400" y="2423160"/>
            <a:ext cx="1463040" cy="320040"/>
          </a:xfrm>
          <a:prstGeom prst="rect">
            <a:avLst/>
          </a:prstGeom>
          <a:noFill/>
        </p:spPr>
        <p:txBody>
          <a:bodyPr wrap="square" lIns="0" rIns="0" tIns="0" bIns="0" anchor="t">
            <a:spAutoFit/>
          </a:bodyPr>
          <a:lstStyle/>
          <a:p>
            <a:pPr algn="l">
              <a:lnSpc>
                <a:spcPct val="115000"/>
              </a:lnSpc>
            </a:pPr>
            <a:r>
              <a:rPr sz="1300" b="1">
                <a:solidFill>
                  <a:srgbClr val="1B2433"/>
                </a:solidFill>
                <a:latin typeface="Consolas"/>
                <a:ea typeface="Consolas"/>
                <a:cs typeface="Consolas"/>
              </a:rPr>
              <a:t>uuid</a:t>
            </a:r>
          </a:p>
        </p:txBody>
      </p:sp>
      <p:sp>
        <p:nvSpPr>
          <p:cNvPr id="8" name="TextBox 7"/>
          <p:cNvSpPr txBox="1"/>
          <p:nvPr/>
        </p:nvSpPr>
        <p:spPr>
          <a:xfrm>
            <a:off x="2377440" y="2423160"/>
            <a:ext cx="1280160" cy="320040"/>
          </a:xfrm>
          <a:prstGeom prst="rect">
            <a:avLst/>
          </a:prstGeom>
          <a:noFill/>
        </p:spPr>
        <p:txBody>
          <a:bodyPr wrap="square" lIns="0" rIns="0" tIns="0" bIns="0" anchor="t">
            <a:spAutoFit/>
          </a:bodyPr>
          <a:lstStyle/>
          <a:p>
            <a:pPr algn="l">
              <a:lnSpc>
                <a:spcPct val="115000"/>
              </a:lnSpc>
            </a:pPr>
            <a:r>
              <a:rPr sz="1100" b="0">
                <a:solidFill>
                  <a:srgbClr val="4A5363"/>
                </a:solidFill>
                <a:latin typeface="Consolas"/>
                <a:ea typeface="Consolas"/>
                <a:cs typeface="Consolas"/>
              </a:rPr>
              <a:t>VARCHAR(36)</a:t>
            </a:r>
          </a:p>
        </p:txBody>
      </p:sp>
      <p:sp>
        <p:nvSpPr>
          <p:cNvPr id="9" name="TextBox 8"/>
          <p:cNvSpPr txBox="1"/>
          <p:nvPr/>
        </p:nvSpPr>
        <p:spPr>
          <a:xfrm>
            <a:off x="3657600" y="2423160"/>
            <a:ext cx="731520" cy="320040"/>
          </a:xfrm>
          <a:prstGeom prst="rect">
            <a:avLst/>
          </a:prstGeom>
          <a:noFill/>
        </p:spPr>
        <p:txBody>
          <a:bodyPr wrap="square" lIns="0" rIns="0" tIns="0" bIns="0" anchor="t">
            <a:spAutoFit/>
          </a:bodyPr>
          <a:lstStyle/>
          <a:p>
            <a:pPr algn="l">
              <a:lnSpc>
                <a:spcPct val="115000"/>
              </a:lnSpc>
            </a:pPr>
            <a:r>
              <a:rPr sz="1100" b="1">
                <a:solidFill>
                  <a:srgbClr val="B4471B"/>
                </a:solidFill>
                <a:latin typeface="맑은 고딕"/>
                <a:ea typeface="맑은 고딕"/>
                <a:cs typeface="맑은 고딕"/>
              </a:rPr>
              <a:t>PK</a:t>
            </a:r>
          </a:p>
        </p:txBody>
      </p:sp>
      <p:sp>
        <p:nvSpPr>
          <p:cNvPr id="10" name="TextBox 9"/>
          <p:cNvSpPr txBox="1"/>
          <p:nvPr/>
        </p:nvSpPr>
        <p:spPr>
          <a:xfrm>
            <a:off x="914400" y="2807208"/>
            <a:ext cx="1463040" cy="320040"/>
          </a:xfrm>
          <a:prstGeom prst="rect">
            <a:avLst/>
          </a:prstGeom>
          <a:noFill/>
        </p:spPr>
        <p:txBody>
          <a:bodyPr wrap="square" lIns="0" rIns="0" tIns="0" bIns="0" anchor="t">
            <a:spAutoFit/>
          </a:bodyPr>
          <a:lstStyle/>
          <a:p>
            <a:pPr algn="l">
              <a:lnSpc>
                <a:spcPct val="115000"/>
              </a:lnSpc>
            </a:pPr>
            <a:r>
              <a:rPr sz="1300" b="1">
                <a:solidFill>
                  <a:srgbClr val="1B2433"/>
                </a:solidFill>
                <a:latin typeface="Consolas"/>
                <a:ea typeface="Consolas"/>
                <a:cs typeface="Consolas"/>
              </a:rPr>
              <a:t>user_id</a:t>
            </a:r>
          </a:p>
        </p:txBody>
      </p:sp>
      <p:sp>
        <p:nvSpPr>
          <p:cNvPr id="11" name="TextBox 10"/>
          <p:cNvSpPr txBox="1"/>
          <p:nvPr/>
        </p:nvSpPr>
        <p:spPr>
          <a:xfrm>
            <a:off x="2377440" y="2807208"/>
            <a:ext cx="1280160" cy="320040"/>
          </a:xfrm>
          <a:prstGeom prst="rect">
            <a:avLst/>
          </a:prstGeom>
          <a:noFill/>
        </p:spPr>
        <p:txBody>
          <a:bodyPr wrap="square" lIns="0" rIns="0" tIns="0" bIns="0" anchor="t">
            <a:spAutoFit/>
          </a:bodyPr>
          <a:lstStyle/>
          <a:p>
            <a:pPr algn="l">
              <a:lnSpc>
                <a:spcPct val="115000"/>
              </a:lnSpc>
            </a:pPr>
            <a:r>
              <a:rPr sz="1100" b="0">
                <a:solidFill>
                  <a:srgbClr val="4A5363"/>
                </a:solidFill>
                <a:latin typeface="Consolas"/>
                <a:ea typeface="Consolas"/>
                <a:cs typeface="Consolas"/>
              </a:rPr>
              <a:t>VARCHAR(100)</a:t>
            </a:r>
          </a:p>
        </p:txBody>
      </p:sp>
      <p:sp>
        <p:nvSpPr>
          <p:cNvPr id="12" name="TextBox 11"/>
          <p:cNvSpPr txBox="1"/>
          <p:nvPr/>
        </p:nvSpPr>
        <p:spPr>
          <a:xfrm>
            <a:off x="3657600" y="2807208"/>
            <a:ext cx="731520" cy="320040"/>
          </a:xfrm>
          <a:prstGeom prst="rect">
            <a:avLst/>
          </a:prstGeom>
          <a:noFill/>
        </p:spPr>
        <p:txBody>
          <a:bodyPr wrap="square" lIns="0" rIns="0" tIns="0" bIns="0" anchor="t">
            <a:spAutoFit/>
          </a:bodyPr>
          <a:lstStyle/>
          <a:p>
            <a:pPr algn="l">
              <a:lnSpc>
                <a:spcPct val="115000"/>
              </a:lnSpc>
            </a:pPr>
            <a:r>
              <a:rPr sz="1100" b="1">
                <a:solidFill>
                  <a:srgbClr val="B4471B"/>
                </a:solidFill>
                <a:latin typeface="맑은 고딕"/>
                <a:ea typeface="맑은 고딕"/>
                <a:cs typeface="맑은 고딕"/>
              </a:rPr>
              <a:t>UNIQUE</a:t>
            </a:r>
          </a:p>
        </p:txBody>
      </p:sp>
      <p:sp>
        <p:nvSpPr>
          <p:cNvPr id="13" name="TextBox 12"/>
          <p:cNvSpPr txBox="1"/>
          <p:nvPr/>
        </p:nvSpPr>
        <p:spPr>
          <a:xfrm>
            <a:off x="914400" y="3191256"/>
            <a:ext cx="1463040" cy="320040"/>
          </a:xfrm>
          <a:prstGeom prst="rect">
            <a:avLst/>
          </a:prstGeom>
          <a:noFill/>
        </p:spPr>
        <p:txBody>
          <a:bodyPr wrap="square" lIns="0" rIns="0" tIns="0" bIns="0" anchor="t">
            <a:spAutoFit/>
          </a:bodyPr>
          <a:lstStyle/>
          <a:p>
            <a:pPr algn="l">
              <a:lnSpc>
                <a:spcPct val="115000"/>
              </a:lnSpc>
            </a:pPr>
            <a:r>
              <a:rPr sz="1300" b="0">
                <a:solidFill>
                  <a:srgbClr val="1B2433"/>
                </a:solidFill>
                <a:latin typeface="Consolas"/>
                <a:ea typeface="Consolas"/>
                <a:cs typeface="Consolas"/>
              </a:rPr>
              <a:t>created_at</a:t>
            </a:r>
          </a:p>
        </p:txBody>
      </p:sp>
      <p:sp>
        <p:nvSpPr>
          <p:cNvPr id="14" name="TextBox 13"/>
          <p:cNvSpPr txBox="1"/>
          <p:nvPr/>
        </p:nvSpPr>
        <p:spPr>
          <a:xfrm>
            <a:off x="2377440" y="3191256"/>
            <a:ext cx="1280160" cy="320040"/>
          </a:xfrm>
          <a:prstGeom prst="rect">
            <a:avLst/>
          </a:prstGeom>
          <a:noFill/>
        </p:spPr>
        <p:txBody>
          <a:bodyPr wrap="square" lIns="0" rIns="0" tIns="0" bIns="0" anchor="t">
            <a:spAutoFit/>
          </a:bodyPr>
          <a:lstStyle/>
          <a:p>
            <a:pPr algn="l">
              <a:lnSpc>
                <a:spcPct val="115000"/>
              </a:lnSpc>
            </a:pPr>
            <a:r>
              <a:rPr sz="1100" b="0">
                <a:solidFill>
                  <a:srgbClr val="4A5363"/>
                </a:solidFill>
                <a:latin typeface="Consolas"/>
                <a:ea typeface="Consolas"/>
                <a:cs typeface="Consolas"/>
              </a:rPr>
              <a:t>DATETIME</a:t>
            </a:r>
          </a:p>
        </p:txBody>
      </p:sp>
      <p:sp>
        <p:nvSpPr>
          <p:cNvPr id="15" name="TextBox 14"/>
          <p:cNvSpPr txBox="1"/>
          <p:nvPr/>
        </p:nvSpPr>
        <p:spPr>
          <a:xfrm>
            <a:off x="3657600" y="3191256"/>
            <a:ext cx="731520" cy="320040"/>
          </a:xfrm>
          <a:prstGeom prst="rect">
            <a:avLst/>
          </a:prstGeom>
          <a:noFill/>
        </p:spPr>
        <p:txBody>
          <a:bodyPr wrap="square" lIns="0" rIns="0" tIns="0" bIns="0" anchor="t">
            <a:spAutoFit/>
          </a:bodyPr>
          <a:lstStyle/>
          <a:p>
            <a:pPr algn="l">
              <a:lnSpc>
                <a:spcPct val="115000"/>
              </a:lnSpc>
            </a:pPr>
            <a:r>
              <a:rPr sz="1100" b="1">
                <a:solidFill>
                  <a:srgbClr val="B4471B"/>
                </a:solidFill>
                <a:latin typeface="맑은 고딕"/>
                <a:ea typeface="맑은 고딕"/>
                <a:cs typeface="맑은 고딕"/>
              </a:rPr>
              <a:t/>
            </a:r>
          </a:p>
        </p:txBody>
      </p:sp>
      <p:sp>
        <p:nvSpPr>
          <p:cNvPr id="16" name="Rounded Rectangle 15"/>
          <p:cNvSpPr/>
          <p:nvPr/>
        </p:nvSpPr>
        <p:spPr>
          <a:xfrm>
            <a:off x="5120640" y="1828800"/>
            <a:ext cx="3840480" cy="2807208"/>
          </a:xfrm>
          <a:prstGeom prst="roundRect">
            <a:avLst>
              <a:gd name="adj" fmla="val 6000"/>
            </a:avLst>
          </a:prstGeom>
          <a:solidFill>
            <a:srgbClr val="FFFFFF"/>
          </a:solidFill>
          <a:ln w="9525">
            <a:solidFill>
              <a:srgbClr val="1F5FA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5120640" y="1828800"/>
            <a:ext cx="3840480" cy="502920"/>
          </a:xfrm>
          <a:prstGeom prst="roundRect">
            <a:avLst>
              <a:gd name="adj" fmla="val 6000"/>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349240" y="1938528"/>
            <a:ext cx="3383280" cy="320040"/>
          </a:xfrm>
          <a:prstGeom prst="rect">
            <a:avLst/>
          </a:prstGeom>
          <a:noFill/>
        </p:spPr>
        <p:txBody>
          <a:bodyPr wrap="square" lIns="0" rIns="0" tIns="0" bIns="0" anchor="t">
            <a:spAutoFit/>
          </a:bodyPr>
          <a:lstStyle/>
          <a:p>
            <a:pPr algn="l">
              <a:lnSpc>
                <a:spcPct val="115000"/>
              </a:lnSpc>
            </a:pPr>
            <a:r>
              <a:rPr sz="1600" b="1">
                <a:solidFill>
                  <a:srgbClr val="FFFFFF"/>
                </a:solidFill>
                <a:latin typeface="맑은 고딕"/>
                <a:ea typeface="맑은 고딕"/>
                <a:cs typeface="맑은 고딕"/>
              </a:rPr>
              <a:t>chat_history</a:t>
            </a:r>
          </a:p>
        </p:txBody>
      </p:sp>
      <p:sp>
        <p:nvSpPr>
          <p:cNvPr id="19" name="TextBox 18"/>
          <p:cNvSpPr txBox="1"/>
          <p:nvPr/>
        </p:nvSpPr>
        <p:spPr>
          <a:xfrm>
            <a:off x="5349240" y="2423160"/>
            <a:ext cx="1463040" cy="320040"/>
          </a:xfrm>
          <a:prstGeom prst="rect">
            <a:avLst/>
          </a:prstGeom>
          <a:noFill/>
        </p:spPr>
        <p:txBody>
          <a:bodyPr wrap="square" lIns="0" rIns="0" tIns="0" bIns="0" anchor="t">
            <a:spAutoFit/>
          </a:bodyPr>
          <a:lstStyle/>
          <a:p>
            <a:pPr algn="l">
              <a:lnSpc>
                <a:spcPct val="115000"/>
              </a:lnSpc>
            </a:pPr>
            <a:r>
              <a:rPr sz="1300" b="1">
                <a:solidFill>
                  <a:srgbClr val="1B2433"/>
                </a:solidFill>
                <a:latin typeface="Consolas"/>
                <a:ea typeface="Consolas"/>
                <a:cs typeface="Consolas"/>
              </a:rPr>
              <a:t>uuid</a:t>
            </a:r>
          </a:p>
        </p:txBody>
      </p:sp>
      <p:sp>
        <p:nvSpPr>
          <p:cNvPr id="20" name="TextBox 19"/>
          <p:cNvSpPr txBox="1"/>
          <p:nvPr/>
        </p:nvSpPr>
        <p:spPr>
          <a:xfrm>
            <a:off x="6812279" y="2423160"/>
            <a:ext cx="1280160" cy="320040"/>
          </a:xfrm>
          <a:prstGeom prst="rect">
            <a:avLst/>
          </a:prstGeom>
          <a:noFill/>
        </p:spPr>
        <p:txBody>
          <a:bodyPr wrap="square" lIns="0" rIns="0" tIns="0" bIns="0" anchor="t">
            <a:spAutoFit/>
          </a:bodyPr>
          <a:lstStyle/>
          <a:p>
            <a:pPr algn="l">
              <a:lnSpc>
                <a:spcPct val="115000"/>
              </a:lnSpc>
            </a:pPr>
            <a:r>
              <a:rPr sz="1100" b="0">
                <a:solidFill>
                  <a:srgbClr val="4A5363"/>
                </a:solidFill>
                <a:latin typeface="Consolas"/>
                <a:ea typeface="Consolas"/>
                <a:cs typeface="Consolas"/>
              </a:rPr>
              <a:t>VARCHAR(36)</a:t>
            </a:r>
          </a:p>
        </p:txBody>
      </p:sp>
      <p:sp>
        <p:nvSpPr>
          <p:cNvPr id="21" name="TextBox 20"/>
          <p:cNvSpPr txBox="1"/>
          <p:nvPr/>
        </p:nvSpPr>
        <p:spPr>
          <a:xfrm>
            <a:off x="8092440" y="2423160"/>
            <a:ext cx="731520" cy="320040"/>
          </a:xfrm>
          <a:prstGeom prst="rect">
            <a:avLst/>
          </a:prstGeom>
          <a:noFill/>
        </p:spPr>
        <p:txBody>
          <a:bodyPr wrap="square" lIns="0" rIns="0" tIns="0" bIns="0" anchor="t">
            <a:spAutoFit/>
          </a:bodyPr>
          <a:lstStyle/>
          <a:p>
            <a:pPr algn="l">
              <a:lnSpc>
                <a:spcPct val="115000"/>
              </a:lnSpc>
            </a:pPr>
            <a:r>
              <a:rPr sz="1100" b="1">
                <a:solidFill>
                  <a:srgbClr val="B4471B"/>
                </a:solidFill>
                <a:latin typeface="맑은 고딕"/>
                <a:ea typeface="맑은 고딕"/>
                <a:cs typeface="맑은 고딕"/>
              </a:rPr>
              <a:t>PK</a:t>
            </a:r>
          </a:p>
        </p:txBody>
      </p:sp>
      <p:sp>
        <p:nvSpPr>
          <p:cNvPr id="22" name="TextBox 21"/>
          <p:cNvSpPr txBox="1"/>
          <p:nvPr/>
        </p:nvSpPr>
        <p:spPr>
          <a:xfrm>
            <a:off x="5349240" y="2807208"/>
            <a:ext cx="1463040" cy="320040"/>
          </a:xfrm>
          <a:prstGeom prst="rect">
            <a:avLst/>
          </a:prstGeom>
          <a:noFill/>
        </p:spPr>
        <p:txBody>
          <a:bodyPr wrap="square" lIns="0" rIns="0" tIns="0" bIns="0" anchor="t">
            <a:spAutoFit/>
          </a:bodyPr>
          <a:lstStyle/>
          <a:p>
            <a:pPr algn="l">
              <a:lnSpc>
                <a:spcPct val="115000"/>
              </a:lnSpc>
            </a:pPr>
            <a:r>
              <a:rPr sz="1300" b="1">
                <a:solidFill>
                  <a:srgbClr val="1B2433"/>
                </a:solidFill>
                <a:latin typeface="Consolas"/>
                <a:ea typeface="Consolas"/>
                <a:cs typeface="Consolas"/>
              </a:rPr>
              <a:t>user_id</a:t>
            </a:r>
          </a:p>
        </p:txBody>
      </p:sp>
      <p:sp>
        <p:nvSpPr>
          <p:cNvPr id="23" name="TextBox 22"/>
          <p:cNvSpPr txBox="1"/>
          <p:nvPr/>
        </p:nvSpPr>
        <p:spPr>
          <a:xfrm>
            <a:off x="6812279" y="2807208"/>
            <a:ext cx="1280160" cy="320040"/>
          </a:xfrm>
          <a:prstGeom prst="rect">
            <a:avLst/>
          </a:prstGeom>
          <a:noFill/>
        </p:spPr>
        <p:txBody>
          <a:bodyPr wrap="square" lIns="0" rIns="0" tIns="0" bIns="0" anchor="t">
            <a:spAutoFit/>
          </a:bodyPr>
          <a:lstStyle/>
          <a:p>
            <a:pPr algn="l">
              <a:lnSpc>
                <a:spcPct val="115000"/>
              </a:lnSpc>
            </a:pPr>
            <a:r>
              <a:rPr sz="1100" b="0">
                <a:solidFill>
                  <a:srgbClr val="4A5363"/>
                </a:solidFill>
                <a:latin typeface="Consolas"/>
                <a:ea typeface="Consolas"/>
                <a:cs typeface="Consolas"/>
              </a:rPr>
              <a:t>VARCHAR(100)</a:t>
            </a:r>
          </a:p>
        </p:txBody>
      </p:sp>
      <p:sp>
        <p:nvSpPr>
          <p:cNvPr id="24" name="TextBox 23"/>
          <p:cNvSpPr txBox="1"/>
          <p:nvPr/>
        </p:nvSpPr>
        <p:spPr>
          <a:xfrm>
            <a:off x="8092440" y="2807208"/>
            <a:ext cx="731520" cy="320040"/>
          </a:xfrm>
          <a:prstGeom prst="rect">
            <a:avLst/>
          </a:prstGeom>
          <a:noFill/>
        </p:spPr>
        <p:txBody>
          <a:bodyPr wrap="square" lIns="0" rIns="0" tIns="0" bIns="0" anchor="t">
            <a:spAutoFit/>
          </a:bodyPr>
          <a:lstStyle/>
          <a:p>
            <a:pPr algn="l">
              <a:lnSpc>
                <a:spcPct val="115000"/>
              </a:lnSpc>
            </a:pPr>
            <a:r>
              <a:rPr sz="1100" b="1">
                <a:solidFill>
                  <a:srgbClr val="B4471B"/>
                </a:solidFill>
                <a:latin typeface="맑은 고딕"/>
                <a:ea typeface="맑은 고딕"/>
                <a:cs typeface="맑은 고딕"/>
              </a:rPr>
              <a:t>FK</a:t>
            </a:r>
          </a:p>
        </p:txBody>
      </p:sp>
      <p:sp>
        <p:nvSpPr>
          <p:cNvPr id="25" name="TextBox 24"/>
          <p:cNvSpPr txBox="1"/>
          <p:nvPr/>
        </p:nvSpPr>
        <p:spPr>
          <a:xfrm>
            <a:off x="5349240" y="3191256"/>
            <a:ext cx="1463040" cy="320040"/>
          </a:xfrm>
          <a:prstGeom prst="rect">
            <a:avLst/>
          </a:prstGeom>
          <a:noFill/>
        </p:spPr>
        <p:txBody>
          <a:bodyPr wrap="square" lIns="0" rIns="0" tIns="0" bIns="0" anchor="t">
            <a:spAutoFit/>
          </a:bodyPr>
          <a:lstStyle/>
          <a:p>
            <a:pPr algn="l">
              <a:lnSpc>
                <a:spcPct val="115000"/>
              </a:lnSpc>
            </a:pPr>
            <a:r>
              <a:rPr sz="1300" b="1">
                <a:solidFill>
                  <a:srgbClr val="1B2433"/>
                </a:solidFill>
                <a:latin typeface="Consolas"/>
                <a:ea typeface="Consolas"/>
                <a:cs typeface="Consolas"/>
              </a:rPr>
              <a:t>session_id</a:t>
            </a:r>
          </a:p>
        </p:txBody>
      </p:sp>
      <p:sp>
        <p:nvSpPr>
          <p:cNvPr id="26" name="TextBox 25"/>
          <p:cNvSpPr txBox="1"/>
          <p:nvPr/>
        </p:nvSpPr>
        <p:spPr>
          <a:xfrm>
            <a:off x="6812279" y="3191256"/>
            <a:ext cx="1280160" cy="320040"/>
          </a:xfrm>
          <a:prstGeom prst="rect">
            <a:avLst/>
          </a:prstGeom>
          <a:noFill/>
        </p:spPr>
        <p:txBody>
          <a:bodyPr wrap="square" lIns="0" rIns="0" tIns="0" bIns="0" anchor="t">
            <a:spAutoFit/>
          </a:bodyPr>
          <a:lstStyle/>
          <a:p>
            <a:pPr algn="l">
              <a:lnSpc>
                <a:spcPct val="115000"/>
              </a:lnSpc>
            </a:pPr>
            <a:r>
              <a:rPr sz="1100" b="0">
                <a:solidFill>
                  <a:srgbClr val="4A5363"/>
                </a:solidFill>
                <a:latin typeface="Consolas"/>
                <a:ea typeface="Consolas"/>
                <a:cs typeface="Consolas"/>
              </a:rPr>
              <a:t>VARCHAR(100)</a:t>
            </a:r>
          </a:p>
        </p:txBody>
      </p:sp>
      <p:sp>
        <p:nvSpPr>
          <p:cNvPr id="27" name="TextBox 26"/>
          <p:cNvSpPr txBox="1"/>
          <p:nvPr/>
        </p:nvSpPr>
        <p:spPr>
          <a:xfrm>
            <a:off x="8092440" y="3191256"/>
            <a:ext cx="731520" cy="320040"/>
          </a:xfrm>
          <a:prstGeom prst="rect">
            <a:avLst/>
          </a:prstGeom>
          <a:noFill/>
        </p:spPr>
        <p:txBody>
          <a:bodyPr wrap="square" lIns="0" rIns="0" tIns="0" bIns="0" anchor="t">
            <a:spAutoFit/>
          </a:bodyPr>
          <a:lstStyle/>
          <a:p>
            <a:pPr algn="l">
              <a:lnSpc>
                <a:spcPct val="115000"/>
              </a:lnSpc>
            </a:pPr>
            <a:r>
              <a:rPr sz="1100" b="1">
                <a:solidFill>
                  <a:srgbClr val="B4471B"/>
                </a:solidFill>
                <a:latin typeface="맑은 고딕"/>
                <a:ea typeface="맑은 고딕"/>
                <a:cs typeface="맑은 고딕"/>
              </a:rPr>
              <a:t>IDX</a:t>
            </a:r>
          </a:p>
        </p:txBody>
      </p:sp>
      <p:sp>
        <p:nvSpPr>
          <p:cNvPr id="28" name="TextBox 27"/>
          <p:cNvSpPr txBox="1"/>
          <p:nvPr/>
        </p:nvSpPr>
        <p:spPr>
          <a:xfrm>
            <a:off x="5349240" y="3575304"/>
            <a:ext cx="1463040" cy="320040"/>
          </a:xfrm>
          <a:prstGeom prst="rect">
            <a:avLst/>
          </a:prstGeom>
          <a:noFill/>
        </p:spPr>
        <p:txBody>
          <a:bodyPr wrap="square" lIns="0" rIns="0" tIns="0" bIns="0" anchor="t">
            <a:spAutoFit/>
          </a:bodyPr>
          <a:lstStyle/>
          <a:p>
            <a:pPr algn="l">
              <a:lnSpc>
                <a:spcPct val="115000"/>
              </a:lnSpc>
            </a:pPr>
            <a:r>
              <a:rPr sz="1300" b="0">
                <a:solidFill>
                  <a:srgbClr val="1B2433"/>
                </a:solidFill>
                <a:latin typeface="Consolas"/>
                <a:ea typeface="Consolas"/>
                <a:cs typeface="Consolas"/>
              </a:rPr>
              <a:t>question</a:t>
            </a:r>
          </a:p>
        </p:txBody>
      </p:sp>
      <p:sp>
        <p:nvSpPr>
          <p:cNvPr id="29" name="TextBox 28"/>
          <p:cNvSpPr txBox="1"/>
          <p:nvPr/>
        </p:nvSpPr>
        <p:spPr>
          <a:xfrm>
            <a:off x="6812279" y="3575304"/>
            <a:ext cx="1280160" cy="320040"/>
          </a:xfrm>
          <a:prstGeom prst="rect">
            <a:avLst/>
          </a:prstGeom>
          <a:noFill/>
        </p:spPr>
        <p:txBody>
          <a:bodyPr wrap="square" lIns="0" rIns="0" tIns="0" bIns="0" anchor="t">
            <a:spAutoFit/>
          </a:bodyPr>
          <a:lstStyle/>
          <a:p>
            <a:pPr algn="l">
              <a:lnSpc>
                <a:spcPct val="115000"/>
              </a:lnSpc>
            </a:pPr>
            <a:r>
              <a:rPr sz="1100" b="0">
                <a:solidFill>
                  <a:srgbClr val="4A5363"/>
                </a:solidFill>
                <a:latin typeface="Consolas"/>
                <a:ea typeface="Consolas"/>
                <a:cs typeface="Consolas"/>
              </a:rPr>
              <a:t>TEXT</a:t>
            </a:r>
          </a:p>
        </p:txBody>
      </p:sp>
      <p:sp>
        <p:nvSpPr>
          <p:cNvPr id="30" name="TextBox 29"/>
          <p:cNvSpPr txBox="1"/>
          <p:nvPr/>
        </p:nvSpPr>
        <p:spPr>
          <a:xfrm>
            <a:off x="8092440" y="3575304"/>
            <a:ext cx="731520" cy="320040"/>
          </a:xfrm>
          <a:prstGeom prst="rect">
            <a:avLst/>
          </a:prstGeom>
          <a:noFill/>
        </p:spPr>
        <p:txBody>
          <a:bodyPr wrap="square" lIns="0" rIns="0" tIns="0" bIns="0" anchor="t">
            <a:spAutoFit/>
          </a:bodyPr>
          <a:lstStyle/>
          <a:p>
            <a:pPr algn="l">
              <a:lnSpc>
                <a:spcPct val="115000"/>
              </a:lnSpc>
            </a:pPr>
            <a:r>
              <a:rPr sz="1100" b="1">
                <a:solidFill>
                  <a:srgbClr val="B4471B"/>
                </a:solidFill>
                <a:latin typeface="맑은 고딕"/>
                <a:ea typeface="맑은 고딕"/>
                <a:cs typeface="맑은 고딕"/>
              </a:rPr>
              <a:t/>
            </a:r>
          </a:p>
        </p:txBody>
      </p:sp>
      <p:sp>
        <p:nvSpPr>
          <p:cNvPr id="31" name="TextBox 30"/>
          <p:cNvSpPr txBox="1"/>
          <p:nvPr/>
        </p:nvSpPr>
        <p:spPr>
          <a:xfrm>
            <a:off x="5349240" y="3959352"/>
            <a:ext cx="1463040" cy="320040"/>
          </a:xfrm>
          <a:prstGeom prst="rect">
            <a:avLst/>
          </a:prstGeom>
          <a:noFill/>
        </p:spPr>
        <p:txBody>
          <a:bodyPr wrap="square" lIns="0" rIns="0" tIns="0" bIns="0" anchor="t">
            <a:spAutoFit/>
          </a:bodyPr>
          <a:lstStyle/>
          <a:p>
            <a:pPr algn="l">
              <a:lnSpc>
                <a:spcPct val="115000"/>
              </a:lnSpc>
            </a:pPr>
            <a:r>
              <a:rPr sz="1300" b="0">
                <a:solidFill>
                  <a:srgbClr val="1B2433"/>
                </a:solidFill>
                <a:latin typeface="Consolas"/>
                <a:ea typeface="Consolas"/>
                <a:cs typeface="Consolas"/>
              </a:rPr>
              <a:t>answer</a:t>
            </a:r>
          </a:p>
        </p:txBody>
      </p:sp>
      <p:sp>
        <p:nvSpPr>
          <p:cNvPr id="32" name="TextBox 31"/>
          <p:cNvSpPr txBox="1"/>
          <p:nvPr/>
        </p:nvSpPr>
        <p:spPr>
          <a:xfrm>
            <a:off x="6812279" y="3959352"/>
            <a:ext cx="1280160" cy="320040"/>
          </a:xfrm>
          <a:prstGeom prst="rect">
            <a:avLst/>
          </a:prstGeom>
          <a:noFill/>
        </p:spPr>
        <p:txBody>
          <a:bodyPr wrap="square" lIns="0" rIns="0" tIns="0" bIns="0" anchor="t">
            <a:spAutoFit/>
          </a:bodyPr>
          <a:lstStyle/>
          <a:p>
            <a:pPr algn="l">
              <a:lnSpc>
                <a:spcPct val="115000"/>
              </a:lnSpc>
            </a:pPr>
            <a:r>
              <a:rPr sz="1100" b="0">
                <a:solidFill>
                  <a:srgbClr val="4A5363"/>
                </a:solidFill>
                <a:latin typeface="Consolas"/>
                <a:ea typeface="Consolas"/>
                <a:cs typeface="Consolas"/>
              </a:rPr>
              <a:t>TEXT</a:t>
            </a:r>
          </a:p>
        </p:txBody>
      </p:sp>
      <p:sp>
        <p:nvSpPr>
          <p:cNvPr id="33" name="TextBox 32"/>
          <p:cNvSpPr txBox="1"/>
          <p:nvPr/>
        </p:nvSpPr>
        <p:spPr>
          <a:xfrm>
            <a:off x="8092440" y="3959352"/>
            <a:ext cx="731520" cy="320040"/>
          </a:xfrm>
          <a:prstGeom prst="rect">
            <a:avLst/>
          </a:prstGeom>
          <a:noFill/>
        </p:spPr>
        <p:txBody>
          <a:bodyPr wrap="square" lIns="0" rIns="0" tIns="0" bIns="0" anchor="t">
            <a:spAutoFit/>
          </a:bodyPr>
          <a:lstStyle/>
          <a:p>
            <a:pPr algn="l">
              <a:lnSpc>
                <a:spcPct val="115000"/>
              </a:lnSpc>
            </a:pPr>
            <a:r>
              <a:rPr sz="1100" b="1">
                <a:solidFill>
                  <a:srgbClr val="B4471B"/>
                </a:solidFill>
                <a:latin typeface="맑은 고딕"/>
                <a:ea typeface="맑은 고딕"/>
                <a:cs typeface="맑은 고딕"/>
              </a:rPr>
              <a:t/>
            </a:r>
          </a:p>
        </p:txBody>
      </p:sp>
      <p:sp>
        <p:nvSpPr>
          <p:cNvPr id="34" name="TextBox 33"/>
          <p:cNvSpPr txBox="1"/>
          <p:nvPr/>
        </p:nvSpPr>
        <p:spPr>
          <a:xfrm>
            <a:off x="5349240" y="4343400"/>
            <a:ext cx="1463040" cy="320040"/>
          </a:xfrm>
          <a:prstGeom prst="rect">
            <a:avLst/>
          </a:prstGeom>
          <a:noFill/>
        </p:spPr>
        <p:txBody>
          <a:bodyPr wrap="square" lIns="0" rIns="0" tIns="0" bIns="0" anchor="t">
            <a:spAutoFit/>
          </a:bodyPr>
          <a:lstStyle/>
          <a:p>
            <a:pPr algn="l">
              <a:lnSpc>
                <a:spcPct val="115000"/>
              </a:lnSpc>
            </a:pPr>
            <a:r>
              <a:rPr sz="1300" b="1">
                <a:solidFill>
                  <a:srgbClr val="1B2433"/>
                </a:solidFill>
                <a:latin typeface="Consolas"/>
                <a:ea typeface="Consolas"/>
                <a:cs typeface="Consolas"/>
              </a:rPr>
              <a:t>created_at</a:t>
            </a:r>
          </a:p>
        </p:txBody>
      </p:sp>
      <p:sp>
        <p:nvSpPr>
          <p:cNvPr id="35" name="TextBox 34"/>
          <p:cNvSpPr txBox="1"/>
          <p:nvPr/>
        </p:nvSpPr>
        <p:spPr>
          <a:xfrm>
            <a:off x="6812279" y="4343400"/>
            <a:ext cx="1280160" cy="320040"/>
          </a:xfrm>
          <a:prstGeom prst="rect">
            <a:avLst/>
          </a:prstGeom>
          <a:noFill/>
        </p:spPr>
        <p:txBody>
          <a:bodyPr wrap="square" lIns="0" rIns="0" tIns="0" bIns="0" anchor="t">
            <a:spAutoFit/>
          </a:bodyPr>
          <a:lstStyle/>
          <a:p>
            <a:pPr algn="l">
              <a:lnSpc>
                <a:spcPct val="115000"/>
              </a:lnSpc>
            </a:pPr>
            <a:r>
              <a:rPr sz="1100" b="0">
                <a:solidFill>
                  <a:srgbClr val="4A5363"/>
                </a:solidFill>
                <a:latin typeface="Consolas"/>
                <a:ea typeface="Consolas"/>
                <a:cs typeface="Consolas"/>
              </a:rPr>
              <a:t>DATETIME</a:t>
            </a:r>
          </a:p>
        </p:txBody>
      </p:sp>
      <p:sp>
        <p:nvSpPr>
          <p:cNvPr id="36" name="TextBox 35"/>
          <p:cNvSpPr txBox="1"/>
          <p:nvPr/>
        </p:nvSpPr>
        <p:spPr>
          <a:xfrm>
            <a:off x="8092440" y="4343400"/>
            <a:ext cx="731520" cy="320040"/>
          </a:xfrm>
          <a:prstGeom prst="rect">
            <a:avLst/>
          </a:prstGeom>
          <a:noFill/>
        </p:spPr>
        <p:txBody>
          <a:bodyPr wrap="square" lIns="0" rIns="0" tIns="0" bIns="0" anchor="t">
            <a:spAutoFit/>
          </a:bodyPr>
          <a:lstStyle/>
          <a:p>
            <a:pPr algn="l">
              <a:lnSpc>
                <a:spcPct val="115000"/>
              </a:lnSpc>
            </a:pPr>
            <a:r>
              <a:rPr sz="1100" b="1">
                <a:solidFill>
                  <a:srgbClr val="B4471B"/>
                </a:solidFill>
                <a:latin typeface="맑은 고딕"/>
                <a:ea typeface="맑은 고딕"/>
                <a:cs typeface="맑은 고딕"/>
              </a:rPr>
              <a:t>IDX</a:t>
            </a:r>
          </a:p>
        </p:txBody>
      </p:sp>
      <p:cxnSp>
        <p:nvCxnSpPr>
          <p:cNvPr id="37" name="Connector 36"/>
          <p:cNvCxnSpPr/>
          <p:nvPr/>
        </p:nvCxnSpPr>
        <p:spPr>
          <a:xfrm>
            <a:off x="4526280" y="2990088"/>
            <a:ext cx="594360" cy="0"/>
          </a:xfrm>
          <a:prstGeom prst="line">
            <a:avLst/>
          </a:prstGeom>
          <a:ln w="25400">
            <a:solidFill>
              <a:srgbClr val="1F5FA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4480560" y="2606040"/>
            <a:ext cx="731520" cy="320040"/>
          </a:xfrm>
          <a:prstGeom prst="rect">
            <a:avLst/>
          </a:prstGeom>
          <a:noFill/>
        </p:spPr>
        <p:txBody>
          <a:bodyPr wrap="square" lIns="0" rIns="0" tIns="0" bIns="0" anchor="t">
            <a:spAutoFit/>
          </a:bodyPr>
          <a:lstStyle/>
          <a:p>
            <a:pPr algn="ctr">
              <a:lnSpc>
                <a:spcPct val="115000"/>
              </a:lnSpc>
            </a:pPr>
            <a:r>
              <a:rPr sz="1200" b="1">
                <a:solidFill>
                  <a:srgbClr val="1F5FAE"/>
                </a:solidFill>
                <a:latin typeface="맑은 고딕"/>
                <a:ea typeface="맑은 고딕"/>
                <a:cs typeface="맑은 고딕"/>
              </a:rPr>
              <a:t>1 : N</a:t>
            </a:r>
          </a:p>
        </p:txBody>
      </p:sp>
      <p:sp>
        <p:nvSpPr>
          <p:cNvPr id="39" name="TextBox 38"/>
          <p:cNvSpPr txBox="1"/>
          <p:nvPr/>
        </p:nvSpPr>
        <p:spPr>
          <a:xfrm>
            <a:off x="9281160" y="1828800"/>
            <a:ext cx="2286000" cy="365760"/>
          </a:xfrm>
          <a:prstGeom prst="rect">
            <a:avLst/>
          </a:prstGeom>
          <a:noFill/>
        </p:spPr>
        <p:txBody>
          <a:bodyPr wrap="square" lIns="0" rIns="0" tIns="0" bIns="0" anchor="t">
            <a:spAutoFit/>
          </a:bodyPr>
          <a:lstStyle/>
          <a:p>
            <a:pPr algn="l">
              <a:lnSpc>
                <a:spcPct val="115000"/>
              </a:lnSpc>
            </a:pPr>
            <a:r>
              <a:rPr sz="1400" b="1">
                <a:solidFill>
                  <a:srgbClr val="1B2433"/>
                </a:solidFill>
                <a:latin typeface="맑은 고딕"/>
                <a:ea typeface="맑은 고딕"/>
                <a:cs typeface="맑은 고딕"/>
              </a:rPr>
              <a:t>아이디 중복 검사</a:t>
            </a:r>
          </a:p>
        </p:txBody>
      </p:sp>
      <p:sp>
        <p:nvSpPr>
          <p:cNvPr id="40" name="TextBox 39"/>
          <p:cNvSpPr txBox="1"/>
          <p:nvPr/>
        </p:nvSpPr>
        <p:spPr>
          <a:xfrm>
            <a:off x="9281160" y="2167128"/>
            <a:ext cx="2286000" cy="502920"/>
          </a:xfrm>
          <a:prstGeom prst="rect">
            <a:avLst/>
          </a:prstGeom>
          <a:noFill/>
        </p:spPr>
        <p:txBody>
          <a:bodyPr wrap="square" lIns="0" rIns="0" tIns="0" bIns="0" anchor="t">
            <a:spAutoFit/>
          </a:bodyPr>
          <a:lstStyle/>
          <a:p>
            <a:pPr algn="l">
              <a:lnSpc>
                <a:spcPct val="115000"/>
              </a:lnSpc>
            </a:pPr>
            <a:r>
              <a:rPr sz="1100" b="0">
                <a:solidFill>
                  <a:srgbClr val="4A5363"/>
                </a:solidFill>
                <a:latin typeface="맑은 고딕"/>
                <a:ea typeface="맑은 고딕"/>
                <a:cs typeface="맑은 고딕"/>
              </a:rPr>
              <a:t>가입 전 확인 + UNIQUE</a:t>
            </a:r>
          </a:p>
        </p:txBody>
      </p:sp>
      <p:sp>
        <p:nvSpPr>
          <p:cNvPr id="41" name="TextBox 40"/>
          <p:cNvSpPr txBox="1"/>
          <p:nvPr/>
        </p:nvSpPr>
        <p:spPr>
          <a:xfrm>
            <a:off x="9281160" y="2743200"/>
            <a:ext cx="2286000" cy="365760"/>
          </a:xfrm>
          <a:prstGeom prst="rect">
            <a:avLst/>
          </a:prstGeom>
          <a:noFill/>
        </p:spPr>
        <p:txBody>
          <a:bodyPr wrap="square" lIns="0" rIns="0" tIns="0" bIns="0" anchor="t">
            <a:spAutoFit/>
          </a:bodyPr>
          <a:lstStyle/>
          <a:p>
            <a:pPr algn="l">
              <a:lnSpc>
                <a:spcPct val="115000"/>
              </a:lnSpc>
            </a:pPr>
            <a:r>
              <a:rPr sz="1400" b="1">
                <a:solidFill>
                  <a:srgbClr val="1B2433"/>
                </a:solidFill>
                <a:latin typeface="맑은 고딕"/>
                <a:ea typeface="맑은 고딕"/>
                <a:cs typeface="맑은 고딕"/>
              </a:rPr>
              <a:t>질문 + 답 = 한 행</a:t>
            </a:r>
          </a:p>
        </p:txBody>
      </p:sp>
      <p:sp>
        <p:nvSpPr>
          <p:cNvPr id="42" name="TextBox 41"/>
          <p:cNvSpPr txBox="1"/>
          <p:nvPr/>
        </p:nvSpPr>
        <p:spPr>
          <a:xfrm>
            <a:off x="9281160" y="3081528"/>
            <a:ext cx="2286000" cy="502920"/>
          </a:xfrm>
          <a:prstGeom prst="rect">
            <a:avLst/>
          </a:prstGeom>
          <a:noFill/>
        </p:spPr>
        <p:txBody>
          <a:bodyPr wrap="square" lIns="0" rIns="0" tIns="0" bIns="0" anchor="t">
            <a:spAutoFit/>
          </a:bodyPr>
          <a:lstStyle/>
          <a:p>
            <a:pPr algn="l">
              <a:lnSpc>
                <a:spcPct val="115000"/>
              </a:lnSpc>
            </a:pPr>
            <a:r>
              <a:rPr sz="1100" b="0">
                <a:solidFill>
                  <a:srgbClr val="4A5363"/>
                </a:solidFill>
                <a:latin typeface="맑은 고딕"/>
                <a:ea typeface="맑은 고딕"/>
                <a:cs typeface="맑은 고딕"/>
              </a:rPr>
              <a:t>새 대화 = 새 session_id</a:t>
            </a:r>
          </a:p>
        </p:txBody>
      </p:sp>
      <p:sp>
        <p:nvSpPr>
          <p:cNvPr id="43" name="TextBox 42"/>
          <p:cNvSpPr txBox="1"/>
          <p:nvPr/>
        </p:nvSpPr>
        <p:spPr>
          <a:xfrm>
            <a:off x="9281160" y="3657600"/>
            <a:ext cx="2286000" cy="365760"/>
          </a:xfrm>
          <a:prstGeom prst="rect">
            <a:avLst/>
          </a:prstGeom>
          <a:noFill/>
        </p:spPr>
        <p:txBody>
          <a:bodyPr wrap="square" lIns="0" rIns="0" tIns="0" bIns="0" anchor="t">
            <a:spAutoFit/>
          </a:bodyPr>
          <a:lstStyle/>
          <a:p>
            <a:pPr algn="l">
              <a:lnSpc>
                <a:spcPct val="115000"/>
              </a:lnSpc>
            </a:pPr>
            <a:r>
              <a:rPr sz="1400" b="1">
                <a:solidFill>
                  <a:srgbClr val="1B2433"/>
                </a:solidFill>
                <a:latin typeface="맑은 고딕"/>
                <a:ea typeface="맑은 고딕"/>
                <a:cs typeface="맑은 고딕"/>
              </a:rPr>
              <a:t>목록 · 다시 열기</a:t>
            </a:r>
          </a:p>
        </p:txBody>
      </p:sp>
      <p:sp>
        <p:nvSpPr>
          <p:cNvPr id="44" name="TextBox 43"/>
          <p:cNvSpPr txBox="1"/>
          <p:nvPr/>
        </p:nvSpPr>
        <p:spPr>
          <a:xfrm>
            <a:off x="9281160" y="3995928"/>
            <a:ext cx="2286000" cy="502920"/>
          </a:xfrm>
          <a:prstGeom prst="rect">
            <a:avLst/>
          </a:prstGeom>
          <a:noFill/>
        </p:spPr>
        <p:txBody>
          <a:bodyPr wrap="square" lIns="0" rIns="0" tIns="0" bIns="0" anchor="t">
            <a:spAutoFit/>
          </a:bodyPr>
          <a:lstStyle/>
          <a:p>
            <a:pPr algn="l">
              <a:lnSpc>
                <a:spcPct val="115000"/>
              </a:lnSpc>
            </a:pPr>
            <a:r>
              <a:rPr sz="1100" b="0">
                <a:solidFill>
                  <a:srgbClr val="4A5363"/>
                </a:solidFill>
                <a:latin typeface="맑은 고딕"/>
                <a:ea typeface="맑은 고딕"/>
                <a:cs typeface="맑은 고딕"/>
              </a:rPr>
              <a:t>session_id로 묶고 시간순으로</a:t>
            </a:r>
          </a:p>
        </p:txBody>
      </p:sp>
      <p:sp>
        <p:nvSpPr>
          <p:cNvPr id="45" name="TextBox 44"/>
          <p:cNvSpPr txBox="1"/>
          <p:nvPr/>
        </p:nvSpPr>
        <p:spPr>
          <a:xfrm>
            <a:off x="9281160" y="4572000"/>
            <a:ext cx="2286000" cy="365760"/>
          </a:xfrm>
          <a:prstGeom prst="rect">
            <a:avLst/>
          </a:prstGeom>
          <a:noFill/>
        </p:spPr>
        <p:txBody>
          <a:bodyPr wrap="square" lIns="0" rIns="0" tIns="0" bIns="0" anchor="t">
            <a:spAutoFit/>
          </a:bodyPr>
          <a:lstStyle/>
          <a:p>
            <a:pPr algn="l">
              <a:lnSpc>
                <a:spcPct val="115000"/>
              </a:lnSpc>
            </a:pPr>
            <a:r>
              <a:rPr sz="1400" b="1">
                <a:solidFill>
                  <a:srgbClr val="1B2433"/>
                </a:solidFill>
                <a:latin typeface="맑은 고딕"/>
                <a:ea typeface="맑은 고딕"/>
                <a:cs typeface="맑은 고딕"/>
              </a:rPr>
              <a:t>키가 없을 때</a:t>
            </a:r>
          </a:p>
        </p:txBody>
      </p:sp>
      <p:sp>
        <p:nvSpPr>
          <p:cNvPr id="46" name="TextBox 45"/>
          <p:cNvSpPr txBox="1"/>
          <p:nvPr/>
        </p:nvSpPr>
        <p:spPr>
          <a:xfrm>
            <a:off x="9281160" y="4910328"/>
            <a:ext cx="2286000" cy="502920"/>
          </a:xfrm>
          <a:prstGeom prst="rect">
            <a:avLst/>
          </a:prstGeom>
          <a:noFill/>
        </p:spPr>
        <p:txBody>
          <a:bodyPr wrap="square" lIns="0" rIns="0" tIns="0" bIns="0" anchor="t">
            <a:spAutoFit/>
          </a:bodyPr>
          <a:lstStyle/>
          <a:p>
            <a:pPr algn="l">
              <a:lnSpc>
                <a:spcPct val="115000"/>
              </a:lnSpc>
            </a:pPr>
            <a:r>
              <a:rPr sz="1100" b="0">
                <a:solidFill>
                  <a:srgbClr val="4A5363"/>
                </a:solidFill>
                <a:latin typeface="맑은 고딕"/>
                <a:ea typeface="맑은 고딕"/>
                <a:cs typeface="맑은 고딕"/>
              </a:rPr>
              <a:t>로컬 저장으로 넘어가고 이유 표시</a:t>
            </a:r>
          </a:p>
        </p:txBody>
      </p:sp>
      <p:sp>
        <p:nvSpPr>
          <p:cNvPr id="47" name="TextBox 46"/>
          <p:cNvSpPr txBox="1"/>
          <p:nvPr/>
        </p:nvSpPr>
        <p:spPr>
          <a:xfrm>
            <a:off x="685800" y="6327648"/>
            <a:ext cx="10789920" cy="274320"/>
          </a:xfrm>
          <a:prstGeom prst="rect">
            <a:avLst/>
          </a:prstGeom>
          <a:noFill/>
        </p:spPr>
        <p:txBody>
          <a:bodyPr wrap="square" lIns="0" rIns="0" tIns="0" bIns="0" anchor="t">
            <a:spAutoFit/>
          </a:bodyPr>
          <a:lstStyle/>
          <a:p>
            <a:pPr algn="l">
              <a:lnSpc>
                <a:spcPct val="115000"/>
              </a:lnSpc>
            </a:pPr>
            <a:r>
              <a:rPr sz="1100" b="0">
                <a:solidFill>
                  <a:srgbClr val="8A8F98"/>
                </a:solidFill>
                <a:latin typeface="맑은 고딕"/>
                <a:ea typeface="맑은 고딕"/>
                <a:cs typeface="맑은 고딕"/>
              </a:rPr>
              <a:t>LangChain 마이그레이션 도우미 · 10</a:t>
            </a:r>
          </a:p>
        </p:txBody>
      </p:sp>
      <p:sp>
        <p:nvSpPr>
          <p:cNvPr id="48" name="Rectangle 47"/>
          <p:cNvSpPr/>
          <p:nvPr/>
        </p:nvSpPr>
        <p:spPr>
          <a:xfrm>
            <a:off x="0" y="6803136"/>
            <a:ext cx="12191695" cy="54864"/>
          </a:xfrm>
          <a:prstGeom prst="rect">
            <a:avLst/>
          </a:prstGeom>
          <a:solidFill>
            <a:srgbClr val="E1E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0" y="6803136"/>
            <a:ext cx="6773163" cy="54864"/>
          </a:xfrm>
          <a:prstGeom prst="rect">
            <a:avLst/>
          </a:prstGeom>
          <a:solidFill>
            <a:srgbClr val="1F5F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035040" y="566928"/>
            <a:ext cx="5486400" cy="274320"/>
          </a:xfrm>
          <a:prstGeom prst="rect">
            <a:avLst/>
          </a:prstGeom>
          <a:noFill/>
        </p:spPr>
        <p:txBody>
          <a:bodyPr wrap="square" lIns="0" rIns="0" tIns="0" bIns="0" anchor="t">
            <a:spAutoFit/>
          </a:bodyPr>
          <a:lstStyle/>
          <a:p>
            <a:pPr algn="r">
              <a:lnSpc>
                <a:spcPct val="115000"/>
              </a:lnSpc>
            </a:pPr>
            <a:r>
              <a:rPr sz="1000" b="0">
                <a:solidFill>
                  <a:srgbClr val="8A8F98"/>
                </a:solidFill>
                <a:latin typeface="맑은 고딕"/>
                <a:ea typeface="맑은 고딕"/>
                <a:cs typeface="맑은 고딕"/>
              </a:rPr>
              <a:t>문제와 해결   ● 만든 것   평가와 결과   배운 것</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5F1"/>
        </a:solidFill>
        <a:effectLst/>
      </p:bgPr>
    </p:bg>
    <p:spTree>
      <p:nvGrpSpPr>
        <p:cNvPr id="1" name=""/>
        <p:cNvGrpSpPr/>
        <p:nvPr/>
      </p:nvGrpSpPr>
      <p:grpSpPr/>
      <p:sp>
        <p:nvSpPr>
          <p:cNvPr id="2" name="TextBox 1"/>
          <p:cNvSpPr txBox="1"/>
          <p:nvPr/>
        </p:nvSpPr>
        <p:spPr>
          <a:xfrm>
            <a:off x="685800" y="566928"/>
            <a:ext cx="10789920" cy="274320"/>
          </a:xfrm>
          <a:prstGeom prst="rect">
            <a:avLst/>
          </a:prstGeom>
          <a:noFill/>
        </p:spPr>
        <p:txBody>
          <a:bodyPr wrap="square" lIns="0" rIns="0" tIns="0" bIns="0" anchor="t">
            <a:spAutoFit/>
          </a:bodyPr>
          <a:lstStyle/>
          <a:p>
            <a:pPr algn="l">
              <a:lnSpc>
                <a:spcPct val="115000"/>
              </a:lnSpc>
            </a:pPr>
            <a:r>
              <a:rPr sz="1300" b="1">
                <a:solidFill>
                  <a:srgbClr val="1F5FAE"/>
                </a:solidFill>
                <a:latin typeface="맑은 고딕"/>
                <a:ea typeface="맑은 고딕"/>
                <a:cs typeface="맑은 고딕"/>
              </a:rPr>
              <a:t>실험 설계 · 4번</a:t>
            </a:r>
          </a:p>
        </p:txBody>
      </p:sp>
      <p:sp>
        <p:nvSpPr>
          <p:cNvPr id="3" name="TextBox 2"/>
          <p:cNvSpPr txBox="1"/>
          <p:nvPr/>
        </p:nvSpPr>
        <p:spPr>
          <a:xfrm>
            <a:off x="685800" y="868680"/>
            <a:ext cx="10789920" cy="731520"/>
          </a:xfrm>
          <a:prstGeom prst="rect">
            <a:avLst/>
          </a:prstGeom>
          <a:noFill/>
        </p:spPr>
        <p:txBody>
          <a:bodyPr wrap="square" lIns="0" rIns="0" tIns="0" bIns="0" anchor="t">
            <a:spAutoFit/>
          </a:bodyPr>
          <a:lstStyle/>
          <a:p>
            <a:pPr algn="l">
              <a:lnSpc>
                <a:spcPct val="115000"/>
              </a:lnSpc>
            </a:pPr>
            <a:r>
              <a:rPr sz="3200" b="1">
                <a:solidFill>
                  <a:srgbClr val="1B2433"/>
                </a:solidFill>
                <a:latin typeface="맑은 고딕"/>
                <a:ea typeface="맑은 고딕"/>
                <a:cs typeface="맑은 고딕"/>
              </a:rPr>
              <a:t>같은 질문 30개, 같은 조건으로 비교합니다</a:t>
            </a:r>
          </a:p>
        </p:txBody>
      </p:sp>
      <p:sp>
        <p:nvSpPr>
          <p:cNvPr id="4" name="Rounded Rectangle 3"/>
          <p:cNvSpPr/>
          <p:nvPr/>
        </p:nvSpPr>
        <p:spPr>
          <a:xfrm>
            <a:off x="685800" y="1828800"/>
            <a:ext cx="5120640" cy="118872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1965960"/>
            <a:ext cx="4663440" cy="365760"/>
          </a:xfrm>
          <a:prstGeom prst="rect">
            <a:avLst/>
          </a:prstGeom>
          <a:noFill/>
        </p:spPr>
        <p:txBody>
          <a:bodyPr wrap="square" lIns="0" rIns="0" tIns="0" bIns="0" anchor="t">
            <a:spAutoFit/>
          </a:bodyPr>
          <a:lstStyle/>
          <a:p>
            <a:pPr algn="l">
              <a:lnSpc>
                <a:spcPct val="115000"/>
              </a:lnSpc>
            </a:pPr>
            <a:r>
              <a:rPr sz="1700" b="1">
                <a:solidFill>
                  <a:srgbClr val="1B2433"/>
                </a:solidFill>
                <a:latin typeface="맑은 고딕"/>
                <a:ea typeface="맑은 고딕"/>
                <a:cs typeface="맑은 고딕"/>
              </a:rPr>
              <a:t>1.x로 올리기 30개</a:t>
            </a:r>
          </a:p>
        </p:txBody>
      </p:sp>
      <p:sp>
        <p:nvSpPr>
          <p:cNvPr id="6" name="TextBox 5"/>
          <p:cNvSpPr txBox="1"/>
          <p:nvPr/>
        </p:nvSpPr>
        <p:spPr>
          <a:xfrm>
            <a:off x="914400" y="2331720"/>
            <a:ext cx="4663440" cy="685800"/>
          </a:xfrm>
          <a:prstGeom prst="rect">
            <a:avLst/>
          </a:prstGeom>
          <a:noFill/>
        </p:spPr>
        <p:txBody>
          <a:bodyPr wrap="square" lIns="0" rIns="0" tIns="0" bIns="0" anchor="t">
            <a:spAutoFit/>
          </a:bodyPr>
          <a:lstStyle/>
          <a:p>
            <a:pPr algn="l">
              <a:lnSpc>
                <a:spcPct val="125000"/>
              </a:lnSpc>
            </a:pPr>
            <a:r>
              <a:rPr sz="1200" b="0">
                <a:solidFill>
                  <a:srgbClr val="4A5363"/>
                </a:solidFill>
                <a:latin typeface="맑은 고딕"/>
                <a:ea typeface="맑은 고딕"/>
                <a:cs typeface="맑은 고딕"/>
              </a:rPr>
              <a:t>10가지 유형 × 3: import 경로 · 로더 · 임베딩 · LLMChain → LCEL ·</a:t>
            </a:r>
          </a:p>
          <a:p>
            <a:pPr algn="l">
              <a:lnSpc>
                <a:spcPct val="125000"/>
              </a:lnSpc>
            </a:pPr>
            <a:r>
              <a:rPr sz="1200" b="0">
                <a:solidFill>
                  <a:srgbClr val="4A5363"/>
                </a:solidFill>
                <a:latin typeface="맑은 고딕"/>
                <a:ea typeface="맑은 고딕"/>
                <a:cs typeface="맑은 고딕"/>
              </a:rPr>
              <a:t>체인 조합 · RAG · 메모리 · 에이전트 · 출력 파서 · 실무 상황</a:t>
            </a:r>
          </a:p>
        </p:txBody>
      </p:sp>
      <p:sp>
        <p:nvSpPr>
          <p:cNvPr id="7" name="Rounded Rectangle 6"/>
          <p:cNvSpPr/>
          <p:nvPr/>
        </p:nvSpPr>
        <p:spPr>
          <a:xfrm>
            <a:off x="685800" y="3154680"/>
            <a:ext cx="5120640" cy="118872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14400" y="3291840"/>
            <a:ext cx="4663440" cy="365760"/>
          </a:xfrm>
          <a:prstGeom prst="rect">
            <a:avLst/>
          </a:prstGeom>
          <a:noFill/>
        </p:spPr>
        <p:txBody>
          <a:bodyPr wrap="square" lIns="0" rIns="0" tIns="0" bIns="0" anchor="t">
            <a:spAutoFit/>
          </a:bodyPr>
          <a:lstStyle/>
          <a:p>
            <a:pPr algn="l">
              <a:lnSpc>
                <a:spcPct val="115000"/>
              </a:lnSpc>
            </a:pPr>
            <a:r>
              <a:rPr sz="1700" b="1">
                <a:solidFill>
                  <a:srgbClr val="1B2433"/>
                </a:solidFill>
                <a:latin typeface="맑은 고딕"/>
                <a:ea typeface="맑은 고딕"/>
                <a:cs typeface="맑은 고딕"/>
              </a:rPr>
              <a:t>난이도</a:t>
            </a:r>
          </a:p>
        </p:txBody>
      </p:sp>
      <p:sp>
        <p:nvSpPr>
          <p:cNvPr id="9" name="TextBox 8"/>
          <p:cNvSpPr txBox="1"/>
          <p:nvPr/>
        </p:nvSpPr>
        <p:spPr>
          <a:xfrm>
            <a:off x="914400" y="3657600"/>
            <a:ext cx="4663440" cy="685800"/>
          </a:xfrm>
          <a:prstGeom prst="rect">
            <a:avLst/>
          </a:prstGeom>
          <a:noFill/>
        </p:spPr>
        <p:txBody>
          <a:bodyPr wrap="square" lIns="0" rIns="0" tIns="0" bIns="0" anchor="t">
            <a:spAutoFit/>
          </a:bodyPr>
          <a:lstStyle/>
          <a:p>
            <a:pPr algn="l">
              <a:lnSpc>
                <a:spcPct val="125000"/>
              </a:lnSpc>
            </a:pPr>
            <a:r>
              <a:rPr sz="1200" b="0">
                <a:solidFill>
                  <a:srgbClr val="4A5363"/>
                </a:solidFill>
                <a:latin typeface="맑은 고딕"/>
                <a:ea typeface="맑은 고딕"/>
                <a:cs typeface="맑은 고딕"/>
              </a:rPr>
              <a:t>쉬움 7 · 중간 15 · 어려움 8</a:t>
            </a:r>
          </a:p>
          <a:p>
            <a:pPr algn="l">
              <a:lnSpc>
                <a:spcPct val="125000"/>
              </a:lnSpc>
            </a:pPr>
            <a:r>
              <a:rPr sz="1200" b="0">
                <a:solidFill>
                  <a:srgbClr val="4A5363"/>
                </a:solidFill>
                <a:latin typeface="맑은 고딕"/>
                <a:ea typeface="맑은 고딕"/>
                <a:cs typeface="맑은 고딕"/>
              </a:rPr>
              <a:t>실제 사용자처럼 '요청 문장 + 옛 코드'로 구성</a:t>
            </a:r>
          </a:p>
        </p:txBody>
      </p:sp>
      <p:sp>
        <p:nvSpPr>
          <p:cNvPr id="10" name="Rounded Rectangle 9"/>
          <p:cNvSpPr/>
          <p:nvPr/>
        </p:nvSpPr>
        <p:spPr>
          <a:xfrm>
            <a:off x="685800" y="4480560"/>
            <a:ext cx="5120640" cy="118872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14400" y="4617720"/>
            <a:ext cx="4663440" cy="365760"/>
          </a:xfrm>
          <a:prstGeom prst="rect">
            <a:avLst/>
          </a:prstGeom>
          <a:noFill/>
        </p:spPr>
        <p:txBody>
          <a:bodyPr wrap="square" lIns="0" rIns="0" tIns="0" bIns="0" anchor="t">
            <a:spAutoFit/>
          </a:bodyPr>
          <a:lstStyle/>
          <a:p>
            <a:pPr algn="l">
              <a:lnSpc>
                <a:spcPct val="115000"/>
              </a:lnSpc>
            </a:pPr>
            <a:r>
              <a:rPr sz="1700" b="1">
                <a:solidFill>
                  <a:srgbClr val="1B2433"/>
                </a:solidFill>
                <a:latin typeface="맑은 고딕"/>
                <a:ea typeface="맑은 고딕"/>
                <a:cs typeface="맑은 고딕"/>
              </a:rPr>
              <a:t>미리 확인 (36/36)</a:t>
            </a:r>
          </a:p>
        </p:txBody>
      </p:sp>
      <p:sp>
        <p:nvSpPr>
          <p:cNvPr id="12" name="TextBox 11"/>
          <p:cNvSpPr txBox="1"/>
          <p:nvPr/>
        </p:nvSpPr>
        <p:spPr>
          <a:xfrm>
            <a:off x="914400" y="4983480"/>
            <a:ext cx="4663440" cy="685800"/>
          </a:xfrm>
          <a:prstGeom prst="rect">
            <a:avLst/>
          </a:prstGeom>
          <a:noFill/>
        </p:spPr>
        <p:txBody>
          <a:bodyPr wrap="square" lIns="0" rIns="0" tIns="0" bIns="0" anchor="t">
            <a:spAutoFit/>
          </a:bodyPr>
          <a:lstStyle/>
          <a:p>
            <a:pPr algn="l">
              <a:lnSpc>
                <a:spcPct val="125000"/>
              </a:lnSpc>
            </a:pPr>
            <a:r>
              <a:rPr sz="1200" b="0">
                <a:solidFill>
                  <a:srgbClr val="4A5363"/>
                </a:solidFill>
                <a:latin typeface="맑은 고딕"/>
                <a:ea typeface="맑은 고딕"/>
                <a:cs typeface="맑은 고딕"/>
              </a:rPr>
              <a:t>옛 코드가 1.x에서 깨지는지, 기대 import가 되는지</a:t>
            </a:r>
          </a:p>
          <a:p>
            <a:pPr algn="l">
              <a:lnSpc>
                <a:spcPct val="125000"/>
              </a:lnSpc>
            </a:pPr>
            <a:r>
              <a:rPr sz="1200" b="0">
                <a:solidFill>
                  <a:srgbClr val="4A5363"/>
                </a:solidFill>
                <a:latin typeface="맑은 고딕"/>
                <a:ea typeface="맑은 고딕"/>
                <a:cs typeface="맑은 고딕"/>
              </a:rPr>
              <a:t>+ 버전 오가기 6개 (되돌리기 · 중간 단계)</a:t>
            </a:r>
          </a:p>
        </p:txBody>
      </p:sp>
      <p:graphicFrame>
        <p:nvGraphicFramePr>
          <p:cNvPr id="13" name="Table 12"/>
          <p:cNvGraphicFramePr>
            <a:graphicFrameLocks noGrp="1"/>
          </p:cNvGraphicFramePr>
          <p:nvPr/>
        </p:nvGraphicFramePr>
        <p:xfrm>
          <a:off x="6126480" y="1828800"/>
          <a:ext cx="5376671" cy="3584448"/>
        </p:xfrm>
        <a:graphic>
          <a:graphicData uri="http://schemas.openxmlformats.org/drawingml/2006/table">
            <a:tbl>
              <a:tblPr firstRow="1" bandRow="1">
                <a:tableStyleId>{5940675A-B579-460E-94D1-54222C63F5DA}</a:tableStyleId>
              </a:tblPr>
              <a:tblGrid>
                <a:gridCol w="1554480"/>
                <a:gridCol w="3822191"/>
              </a:tblGrid>
              <a:tr h="512064">
                <a:tc>
                  <a:txBody>
                    <a:bodyPr wrap="square"/>
                    <a:lstStyle/>
                    <a:p>
                      <a:r>
                        <a:rPr sz="1400" b="1">
                          <a:solidFill>
                            <a:srgbClr val="1B2433"/>
                          </a:solidFill>
                          <a:latin typeface="맑은 고딕"/>
                          <a:ea typeface="맑은 고딕"/>
                        </a:rPr>
                        <a:t>항목</a:t>
                      </a:r>
                    </a:p>
                  </a:txBody>
                  <a:tcPr marL="109728" marR="109728" marT="45720" marB="45720" anchor="ctr">
                    <a:solidFill>
                      <a:srgbClr val="ECEBE5"/>
                    </a:solidFill>
                  </a:tcPr>
                </a:tc>
                <a:tc>
                  <a:txBody>
                    <a:bodyPr wrap="square"/>
                    <a:lstStyle/>
                    <a:p>
                      <a:r>
                        <a:rPr sz="1400" b="1">
                          <a:solidFill>
                            <a:srgbClr val="1B2433"/>
                          </a:solidFill>
                          <a:latin typeface="맑은 고딕"/>
                          <a:ea typeface="맑은 고딕"/>
                        </a:rPr>
                        <a:t>규칙</a:t>
                      </a:r>
                    </a:p>
                  </a:txBody>
                  <a:tcPr marL="109728" marR="109728" marT="45720" marB="45720" anchor="ctr">
                    <a:solidFill>
                      <a:srgbClr val="ECEBE5"/>
                    </a:solidFill>
                  </a:tcPr>
                </a:tc>
              </a:tr>
              <a:tr h="512064">
                <a:tc>
                  <a:txBody>
                    <a:bodyPr wrap="square"/>
                    <a:lstStyle/>
                    <a:p>
                      <a:r>
                        <a:rPr sz="1400" b="1">
                          <a:solidFill>
                            <a:srgbClr val="1B2433"/>
                          </a:solidFill>
                          <a:latin typeface="맑은 고딕"/>
                          <a:ea typeface="맑은 고딕"/>
                        </a:rPr>
                        <a:t>비교 대상</a:t>
                      </a:r>
                    </a:p>
                  </a:txBody>
                  <a:tcPr marL="109728" marR="109728" marT="45720" marB="45720" anchor="ctr">
                    <a:solidFill>
                      <a:srgbClr val="FFFFFF"/>
                    </a:solidFill>
                  </a:tcPr>
                </a:tc>
                <a:tc>
                  <a:txBody>
                    <a:bodyPr wrap="square"/>
                    <a:lstStyle/>
                    <a:p>
                      <a:r>
                        <a:rPr sz="1400" b="0">
                          <a:solidFill>
                            <a:srgbClr val="1B2433"/>
                          </a:solidFill>
                          <a:latin typeface="맑은 고딕"/>
                          <a:ea typeface="맑은 고딕"/>
                        </a:rPr>
                        <a:t>일반 LLM vs 우리 챗봇</a:t>
                      </a:r>
                    </a:p>
                  </a:txBody>
                  <a:tcPr marL="109728" marR="109728" marT="45720" marB="45720" anchor="ctr">
                    <a:solidFill>
                      <a:srgbClr val="FFFFFF"/>
                    </a:solidFill>
                  </a:tcPr>
                </a:tc>
              </a:tr>
              <a:tr h="512064">
                <a:tc>
                  <a:txBody>
                    <a:bodyPr wrap="square"/>
                    <a:lstStyle/>
                    <a:p>
                      <a:r>
                        <a:rPr sz="1400" b="1">
                          <a:solidFill>
                            <a:srgbClr val="1B2433"/>
                          </a:solidFill>
                          <a:latin typeface="맑은 고딕"/>
                          <a:ea typeface="맑은 고딕"/>
                        </a:rPr>
                        <a:t>모델</a:t>
                      </a:r>
                    </a:p>
                  </a:txBody>
                  <a:tcPr marL="109728" marR="109728" marT="45720" marB="45720" anchor="ctr">
                    <a:solidFill>
                      <a:srgbClr val="FFFFFF"/>
                    </a:solidFill>
                  </a:tcPr>
                </a:tc>
                <a:tc>
                  <a:txBody>
                    <a:bodyPr wrap="square"/>
                    <a:lstStyle/>
                    <a:p>
                      <a:r>
                        <a:rPr sz="1400" b="0">
                          <a:solidFill>
                            <a:srgbClr val="1B2433"/>
                          </a:solidFill>
                          <a:latin typeface="맑은 고딕"/>
                          <a:ea typeface="맑은 고딕"/>
                        </a:rPr>
                        <a:t>양쪽 같은 [모델명], temperature 0</a:t>
                      </a:r>
                    </a:p>
                  </a:txBody>
                  <a:tcPr marL="109728" marR="109728" marT="45720" marB="45720" anchor="ctr">
                    <a:solidFill>
                      <a:srgbClr val="FFFFFF"/>
                    </a:solidFill>
                  </a:tcPr>
                </a:tc>
              </a:tr>
              <a:tr h="512064">
                <a:tc>
                  <a:txBody>
                    <a:bodyPr wrap="square"/>
                    <a:lstStyle/>
                    <a:p>
                      <a:r>
                        <a:rPr sz="1400" b="1">
                          <a:solidFill>
                            <a:srgbClr val="1B2433"/>
                          </a:solidFill>
                          <a:latin typeface="맑은 고딕"/>
                          <a:ea typeface="맑은 고딕"/>
                        </a:rPr>
                        <a:t>입력</a:t>
                      </a:r>
                    </a:p>
                  </a:txBody>
                  <a:tcPr marL="109728" marR="109728" marT="45720" marB="45720" anchor="ctr">
                    <a:solidFill>
                      <a:srgbClr val="FFFFFF"/>
                    </a:solidFill>
                  </a:tcPr>
                </a:tc>
                <a:tc>
                  <a:txBody>
                    <a:bodyPr wrap="square"/>
                    <a:lstStyle/>
                    <a:p>
                      <a:r>
                        <a:rPr sz="1400" b="0">
                          <a:solidFill>
                            <a:srgbClr val="1B2433"/>
                          </a:solidFill>
                          <a:latin typeface="맑은 고딕"/>
                          <a:ea typeface="맑은 고딕"/>
                        </a:rPr>
                        <a:t>같은 요청 문장 + 같은 코드</a:t>
                      </a:r>
                    </a:p>
                  </a:txBody>
                  <a:tcPr marL="109728" marR="109728" marT="45720" marB="45720" anchor="ctr">
                    <a:solidFill>
                      <a:srgbClr val="FFFFFF"/>
                    </a:solidFill>
                  </a:tcPr>
                </a:tc>
              </a:tr>
              <a:tr h="512064">
                <a:tc>
                  <a:txBody>
                    <a:bodyPr wrap="square"/>
                    <a:lstStyle/>
                    <a:p>
                      <a:r>
                        <a:rPr sz="1400" b="1">
                          <a:solidFill>
                            <a:srgbClr val="1B2433"/>
                          </a:solidFill>
                          <a:latin typeface="맑은 고딕"/>
                          <a:ea typeface="맑은 고딕"/>
                        </a:rPr>
                        <a:t>채점</a:t>
                      </a:r>
                    </a:p>
                  </a:txBody>
                  <a:tcPr marL="109728" marR="109728" marT="45720" marB="45720" anchor="ctr">
                    <a:solidFill>
                      <a:srgbClr val="FFFFFF"/>
                    </a:solidFill>
                  </a:tcPr>
                </a:tc>
                <a:tc>
                  <a:txBody>
                    <a:bodyPr wrap="square"/>
                    <a:lstStyle/>
                    <a:p>
                      <a:r>
                        <a:rPr sz="1400" b="0">
                          <a:solidFill>
                            <a:srgbClr val="1B2433"/>
                          </a:solidFill>
                          <a:latin typeface="맑은 고딕"/>
                          <a:ea typeface="맑은 고딕"/>
                        </a:rPr>
                        <a:t>verifier와 같은 검사 기준</a:t>
                      </a:r>
                    </a:p>
                  </a:txBody>
                  <a:tcPr marL="109728" marR="109728" marT="45720" marB="45720" anchor="ctr">
                    <a:solidFill>
                      <a:srgbClr val="FFFFFF"/>
                    </a:solidFill>
                  </a:tcPr>
                </a:tc>
              </a:tr>
              <a:tr h="512064">
                <a:tc>
                  <a:txBody>
                    <a:bodyPr wrap="square"/>
                    <a:lstStyle/>
                    <a:p>
                      <a:r>
                        <a:rPr sz="1400" b="1">
                          <a:solidFill>
                            <a:srgbClr val="1B2433"/>
                          </a:solidFill>
                          <a:latin typeface="맑은 고딕"/>
                          <a:ea typeface="맑은 고딕"/>
                        </a:rPr>
                        <a:t>최대 시도</a:t>
                      </a:r>
                    </a:p>
                  </a:txBody>
                  <a:tcPr marL="109728" marR="109728" marT="45720" marB="45720" anchor="ctr">
                    <a:solidFill>
                      <a:srgbClr val="FFFFFF"/>
                    </a:solidFill>
                  </a:tcPr>
                </a:tc>
                <a:tc>
                  <a:txBody>
                    <a:bodyPr wrap="square"/>
                    <a:lstStyle/>
                    <a:p>
                      <a:r>
                        <a:rPr sz="1400" b="0">
                          <a:solidFill>
                            <a:srgbClr val="1B2433"/>
                          </a:solidFill>
                          <a:latin typeface="맑은 고딕"/>
                          <a:ea typeface="맑은 고딕"/>
                        </a:rPr>
                        <a:t>3회 (우리 챗봇)</a:t>
                      </a:r>
                    </a:p>
                  </a:txBody>
                  <a:tcPr marL="109728" marR="109728" marT="45720" marB="45720" anchor="ctr">
                    <a:solidFill>
                      <a:srgbClr val="FFFFFF"/>
                    </a:solidFill>
                  </a:tcPr>
                </a:tc>
              </a:tr>
              <a:tr h="512064">
                <a:tc>
                  <a:txBody>
                    <a:bodyPr wrap="square"/>
                    <a:lstStyle/>
                    <a:p>
                      <a:r>
                        <a:rPr sz="1400" b="1">
                          <a:solidFill>
                            <a:srgbClr val="1B2433"/>
                          </a:solidFill>
                          <a:latin typeface="맑은 고딕"/>
                          <a:ea typeface="맑은 고딕"/>
                        </a:rPr>
                        <a:t>지표</a:t>
                      </a:r>
                    </a:p>
                  </a:txBody>
                  <a:tcPr marL="109728" marR="109728" marT="45720" marB="45720" anchor="ctr">
                    <a:solidFill>
                      <a:srgbClr val="FFFFFF"/>
                    </a:solidFill>
                  </a:tcPr>
                </a:tc>
                <a:tc>
                  <a:txBody>
                    <a:bodyPr wrap="square"/>
                    <a:lstStyle/>
                    <a:p>
                      <a:r>
                        <a:rPr sz="1400" b="0">
                          <a:solidFill>
                            <a:srgbClr val="1B2433"/>
                          </a:solidFill>
                          <a:latin typeface="맑은 고딕"/>
                          <a:ea typeface="맑은 고딕"/>
                        </a:rPr>
                        <a:t>검증 통과율 · 근거 포함률 · 재시도 효과</a:t>
                      </a:r>
                    </a:p>
                  </a:txBody>
                  <a:tcPr marL="109728" marR="109728" marT="45720" marB="45720" anchor="ctr">
                    <a:solidFill>
                      <a:srgbClr val="FFFFFF"/>
                    </a:solidFill>
                  </a:tcPr>
                </a:tc>
              </a:tr>
            </a:tbl>
          </a:graphicData>
        </a:graphic>
      </p:graphicFrame>
      <p:sp>
        <p:nvSpPr>
          <p:cNvPr id="14" name="TextBox 13"/>
          <p:cNvSpPr txBox="1"/>
          <p:nvPr/>
        </p:nvSpPr>
        <p:spPr>
          <a:xfrm>
            <a:off x="685800" y="6327648"/>
            <a:ext cx="10789920" cy="274320"/>
          </a:xfrm>
          <a:prstGeom prst="rect">
            <a:avLst/>
          </a:prstGeom>
          <a:noFill/>
        </p:spPr>
        <p:txBody>
          <a:bodyPr wrap="square" lIns="0" rIns="0" tIns="0" bIns="0" anchor="t">
            <a:spAutoFit/>
          </a:bodyPr>
          <a:lstStyle/>
          <a:p>
            <a:pPr algn="l">
              <a:lnSpc>
                <a:spcPct val="115000"/>
              </a:lnSpc>
            </a:pPr>
            <a:r>
              <a:rPr sz="1100" b="0">
                <a:solidFill>
                  <a:srgbClr val="8A8F98"/>
                </a:solidFill>
                <a:latin typeface="맑은 고딕"/>
                <a:ea typeface="맑은 고딕"/>
                <a:cs typeface="맑은 고딕"/>
              </a:rPr>
              <a:t>LangChain 마이그레이션 도우미 · 11</a:t>
            </a:r>
          </a:p>
        </p:txBody>
      </p:sp>
      <p:sp>
        <p:nvSpPr>
          <p:cNvPr id="15" name="Rectangle 14"/>
          <p:cNvSpPr/>
          <p:nvPr/>
        </p:nvSpPr>
        <p:spPr>
          <a:xfrm>
            <a:off x="0" y="6803136"/>
            <a:ext cx="12191695" cy="54864"/>
          </a:xfrm>
          <a:prstGeom prst="rect">
            <a:avLst/>
          </a:prstGeom>
          <a:solidFill>
            <a:srgbClr val="E1E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6803136"/>
            <a:ext cx="7450480" cy="54864"/>
          </a:xfrm>
          <a:prstGeom prst="rect">
            <a:avLst/>
          </a:prstGeom>
          <a:solidFill>
            <a:srgbClr val="1F5F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5040" y="566928"/>
            <a:ext cx="5486400" cy="274320"/>
          </a:xfrm>
          <a:prstGeom prst="rect">
            <a:avLst/>
          </a:prstGeom>
          <a:noFill/>
        </p:spPr>
        <p:txBody>
          <a:bodyPr wrap="square" lIns="0" rIns="0" tIns="0" bIns="0" anchor="t">
            <a:spAutoFit/>
          </a:bodyPr>
          <a:lstStyle/>
          <a:p>
            <a:pPr algn="r">
              <a:lnSpc>
                <a:spcPct val="115000"/>
              </a:lnSpc>
            </a:pPr>
            <a:r>
              <a:rPr sz="1000" b="0">
                <a:solidFill>
                  <a:srgbClr val="8A8F98"/>
                </a:solidFill>
                <a:latin typeface="맑은 고딕"/>
                <a:ea typeface="맑은 고딕"/>
                <a:cs typeface="맑은 고딕"/>
              </a:rPr>
              <a:t>문제와 해결   만든 것   ● 평가와 결과   배운 것</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202E"/>
        </a:solidFill>
        <a:effectLst/>
      </p:bgPr>
    </p:bg>
    <p:spTree>
      <p:nvGrpSpPr>
        <p:cNvPr id="1" name=""/>
        <p:cNvGrpSpPr/>
        <p:nvPr/>
      </p:nvGrpSpPr>
      <p:grpSpPr/>
      <p:sp>
        <p:nvSpPr>
          <p:cNvPr id="2" name="TextBox 1"/>
          <p:cNvSpPr txBox="1"/>
          <p:nvPr/>
        </p:nvSpPr>
        <p:spPr>
          <a:xfrm>
            <a:off x="685800" y="566928"/>
            <a:ext cx="10789920" cy="274320"/>
          </a:xfrm>
          <a:prstGeom prst="rect">
            <a:avLst/>
          </a:prstGeom>
          <a:noFill/>
        </p:spPr>
        <p:txBody>
          <a:bodyPr wrap="square" lIns="0" rIns="0" tIns="0" bIns="0" anchor="t">
            <a:spAutoFit/>
          </a:bodyPr>
          <a:lstStyle/>
          <a:p>
            <a:pPr algn="l">
              <a:lnSpc>
                <a:spcPct val="115000"/>
              </a:lnSpc>
            </a:pPr>
            <a:r>
              <a:rPr sz="1300" b="1">
                <a:solidFill>
                  <a:srgbClr val="7FB2F0"/>
                </a:solidFill>
                <a:latin typeface="맑은 고딕"/>
                <a:ea typeface="맑은 고딕"/>
                <a:cs typeface="맑은 고딕"/>
              </a:rPr>
              <a:t>실제 실행 · 2026-10-14</a:t>
            </a:r>
          </a:p>
        </p:txBody>
      </p:sp>
      <p:sp>
        <p:nvSpPr>
          <p:cNvPr id="3" name="TextBox 2"/>
          <p:cNvSpPr txBox="1"/>
          <p:nvPr/>
        </p:nvSpPr>
        <p:spPr>
          <a:xfrm>
            <a:off x="685800" y="868680"/>
            <a:ext cx="10789920" cy="731520"/>
          </a:xfrm>
          <a:prstGeom prst="rect">
            <a:avLst/>
          </a:prstGeom>
          <a:noFill/>
        </p:spPr>
        <p:txBody>
          <a:bodyPr wrap="square" lIns="0" rIns="0" tIns="0" bIns="0" anchor="t">
            <a:spAutoFit/>
          </a:bodyPr>
          <a:lstStyle/>
          <a:p>
            <a:pPr algn="l">
              <a:lnSpc>
                <a:spcPct val="115000"/>
              </a:lnSpc>
            </a:pPr>
            <a:r>
              <a:rPr sz="3200" b="1">
                <a:solidFill>
                  <a:srgbClr val="F6F5F1"/>
                </a:solidFill>
                <a:latin typeface="맑은 고딕"/>
                <a:ea typeface="맑은 고딕"/>
                <a:cs typeface="맑은 고딕"/>
              </a:rPr>
              <a:t>LLMChain 코드가 3회차에 통과했습니다</a:t>
            </a:r>
          </a:p>
        </p:txBody>
      </p:sp>
      <p:sp>
        <p:nvSpPr>
          <p:cNvPr id="4" name="Rounded Rectangle 3"/>
          <p:cNvSpPr/>
          <p:nvPr/>
        </p:nvSpPr>
        <p:spPr>
          <a:xfrm>
            <a:off x="685800" y="1828800"/>
            <a:ext cx="5212080" cy="2377440"/>
          </a:xfrm>
          <a:prstGeom prst="roundRect">
            <a:avLst>
              <a:gd name="adj" fmla="val 6000"/>
            </a:avLst>
          </a:prstGeom>
          <a:solidFill>
            <a:srgbClr val="14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1965960"/>
            <a:ext cx="4754880" cy="274320"/>
          </a:xfrm>
          <a:prstGeom prst="rect">
            <a:avLst/>
          </a:prstGeom>
          <a:noFill/>
        </p:spPr>
        <p:txBody>
          <a:bodyPr wrap="square" lIns="0" rIns="0" tIns="0" bIns="0" anchor="t">
            <a:spAutoFit/>
          </a:bodyPr>
          <a:lstStyle/>
          <a:p>
            <a:pPr algn="l">
              <a:lnSpc>
                <a:spcPct val="115000"/>
              </a:lnSpc>
            </a:pPr>
            <a:r>
              <a:rPr sz="1200" b="1">
                <a:solidFill>
                  <a:srgbClr val="F2A27E"/>
                </a:solidFill>
                <a:latin typeface="맑은 고딕"/>
                <a:ea typeface="맑은 고딕"/>
                <a:cs typeface="맑은 고딕"/>
              </a:rPr>
              <a:t>변경 전 (옛 코드)</a:t>
            </a:r>
          </a:p>
        </p:txBody>
      </p:sp>
      <p:sp>
        <p:nvSpPr>
          <p:cNvPr id="6" name="TextBox 5"/>
          <p:cNvSpPr txBox="1"/>
          <p:nvPr/>
        </p:nvSpPr>
        <p:spPr>
          <a:xfrm>
            <a:off x="914400" y="2286000"/>
            <a:ext cx="4754880" cy="1828800"/>
          </a:xfrm>
          <a:prstGeom prst="rect">
            <a:avLst/>
          </a:prstGeom>
          <a:noFill/>
        </p:spPr>
        <p:txBody>
          <a:bodyPr wrap="square" lIns="0" rIns="0" tIns="0" bIns="0" anchor="t">
            <a:spAutoFit/>
          </a:bodyPr>
          <a:lstStyle/>
          <a:p>
            <a:pPr algn="l">
              <a:lnSpc>
                <a:spcPct val="130000"/>
              </a:lnSpc>
            </a:pPr>
            <a:r>
              <a:rPr sz="1100" b="0">
                <a:solidFill>
                  <a:srgbClr val="E8ECF1"/>
                </a:solidFill>
                <a:latin typeface="Consolas"/>
                <a:ea typeface="Consolas"/>
                <a:cs typeface="Consolas"/>
              </a:rPr>
              <a:t>from langchain.chat_models import ChatOpenAI</a:t>
            </a:r>
          </a:p>
          <a:p>
            <a:pPr algn="l">
              <a:lnSpc>
                <a:spcPct val="130000"/>
              </a:lnSpc>
            </a:pPr>
            <a:r>
              <a:rPr sz="1100" b="0">
                <a:solidFill>
                  <a:srgbClr val="E8ECF1"/>
                </a:solidFill>
                <a:latin typeface="Consolas"/>
                <a:ea typeface="Consolas"/>
                <a:cs typeface="Consolas"/>
              </a:rPr>
              <a:t>from langchain.prompts import PromptTemplate</a:t>
            </a:r>
          </a:p>
          <a:p>
            <a:pPr algn="l">
              <a:lnSpc>
                <a:spcPct val="130000"/>
              </a:lnSpc>
            </a:pPr>
            <a:r>
              <a:rPr sz="1100" b="0">
                <a:solidFill>
                  <a:srgbClr val="E8ECF1"/>
                </a:solidFill>
                <a:latin typeface="Consolas"/>
                <a:ea typeface="Consolas"/>
                <a:cs typeface="Consolas"/>
              </a:rPr>
              <a:t>from langchain.chains import LLMChain</a:t>
            </a:r>
          </a:p>
          <a:p>
            <a:pPr algn="l">
              <a:lnSpc>
                <a:spcPct val="130000"/>
              </a:lnSpc>
            </a:pPr>
            <a:r>
              <a:rPr sz="1100" b="0">
                <a:solidFill>
                  <a:srgbClr val="E8ECF1"/>
                </a:solidFill>
                <a:latin typeface="Consolas"/>
                <a:ea typeface="Consolas"/>
                <a:cs typeface="Consolas"/>
              </a:rPr>
              <a:t/>
            </a:r>
          </a:p>
          <a:p>
            <a:pPr algn="l">
              <a:lnSpc>
                <a:spcPct val="130000"/>
              </a:lnSpc>
            </a:pPr>
            <a:r>
              <a:rPr sz="1100" b="0">
                <a:solidFill>
                  <a:srgbClr val="E8ECF1"/>
                </a:solidFill>
                <a:latin typeface="Consolas"/>
                <a:ea typeface="Consolas"/>
                <a:cs typeface="Consolas"/>
              </a:rPr>
              <a:t>llm = ChatOpenAI(temperature=0)</a:t>
            </a:r>
          </a:p>
          <a:p>
            <a:pPr algn="l">
              <a:lnSpc>
                <a:spcPct val="130000"/>
              </a:lnSpc>
            </a:pPr>
            <a:r>
              <a:rPr sz="1100" b="0">
                <a:solidFill>
                  <a:srgbClr val="E8ECF1"/>
                </a:solidFill>
                <a:latin typeface="Consolas"/>
                <a:ea typeface="Consolas"/>
                <a:cs typeface="Consolas"/>
              </a:rPr>
              <a:t>chain = LLMChain(llm=llm, prompt=PromptTemplate</a:t>
            </a:r>
          </a:p>
          <a:p>
            <a:pPr algn="l">
              <a:lnSpc>
                <a:spcPct val="130000"/>
              </a:lnSpc>
            </a:pPr>
            <a:r>
              <a:rPr sz="1100" b="0">
                <a:solidFill>
                  <a:srgbClr val="E8ECF1"/>
                </a:solidFill>
                <a:latin typeface="Consolas"/>
                <a:ea typeface="Consolas"/>
                <a:cs typeface="Consolas"/>
              </a:rPr>
              <a:t>    .from_template('{word}의 반대말은?'))</a:t>
            </a:r>
          </a:p>
          <a:p>
            <a:pPr algn="l">
              <a:lnSpc>
                <a:spcPct val="130000"/>
              </a:lnSpc>
            </a:pPr>
            <a:r>
              <a:rPr sz="1100" b="0">
                <a:solidFill>
                  <a:srgbClr val="E8ECF1"/>
                </a:solidFill>
                <a:latin typeface="Consolas"/>
                <a:ea typeface="Consolas"/>
                <a:cs typeface="Consolas"/>
              </a:rPr>
              <a:t>print(chain.run(word='크다'))</a:t>
            </a:r>
          </a:p>
        </p:txBody>
      </p:sp>
      <p:sp>
        <p:nvSpPr>
          <p:cNvPr id="7" name="Rounded Rectangle 6"/>
          <p:cNvSpPr/>
          <p:nvPr/>
        </p:nvSpPr>
        <p:spPr>
          <a:xfrm>
            <a:off x="6291072" y="1828800"/>
            <a:ext cx="5212080" cy="2377440"/>
          </a:xfrm>
          <a:prstGeom prst="roundRect">
            <a:avLst>
              <a:gd name="adj" fmla="val 6000"/>
            </a:avLst>
          </a:prstGeom>
          <a:solidFill>
            <a:srgbClr val="14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519672" y="1965960"/>
            <a:ext cx="4754880" cy="274320"/>
          </a:xfrm>
          <a:prstGeom prst="rect">
            <a:avLst/>
          </a:prstGeom>
          <a:noFill/>
        </p:spPr>
        <p:txBody>
          <a:bodyPr wrap="square" lIns="0" rIns="0" tIns="0" bIns="0" anchor="t">
            <a:spAutoFit/>
          </a:bodyPr>
          <a:lstStyle/>
          <a:p>
            <a:pPr algn="l">
              <a:lnSpc>
                <a:spcPct val="115000"/>
              </a:lnSpc>
            </a:pPr>
            <a:r>
              <a:rPr sz="1200" b="1">
                <a:solidFill>
                  <a:srgbClr val="7FB2F0"/>
                </a:solidFill>
                <a:latin typeface="맑은 고딕"/>
                <a:ea typeface="맑은 고딕"/>
                <a:cs typeface="맑은 고딕"/>
              </a:rPr>
              <a:t>변경 후 (팀 그래프 결과)</a:t>
            </a:r>
          </a:p>
        </p:txBody>
      </p:sp>
      <p:sp>
        <p:nvSpPr>
          <p:cNvPr id="9" name="TextBox 8"/>
          <p:cNvSpPr txBox="1"/>
          <p:nvPr/>
        </p:nvSpPr>
        <p:spPr>
          <a:xfrm>
            <a:off x="6519672" y="2286000"/>
            <a:ext cx="4754880" cy="1828800"/>
          </a:xfrm>
          <a:prstGeom prst="rect">
            <a:avLst/>
          </a:prstGeom>
          <a:noFill/>
        </p:spPr>
        <p:txBody>
          <a:bodyPr wrap="square" lIns="0" rIns="0" tIns="0" bIns="0" anchor="t">
            <a:spAutoFit/>
          </a:bodyPr>
          <a:lstStyle/>
          <a:p>
            <a:pPr algn="l">
              <a:lnSpc>
                <a:spcPct val="130000"/>
              </a:lnSpc>
            </a:pPr>
            <a:r>
              <a:rPr sz="1100" b="0">
                <a:solidFill>
                  <a:srgbClr val="E8ECF1"/>
                </a:solidFill>
                <a:latin typeface="Consolas"/>
                <a:ea typeface="Consolas"/>
                <a:cs typeface="Consolas"/>
              </a:rPr>
              <a:t>from langchain_openai import ChatOpenAI</a:t>
            </a:r>
          </a:p>
          <a:p>
            <a:pPr algn="l">
              <a:lnSpc>
                <a:spcPct val="130000"/>
              </a:lnSpc>
            </a:pPr>
            <a:r>
              <a:rPr sz="1100" b="0">
                <a:solidFill>
                  <a:srgbClr val="E8ECF1"/>
                </a:solidFill>
                <a:latin typeface="Consolas"/>
                <a:ea typeface="Consolas"/>
                <a:cs typeface="Consolas"/>
              </a:rPr>
              <a:t>from langchain_core.prompts import PromptTemplate</a:t>
            </a:r>
          </a:p>
          <a:p>
            <a:pPr algn="l">
              <a:lnSpc>
                <a:spcPct val="130000"/>
              </a:lnSpc>
            </a:pPr>
            <a:r>
              <a:rPr sz="1100" b="0">
                <a:solidFill>
                  <a:srgbClr val="E8ECF1"/>
                </a:solidFill>
                <a:latin typeface="Consolas"/>
                <a:ea typeface="Consolas"/>
                <a:cs typeface="Consolas"/>
              </a:rPr>
              <a:t>from langchain_core.output_parsers import StrOutputParser</a:t>
            </a:r>
          </a:p>
          <a:p>
            <a:pPr algn="l">
              <a:lnSpc>
                <a:spcPct val="130000"/>
              </a:lnSpc>
            </a:pPr>
            <a:r>
              <a:rPr sz="1100" b="0">
                <a:solidFill>
                  <a:srgbClr val="E8ECF1"/>
                </a:solidFill>
                <a:latin typeface="Consolas"/>
                <a:ea typeface="Consolas"/>
                <a:cs typeface="Consolas"/>
              </a:rPr>
              <a:t/>
            </a:r>
          </a:p>
          <a:p>
            <a:pPr algn="l">
              <a:lnSpc>
                <a:spcPct val="130000"/>
              </a:lnSpc>
            </a:pPr>
            <a:r>
              <a:rPr sz="1100" b="0">
                <a:solidFill>
                  <a:srgbClr val="E8ECF1"/>
                </a:solidFill>
                <a:latin typeface="Consolas"/>
                <a:ea typeface="Consolas"/>
                <a:cs typeface="Consolas"/>
              </a:rPr>
              <a:t>llm = ChatOpenAI(temperature=0)</a:t>
            </a:r>
          </a:p>
          <a:p>
            <a:pPr algn="l">
              <a:lnSpc>
                <a:spcPct val="130000"/>
              </a:lnSpc>
            </a:pPr>
            <a:r>
              <a:rPr sz="1100" b="0">
                <a:solidFill>
                  <a:srgbClr val="E8ECF1"/>
                </a:solidFill>
                <a:latin typeface="Consolas"/>
                <a:ea typeface="Consolas"/>
                <a:cs typeface="Consolas"/>
              </a:rPr>
              <a:t>chain = PromptTemplate.from_template(</a:t>
            </a:r>
          </a:p>
          <a:p>
            <a:pPr algn="l">
              <a:lnSpc>
                <a:spcPct val="130000"/>
              </a:lnSpc>
            </a:pPr>
            <a:r>
              <a:rPr sz="1100" b="0">
                <a:solidFill>
                  <a:srgbClr val="E8ECF1"/>
                </a:solidFill>
                <a:latin typeface="Consolas"/>
                <a:ea typeface="Consolas"/>
                <a:cs typeface="Consolas"/>
              </a:rPr>
              <a:t>    '{word}의 반대말은?') | llm | StrOutputParser()</a:t>
            </a:r>
          </a:p>
          <a:p>
            <a:pPr algn="l">
              <a:lnSpc>
                <a:spcPct val="130000"/>
              </a:lnSpc>
            </a:pPr>
            <a:r>
              <a:rPr sz="1100" b="0">
                <a:solidFill>
                  <a:srgbClr val="E8ECF1"/>
                </a:solidFill>
                <a:latin typeface="Consolas"/>
                <a:ea typeface="Consolas"/>
                <a:cs typeface="Consolas"/>
              </a:rPr>
              <a:t>print(chain.invoke({'word': '크다'}))</a:t>
            </a:r>
          </a:p>
        </p:txBody>
      </p:sp>
      <p:sp>
        <p:nvSpPr>
          <p:cNvPr id="10" name="Rounded Rectangle 9"/>
          <p:cNvSpPr/>
          <p:nvPr/>
        </p:nvSpPr>
        <p:spPr>
          <a:xfrm>
            <a:off x="685800" y="4434840"/>
            <a:ext cx="2542032" cy="1325880"/>
          </a:xfrm>
          <a:prstGeom prst="roundRect">
            <a:avLst>
              <a:gd name="adj" fmla="val 6000"/>
            </a:avLst>
          </a:prstGeom>
          <a:solidFill>
            <a:srgbClr val="1E2D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14400" y="4526280"/>
            <a:ext cx="2103120" cy="548640"/>
          </a:xfrm>
          <a:prstGeom prst="rect">
            <a:avLst/>
          </a:prstGeom>
          <a:noFill/>
        </p:spPr>
        <p:txBody>
          <a:bodyPr wrap="square" lIns="0" rIns="0" tIns="0" bIns="0" anchor="t">
            <a:spAutoFit/>
          </a:bodyPr>
          <a:lstStyle/>
          <a:p>
            <a:pPr algn="l">
              <a:lnSpc>
                <a:spcPct val="115000"/>
              </a:lnSpc>
            </a:pPr>
            <a:r>
              <a:rPr sz="2600" b="1">
                <a:solidFill>
                  <a:srgbClr val="7FB2F0"/>
                </a:solidFill>
                <a:latin typeface="맑은 고딕"/>
                <a:ea typeface="맑은 고딕"/>
                <a:cs typeface="맑은 고딕"/>
              </a:rPr>
              <a:t>3회</a:t>
            </a:r>
          </a:p>
        </p:txBody>
      </p:sp>
      <p:sp>
        <p:nvSpPr>
          <p:cNvPr id="12" name="TextBox 11"/>
          <p:cNvSpPr txBox="1"/>
          <p:nvPr/>
        </p:nvSpPr>
        <p:spPr>
          <a:xfrm>
            <a:off x="914400" y="5074920"/>
            <a:ext cx="2103120" cy="640080"/>
          </a:xfrm>
          <a:prstGeom prst="rect">
            <a:avLst/>
          </a:prstGeom>
          <a:noFill/>
        </p:spPr>
        <p:txBody>
          <a:bodyPr wrap="square" lIns="0" rIns="0" tIns="0" bIns="0" anchor="t">
            <a:spAutoFit/>
          </a:bodyPr>
          <a:lstStyle/>
          <a:p>
            <a:pPr algn="l">
              <a:lnSpc>
                <a:spcPct val="125000"/>
              </a:lnSpc>
            </a:pPr>
            <a:r>
              <a:rPr sz="1200" b="0">
                <a:solidFill>
                  <a:srgbClr val="B9C3CF"/>
                </a:solidFill>
                <a:latin typeface="맑은 고딕"/>
                <a:ea typeface="맑은 고딕"/>
                <a:cs typeface="맑은 고딕"/>
              </a:rPr>
              <a:t>검사 통과까지 시도</a:t>
            </a:r>
          </a:p>
        </p:txBody>
      </p:sp>
      <p:sp>
        <p:nvSpPr>
          <p:cNvPr id="13" name="Rounded Rectangle 12"/>
          <p:cNvSpPr/>
          <p:nvPr/>
        </p:nvSpPr>
        <p:spPr>
          <a:xfrm>
            <a:off x="3410712" y="4434840"/>
            <a:ext cx="2542032" cy="1325880"/>
          </a:xfrm>
          <a:prstGeom prst="roundRect">
            <a:avLst>
              <a:gd name="adj" fmla="val 6000"/>
            </a:avLst>
          </a:prstGeom>
          <a:solidFill>
            <a:srgbClr val="1E2D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639312" y="4526280"/>
            <a:ext cx="2103120" cy="548640"/>
          </a:xfrm>
          <a:prstGeom prst="rect">
            <a:avLst/>
          </a:prstGeom>
          <a:noFill/>
        </p:spPr>
        <p:txBody>
          <a:bodyPr wrap="square" lIns="0" rIns="0" tIns="0" bIns="0" anchor="t">
            <a:spAutoFit/>
          </a:bodyPr>
          <a:lstStyle/>
          <a:p>
            <a:pPr algn="l">
              <a:lnSpc>
                <a:spcPct val="115000"/>
              </a:lnSpc>
            </a:pPr>
            <a:r>
              <a:rPr sz="2600" b="1">
                <a:solidFill>
                  <a:srgbClr val="7FB2F0"/>
                </a:solidFill>
                <a:latin typeface="맑은 고딕"/>
                <a:ea typeface="맑은 고딕"/>
                <a:cs typeface="맑은 고딕"/>
              </a:rPr>
              <a:t>6줄</a:t>
            </a:r>
          </a:p>
        </p:txBody>
      </p:sp>
      <p:sp>
        <p:nvSpPr>
          <p:cNvPr id="15" name="TextBox 14"/>
          <p:cNvSpPr txBox="1"/>
          <p:nvPr/>
        </p:nvSpPr>
        <p:spPr>
          <a:xfrm>
            <a:off x="3639312" y="5074920"/>
            <a:ext cx="2103120" cy="640080"/>
          </a:xfrm>
          <a:prstGeom prst="rect">
            <a:avLst/>
          </a:prstGeom>
          <a:noFill/>
        </p:spPr>
        <p:txBody>
          <a:bodyPr wrap="square" lIns="0" rIns="0" tIns="0" bIns="0" anchor="t">
            <a:spAutoFit/>
          </a:bodyPr>
          <a:lstStyle/>
          <a:p>
            <a:pPr algn="l">
              <a:lnSpc>
                <a:spcPct val="125000"/>
              </a:lnSpc>
            </a:pPr>
            <a:r>
              <a:rPr sz="1200" b="0">
                <a:solidFill>
                  <a:srgbClr val="B9C3CF"/>
                </a:solidFill>
                <a:latin typeface="맑은 고딕"/>
                <a:ea typeface="맑은 고딕"/>
                <a:cs typeface="맑은 고딕"/>
              </a:rPr>
              <a:t>바뀐 줄 모두 근거 ID</a:t>
            </a:r>
          </a:p>
          <a:p>
            <a:pPr algn="l">
              <a:lnSpc>
                <a:spcPct val="125000"/>
              </a:lnSpc>
            </a:pPr>
            <a:r>
              <a:rPr sz="1200" b="0">
                <a:solidFill>
                  <a:srgbClr val="B9C3CF"/>
                </a:solidFill>
                <a:latin typeface="맑은 고딕"/>
                <a:ea typeface="맑은 고딕"/>
                <a:cs typeface="맑은 고딕"/>
              </a:rPr>
              <a:t>(imap · mmap · doc)</a:t>
            </a:r>
          </a:p>
        </p:txBody>
      </p:sp>
      <p:sp>
        <p:nvSpPr>
          <p:cNvPr id="16" name="Rounded Rectangle 15"/>
          <p:cNvSpPr/>
          <p:nvPr/>
        </p:nvSpPr>
        <p:spPr>
          <a:xfrm>
            <a:off x="6135624" y="4434840"/>
            <a:ext cx="2542032" cy="1325880"/>
          </a:xfrm>
          <a:prstGeom prst="roundRect">
            <a:avLst>
              <a:gd name="adj" fmla="val 6000"/>
            </a:avLst>
          </a:prstGeom>
          <a:solidFill>
            <a:srgbClr val="1E2D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64224" y="4526280"/>
            <a:ext cx="2103120" cy="548640"/>
          </a:xfrm>
          <a:prstGeom prst="rect">
            <a:avLst/>
          </a:prstGeom>
          <a:noFill/>
        </p:spPr>
        <p:txBody>
          <a:bodyPr wrap="square" lIns="0" rIns="0" tIns="0" bIns="0" anchor="t">
            <a:spAutoFit/>
          </a:bodyPr>
          <a:lstStyle/>
          <a:p>
            <a:pPr algn="l">
              <a:lnSpc>
                <a:spcPct val="115000"/>
              </a:lnSpc>
            </a:pPr>
            <a:r>
              <a:rPr sz="2600" b="1">
                <a:solidFill>
                  <a:srgbClr val="7FB2F0"/>
                </a:solidFill>
                <a:latin typeface="맑은 고딕"/>
                <a:ea typeface="맑은 고딕"/>
                <a:cs typeface="맑은 고딕"/>
              </a:rPr>
              <a:t>0줄</a:t>
            </a:r>
          </a:p>
        </p:txBody>
      </p:sp>
      <p:sp>
        <p:nvSpPr>
          <p:cNvPr id="18" name="TextBox 17"/>
          <p:cNvSpPr txBox="1"/>
          <p:nvPr/>
        </p:nvSpPr>
        <p:spPr>
          <a:xfrm>
            <a:off x="6364224" y="5074920"/>
            <a:ext cx="2103120" cy="640080"/>
          </a:xfrm>
          <a:prstGeom prst="rect">
            <a:avLst/>
          </a:prstGeom>
          <a:noFill/>
        </p:spPr>
        <p:txBody>
          <a:bodyPr wrap="square" lIns="0" rIns="0" tIns="0" bIns="0" anchor="t">
            <a:spAutoFit/>
          </a:bodyPr>
          <a:lstStyle/>
          <a:p>
            <a:pPr algn="l">
              <a:lnSpc>
                <a:spcPct val="125000"/>
              </a:lnSpc>
            </a:pPr>
            <a:r>
              <a:rPr sz="1200" b="0">
                <a:solidFill>
                  <a:srgbClr val="B9C3CF"/>
                </a:solidFill>
                <a:latin typeface="맑은 고딕"/>
                <a:ea typeface="맑은 고딕"/>
                <a:cs typeface="맑은 고딕"/>
              </a:rPr>
              <a:t>근거 부족으로 못 바꾼 줄</a:t>
            </a:r>
          </a:p>
        </p:txBody>
      </p:sp>
      <p:sp>
        <p:nvSpPr>
          <p:cNvPr id="19" name="Rounded Rectangle 18"/>
          <p:cNvSpPr/>
          <p:nvPr/>
        </p:nvSpPr>
        <p:spPr>
          <a:xfrm>
            <a:off x="8860536" y="4434840"/>
            <a:ext cx="2542032" cy="1325880"/>
          </a:xfrm>
          <a:prstGeom prst="roundRect">
            <a:avLst>
              <a:gd name="adj" fmla="val 6000"/>
            </a:avLst>
          </a:prstGeom>
          <a:solidFill>
            <a:srgbClr val="1E2D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089136" y="4526280"/>
            <a:ext cx="2103120" cy="548640"/>
          </a:xfrm>
          <a:prstGeom prst="rect">
            <a:avLst/>
          </a:prstGeom>
          <a:noFill/>
        </p:spPr>
        <p:txBody>
          <a:bodyPr wrap="square" lIns="0" rIns="0" tIns="0" bIns="0" anchor="t">
            <a:spAutoFit/>
          </a:bodyPr>
          <a:lstStyle/>
          <a:p>
            <a:pPr algn="l">
              <a:lnSpc>
                <a:spcPct val="115000"/>
              </a:lnSpc>
            </a:pPr>
            <a:r>
              <a:rPr sz="2600" b="1">
                <a:solidFill>
                  <a:srgbClr val="F2A27E"/>
                </a:solidFill>
                <a:latin typeface="맑은 고딕"/>
                <a:ea typeface="맑은 고딕"/>
                <a:cs typeface="맑은 고딕"/>
              </a:rPr>
              <a:t>약 1분</a:t>
            </a:r>
          </a:p>
        </p:txBody>
      </p:sp>
      <p:sp>
        <p:nvSpPr>
          <p:cNvPr id="21" name="TextBox 20"/>
          <p:cNvSpPr txBox="1"/>
          <p:nvPr/>
        </p:nvSpPr>
        <p:spPr>
          <a:xfrm>
            <a:off x="9089136" y="5074920"/>
            <a:ext cx="2103120" cy="640080"/>
          </a:xfrm>
          <a:prstGeom prst="rect">
            <a:avLst/>
          </a:prstGeom>
          <a:noFill/>
        </p:spPr>
        <p:txBody>
          <a:bodyPr wrap="square" lIns="0" rIns="0" tIns="0" bIns="0" anchor="t">
            <a:spAutoFit/>
          </a:bodyPr>
          <a:lstStyle/>
          <a:p>
            <a:pPr algn="l">
              <a:lnSpc>
                <a:spcPct val="125000"/>
              </a:lnSpc>
            </a:pPr>
            <a:r>
              <a:rPr sz="1200" b="0">
                <a:solidFill>
                  <a:srgbClr val="B9C3CF"/>
                </a:solidFill>
                <a:latin typeface="맑은 고딕"/>
                <a:ea typeface="맑은 고딕"/>
                <a:cs typeface="맑은 고딕"/>
              </a:rPr>
              <a:t>한 번 변환에 걸린 시간</a:t>
            </a:r>
          </a:p>
        </p:txBody>
      </p:sp>
      <p:sp>
        <p:nvSpPr>
          <p:cNvPr id="22" name="TextBox 21"/>
          <p:cNvSpPr txBox="1"/>
          <p:nvPr/>
        </p:nvSpPr>
        <p:spPr>
          <a:xfrm>
            <a:off x="685800" y="6327648"/>
            <a:ext cx="10789920" cy="274320"/>
          </a:xfrm>
          <a:prstGeom prst="rect">
            <a:avLst/>
          </a:prstGeom>
          <a:noFill/>
        </p:spPr>
        <p:txBody>
          <a:bodyPr wrap="square" lIns="0" rIns="0" tIns="0" bIns="0" anchor="t">
            <a:spAutoFit/>
          </a:bodyPr>
          <a:lstStyle/>
          <a:p>
            <a:pPr algn="l">
              <a:lnSpc>
                <a:spcPct val="115000"/>
              </a:lnSpc>
            </a:pPr>
            <a:r>
              <a:rPr sz="1100" b="0">
                <a:solidFill>
                  <a:srgbClr val="8A9AAD"/>
                </a:solidFill>
                <a:latin typeface="맑은 고딕"/>
                <a:ea typeface="맑은 고딕"/>
                <a:cs typeface="맑은 고딕"/>
              </a:rPr>
              <a:t>LangChain 마이그레이션 도우미 · 12 · 화면 캡처는 9장 · 같은 코드를 두 번 실행해 두 번 모두 3회차 통과</a:t>
            </a:r>
          </a:p>
        </p:txBody>
      </p:sp>
      <p:sp>
        <p:nvSpPr>
          <p:cNvPr id="23" name="Rectangle 22"/>
          <p:cNvSpPr/>
          <p:nvPr/>
        </p:nvSpPr>
        <p:spPr>
          <a:xfrm>
            <a:off x="0" y="6803136"/>
            <a:ext cx="12191695" cy="54864"/>
          </a:xfrm>
          <a:prstGeom prst="rect">
            <a:avLst/>
          </a:prstGeom>
          <a:solidFill>
            <a:srgbClr val="344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803136"/>
            <a:ext cx="8127796" cy="54864"/>
          </a:xfrm>
          <a:prstGeom prst="rect">
            <a:avLst/>
          </a:prstGeom>
          <a:solidFill>
            <a:srgbClr val="7FB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35040" y="566928"/>
            <a:ext cx="5486400" cy="274320"/>
          </a:xfrm>
          <a:prstGeom prst="rect">
            <a:avLst/>
          </a:prstGeom>
          <a:noFill/>
        </p:spPr>
        <p:txBody>
          <a:bodyPr wrap="square" lIns="0" rIns="0" tIns="0" bIns="0" anchor="t">
            <a:spAutoFit/>
          </a:bodyPr>
          <a:lstStyle/>
          <a:p>
            <a:pPr algn="r">
              <a:lnSpc>
                <a:spcPct val="115000"/>
              </a:lnSpc>
            </a:pPr>
            <a:r>
              <a:rPr sz="1000" b="0">
                <a:solidFill>
                  <a:srgbClr val="8A9AAD"/>
                </a:solidFill>
                <a:latin typeface="맑은 고딕"/>
                <a:ea typeface="맑은 고딕"/>
                <a:cs typeface="맑은 고딕"/>
              </a:rPr>
              <a:t>문제와 해결   만든 것   ● 평가와 결과   배운 것</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5F1"/>
        </a:solidFill>
        <a:effectLst/>
      </p:bgPr>
    </p:bg>
    <p:spTree>
      <p:nvGrpSpPr>
        <p:cNvPr id="1" name=""/>
        <p:cNvGrpSpPr/>
        <p:nvPr/>
      </p:nvGrpSpPr>
      <p:grpSpPr/>
      <p:sp>
        <p:nvSpPr>
          <p:cNvPr id="2" name="TextBox 1"/>
          <p:cNvSpPr txBox="1"/>
          <p:nvPr/>
        </p:nvSpPr>
        <p:spPr>
          <a:xfrm>
            <a:off x="685800" y="566928"/>
            <a:ext cx="10789920" cy="274320"/>
          </a:xfrm>
          <a:prstGeom prst="rect">
            <a:avLst/>
          </a:prstGeom>
          <a:noFill/>
        </p:spPr>
        <p:txBody>
          <a:bodyPr wrap="square" lIns="0" rIns="0" tIns="0" bIns="0" anchor="t">
            <a:spAutoFit/>
          </a:bodyPr>
          <a:lstStyle/>
          <a:p>
            <a:pPr algn="l">
              <a:lnSpc>
                <a:spcPct val="115000"/>
              </a:lnSpc>
            </a:pPr>
            <a:r>
              <a:rPr sz="1300" b="1">
                <a:solidFill>
                  <a:srgbClr val="1F5FAE"/>
                </a:solidFill>
                <a:latin typeface="맑은 고딕"/>
                <a:ea typeface="맑은 고딕"/>
                <a:cs typeface="맑은 고딕"/>
              </a:rPr>
              <a:t>결과</a:t>
            </a:r>
          </a:p>
        </p:txBody>
      </p:sp>
      <p:sp>
        <p:nvSpPr>
          <p:cNvPr id="3" name="TextBox 2"/>
          <p:cNvSpPr txBox="1"/>
          <p:nvPr/>
        </p:nvSpPr>
        <p:spPr>
          <a:xfrm>
            <a:off x="685800" y="868680"/>
            <a:ext cx="10789920" cy="731520"/>
          </a:xfrm>
          <a:prstGeom prst="rect">
            <a:avLst/>
          </a:prstGeom>
          <a:noFill/>
        </p:spPr>
        <p:txBody>
          <a:bodyPr wrap="square" lIns="0" rIns="0" tIns="0" bIns="0" anchor="t">
            <a:spAutoFit/>
          </a:bodyPr>
          <a:lstStyle/>
          <a:p>
            <a:pPr algn="l">
              <a:lnSpc>
                <a:spcPct val="115000"/>
              </a:lnSpc>
            </a:pPr>
            <a:r>
              <a:rPr sz="3200" b="1">
                <a:solidFill>
                  <a:srgbClr val="1B2433"/>
                </a:solidFill>
                <a:latin typeface="맑은 고딕"/>
                <a:ea typeface="맑은 고딕"/>
                <a:cs typeface="맑은 고딕"/>
              </a:rPr>
              <a:t>[결과 한 줄 요약]</a:t>
            </a:r>
          </a:p>
        </p:txBody>
      </p:sp>
      <p:sp>
        <p:nvSpPr>
          <p:cNvPr id="4" name="TextBox 3"/>
          <p:cNvSpPr txBox="1"/>
          <p:nvPr/>
        </p:nvSpPr>
        <p:spPr>
          <a:xfrm>
            <a:off x="685800" y="2011680"/>
            <a:ext cx="3840480" cy="365760"/>
          </a:xfrm>
          <a:prstGeom prst="rect">
            <a:avLst/>
          </a:prstGeom>
          <a:noFill/>
        </p:spPr>
        <p:txBody>
          <a:bodyPr wrap="square" lIns="0" rIns="0" tIns="0" bIns="0" anchor="t">
            <a:spAutoFit/>
          </a:bodyPr>
          <a:lstStyle/>
          <a:p>
            <a:pPr algn="l">
              <a:lnSpc>
                <a:spcPct val="115000"/>
              </a:lnSpc>
            </a:pPr>
            <a:r>
              <a:rPr sz="1500" b="1">
                <a:solidFill>
                  <a:srgbClr val="1F5FAE"/>
                </a:solidFill>
                <a:latin typeface="맑은 고딕"/>
                <a:ea typeface="맑은 고딕"/>
                <a:cs typeface="맑은 고딕"/>
              </a:rPr>
              <a:t>우리 챗봇 · 검증 통과율</a:t>
            </a:r>
          </a:p>
        </p:txBody>
      </p:sp>
      <p:sp>
        <p:nvSpPr>
          <p:cNvPr id="5" name="TextBox 4"/>
          <p:cNvSpPr txBox="1"/>
          <p:nvPr/>
        </p:nvSpPr>
        <p:spPr>
          <a:xfrm>
            <a:off x="685800" y="2377440"/>
            <a:ext cx="3840480" cy="914400"/>
          </a:xfrm>
          <a:prstGeom prst="rect">
            <a:avLst/>
          </a:prstGeom>
          <a:noFill/>
        </p:spPr>
        <p:txBody>
          <a:bodyPr wrap="square" lIns="0" rIns="0" tIns="0" bIns="0" anchor="t">
            <a:spAutoFit/>
          </a:bodyPr>
          <a:lstStyle/>
          <a:p>
            <a:pPr algn="l">
              <a:lnSpc>
                <a:spcPct val="115000"/>
              </a:lnSpc>
            </a:pPr>
            <a:r>
              <a:rPr sz="6000" b="1">
                <a:solidFill>
                  <a:srgbClr val="1B2433"/>
                </a:solidFill>
                <a:latin typeface="맑은 고딕"/>
                <a:ea typeface="맑은 고딕"/>
                <a:cs typeface="맑은 고딕"/>
              </a:rPr>
              <a:t>[__]%</a:t>
            </a:r>
          </a:p>
        </p:txBody>
      </p:sp>
      <p:sp>
        <p:nvSpPr>
          <p:cNvPr id="6" name="TextBox 5"/>
          <p:cNvSpPr txBox="1"/>
          <p:nvPr/>
        </p:nvSpPr>
        <p:spPr>
          <a:xfrm>
            <a:off x="685800" y="3429000"/>
            <a:ext cx="3840480" cy="365760"/>
          </a:xfrm>
          <a:prstGeom prst="rect">
            <a:avLst/>
          </a:prstGeom>
          <a:noFill/>
        </p:spPr>
        <p:txBody>
          <a:bodyPr wrap="square" lIns="0" rIns="0" tIns="0" bIns="0" anchor="t">
            <a:spAutoFit/>
          </a:bodyPr>
          <a:lstStyle/>
          <a:p>
            <a:pPr algn="l">
              <a:lnSpc>
                <a:spcPct val="115000"/>
              </a:lnSpc>
            </a:pPr>
            <a:r>
              <a:rPr sz="1500" b="1">
                <a:solidFill>
                  <a:srgbClr val="B4471B"/>
                </a:solidFill>
                <a:latin typeface="맑은 고딕"/>
                <a:ea typeface="맑은 고딕"/>
                <a:cs typeface="맑은 고딕"/>
              </a:rPr>
              <a:t>일반 LLM · 검증 통과율</a:t>
            </a:r>
          </a:p>
        </p:txBody>
      </p:sp>
      <p:sp>
        <p:nvSpPr>
          <p:cNvPr id="7" name="TextBox 6"/>
          <p:cNvSpPr txBox="1"/>
          <p:nvPr/>
        </p:nvSpPr>
        <p:spPr>
          <a:xfrm>
            <a:off x="685800" y="3794760"/>
            <a:ext cx="3840480" cy="914400"/>
          </a:xfrm>
          <a:prstGeom prst="rect">
            <a:avLst/>
          </a:prstGeom>
          <a:noFill/>
        </p:spPr>
        <p:txBody>
          <a:bodyPr wrap="square" lIns="0" rIns="0" tIns="0" bIns="0" anchor="t">
            <a:spAutoFit/>
          </a:bodyPr>
          <a:lstStyle/>
          <a:p>
            <a:pPr algn="l">
              <a:lnSpc>
                <a:spcPct val="115000"/>
              </a:lnSpc>
            </a:pPr>
            <a:r>
              <a:rPr sz="6000" b="1">
                <a:solidFill>
                  <a:srgbClr val="1B2433"/>
                </a:solidFill>
                <a:latin typeface="맑은 고딕"/>
                <a:ea typeface="맑은 고딕"/>
                <a:cs typeface="맑은 고딕"/>
              </a:rPr>
              <a:t>[__]%</a:t>
            </a:r>
          </a:p>
        </p:txBody>
      </p:sp>
      <p:sp>
        <p:nvSpPr>
          <p:cNvPr id="8" name="TextBox 7"/>
          <p:cNvSpPr txBox="1"/>
          <p:nvPr/>
        </p:nvSpPr>
        <p:spPr>
          <a:xfrm>
            <a:off x="685800" y="4892040"/>
            <a:ext cx="3840480" cy="365760"/>
          </a:xfrm>
          <a:prstGeom prst="rect">
            <a:avLst/>
          </a:prstGeom>
          <a:noFill/>
        </p:spPr>
        <p:txBody>
          <a:bodyPr wrap="square" lIns="0" rIns="0" tIns="0" bIns="0" anchor="t">
            <a:spAutoFit/>
          </a:bodyPr>
          <a:lstStyle/>
          <a:p>
            <a:pPr algn="l">
              <a:lnSpc>
                <a:spcPct val="115000"/>
              </a:lnSpc>
            </a:pPr>
            <a:r>
              <a:rPr sz="1500" b="0">
                <a:solidFill>
                  <a:srgbClr val="4A5363"/>
                </a:solidFill>
                <a:latin typeface="맑은 고딕"/>
                <a:ea typeface="맑은 고딕"/>
                <a:cs typeface="맑은 고딕"/>
              </a:rPr>
              <a:t>근거 포함률 [__]%  ·  질문 30개 기준</a:t>
            </a:r>
          </a:p>
        </p:txBody>
      </p:sp>
      <p:sp>
        <p:nvSpPr>
          <p:cNvPr id="9" name="Rounded Rectangle 8"/>
          <p:cNvSpPr/>
          <p:nvPr/>
        </p:nvSpPr>
        <p:spPr>
          <a:xfrm>
            <a:off x="4846320" y="1828800"/>
            <a:ext cx="6656832" cy="4023360"/>
          </a:xfrm>
          <a:prstGeom prst="roundRect">
            <a:avLst>
              <a:gd name="adj" fmla="val 6000"/>
            </a:avLst>
          </a:prstGeom>
          <a:solidFill>
            <a:srgbClr val="FFFFFF"/>
          </a:solidFill>
          <a:ln w="15875">
            <a:solidFill>
              <a:srgbClr val="C3C2B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846320" y="3566160"/>
            <a:ext cx="6656832" cy="731520"/>
          </a:xfrm>
          <a:prstGeom prst="rect">
            <a:avLst/>
          </a:prstGeom>
          <a:noFill/>
        </p:spPr>
        <p:txBody>
          <a:bodyPr wrap="square" lIns="0" rIns="0" tIns="0" bIns="0" anchor="t">
            <a:spAutoFit/>
          </a:bodyPr>
          <a:lstStyle/>
          <a:p>
            <a:pPr algn="ctr">
              <a:lnSpc>
                <a:spcPct val="115000"/>
              </a:lnSpc>
            </a:pPr>
            <a:r>
              <a:rPr sz="1600" b="1">
                <a:solidFill>
                  <a:srgbClr val="8A8F98"/>
                </a:solidFill>
                <a:latin typeface="맑은 고딕"/>
                <a:ea typeface="맑은 고딕"/>
                <a:cs typeface="맑은 고딕"/>
              </a:rPr>
              <a:t>[그래프 삽입]</a:t>
            </a:r>
          </a:p>
          <a:p>
            <a:pPr algn="ctr">
              <a:lnSpc>
                <a:spcPct val="115000"/>
              </a:lnSpc>
            </a:pPr>
            <a:r>
              <a:rPr sz="1600" b="1">
                <a:solidFill>
                  <a:srgbClr val="8A8F98"/>
                </a:solidFill>
                <a:latin typeface="맑은 고딕"/>
                <a:ea typeface="맑은 고딕"/>
                <a:cs typeface="맑은 고딕"/>
              </a:rPr>
              <a:t>난이도 · 유형별 검증 통과율</a:t>
            </a:r>
          </a:p>
        </p:txBody>
      </p:sp>
      <p:sp>
        <p:nvSpPr>
          <p:cNvPr id="11" name="TextBox 10"/>
          <p:cNvSpPr txBox="1"/>
          <p:nvPr/>
        </p:nvSpPr>
        <p:spPr>
          <a:xfrm>
            <a:off x="685800" y="6327648"/>
            <a:ext cx="10789920" cy="274320"/>
          </a:xfrm>
          <a:prstGeom prst="rect">
            <a:avLst/>
          </a:prstGeom>
          <a:noFill/>
        </p:spPr>
        <p:txBody>
          <a:bodyPr wrap="square" lIns="0" rIns="0" tIns="0" bIns="0" anchor="t">
            <a:spAutoFit/>
          </a:bodyPr>
          <a:lstStyle/>
          <a:p>
            <a:pPr algn="l">
              <a:lnSpc>
                <a:spcPct val="115000"/>
              </a:lnSpc>
            </a:pPr>
            <a:r>
              <a:rPr sz="1100" b="0">
                <a:solidFill>
                  <a:srgbClr val="8A8F98"/>
                </a:solidFill>
                <a:latin typeface="맑은 고딕"/>
                <a:ea typeface="맑은 고딕"/>
                <a:cs typeface="맑은 고딕"/>
              </a:rPr>
              <a:t>LangChain 마이그레이션 도우미 · 13</a:t>
            </a:r>
          </a:p>
        </p:txBody>
      </p:sp>
      <p:sp>
        <p:nvSpPr>
          <p:cNvPr id="12" name="Rectangle 11"/>
          <p:cNvSpPr/>
          <p:nvPr/>
        </p:nvSpPr>
        <p:spPr>
          <a:xfrm>
            <a:off x="0" y="6803136"/>
            <a:ext cx="12191695" cy="54864"/>
          </a:xfrm>
          <a:prstGeom prst="rect">
            <a:avLst/>
          </a:prstGeom>
          <a:solidFill>
            <a:srgbClr val="E1E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6803136"/>
            <a:ext cx="8805113" cy="54864"/>
          </a:xfrm>
          <a:prstGeom prst="rect">
            <a:avLst/>
          </a:prstGeom>
          <a:solidFill>
            <a:srgbClr val="1F5F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35040" y="566928"/>
            <a:ext cx="5486400" cy="274320"/>
          </a:xfrm>
          <a:prstGeom prst="rect">
            <a:avLst/>
          </a:prstGeom>
          <a:noFill/>
        </p:spPr>
        <p:txBody>
          <a:bodyPr wrap="square" lIns="0" rIns="0" tIns="0" bIns="0" anchor="t">
            <a:spAutoFit/>
          </a:bodyPr>
          <a:lstStyle/>
          <a:p>
            <a:pPr algn="r">
              <a:lnSpc>
                <a:spcPct val="115000"/>
              </a:lnSpc>
            </a:pPr>
            <a:r>
              <a:rPr sz="1000" b="0">
                <a:solidFill>
                  <a:srgbClr val="8A8F98"/>
                </a:solidFill>
                <a:latin typeface="맑은 고딕"/>
                <a:ea typeface="맑은 고딕"/>
                <a:cs typeface="맑은 고딕"/>
              </a:rPr>
              <a:t>문제와 해결   만든 것   ● 평가와 결과   배운 것</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5F1"/>
        </a:solidFill>
        <a:effectLst/>
      </p:bgPr>
    </p:bg>
    <p:spTree>
      <p:nvGrpSpPr>
        <p:cNvPr id="1" name=""/>
        <p:cNvGrpSpPr/>
        <p:nvPr/>
      </p:nvGrpSpPr>
      <p:grpSpPr/>
      <p:sp>
        <p:nvSpPr>
          <p:cNvPr id="2" name="TextBox 1"/>
          <p:cNvSpPr txBox="1"/>
          <p:nvPr/>
        </p:nvSpPr>
        <p:spPr>
          <a:xfrm>
            <a:off x="685800" y="566928"/>
            <a:ext cx="10789920" cy="274320"/>
          </a:xfrm>
          <a:prstGeom prst="rect">
            <a:avLst/>
          </a:prstGeom>
          <a:noFill/>
        </p:spPr>
        <p:txBody>
          <a:bodyPr wrap="square" lIns="0" rIns="0" tIns="0" bIns="0" anchor="t">
            <a:spAutoFit/>
          </a:bodyPr>
          <a:lstStyle/>
          <a:p>
            <a:pPr algn="l">
              <a:lnSpc>
                <a:spcPct val="115000"/>
              </a:lnSpc>
            </a:pPr>
            <a:r>
              <a:rPr sz="1300" b="1">
                <a:solidFill>
                  <a:srgbClr val="1F5FAE"/>
                </a:solidFill>
                <a:latin typeface="맑은 고딕"/>
                <a:ea typeface="맑은 고딕"/>
                <a:cs typeface="맑은 고딕"/>
              </a:rPr>
              <a:t>검증 루프 효과</a:t>
            </a:r>
          </a:p>
        </p:txBody>
      </p:sp>
      <p:sp>
        <p:nvSpPr>
          <p:cNvPr id="3" name="TextBox 2"/>
          <p:cNvSpPr txBox="1"/>
          <p:nvPr/>
        </p:nvSpPr>
        <p:spPr>
          <a:xfrm>
            <a:off x="685800" y="868680"/>
            <a:ext cx="10789920" cy="731520"/>
          </a:xfrm>
          <a:prstGeom prst="rect">
            <a:avLst/>
          </a:prstGeom>
          <a:noFill/>
        </p:spPr>
        <p:txBody>
          <a:bodyPr wrap="square" lIns="0" rIns="0" tIns="0" bIns="0" anchor="t">
            <a:spAutoFit/>
          </a:bodyPr>
          <a:lstStyle/>
          <a:p>
            <a:pPr algn="l">
              <a:lnSpc>
                <a:spcPct val="115000"/>
              </a:lnSpc>
            </a:pPr>
            <a:r>
              <a:rPr sz="3200" b="1">
                <a:solidFill>
                  <a:srgbClr val="1B2433"/>
                </a:solidFill>
                <a:latin typeface="맑은 고딕"/>
                <a:ea typeface="맑은 고딕"/>
                <a:cs typeface="맑은 고딕"/>
              </a:rPr>
              <a:t>다시 고치는 루프가 통과율을 [+__%p] 올렸습니다</a:t>
            </a:r>
          </a:p>
        </p:txBody>
      </p:sp>
      <p:sp>
        <p:nvSpPr>
          <p:cNvPr id="4" name="Rounded Rectangle 3"/>
          <p:cNvSpPr/>
          <p:nvPr/>
        </p:nvSpPr>
        <p:spPr>
          <a:xfrm>
            <a:off x="685800" y="1828800"/>
            <a:ext cx="6766560" cy="4023360"/>
          </a:xfrm>
          <a:prstGeom prst="roundRect">
            <a:avLst>
              <a:gd name="adj" fmla="val 6000"/>
            </a:avLst>
          </a:prstGeom>
          <a:solidFill>
            <a:srgbClr val="FFFFFF"/>
          </a:solidFill>
          <a:ln w="15875">
            <a:solidFill>
              <a:srgbClr val="C3C2B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85800" y="3566160"/>
            <a:ext cx="6766560" cy="731520"/>
          </a:xfrm>
          <a:prstGeom prst="rect">
            <a:avLst/>
          </a:prstGeom>
          <a:noFill/>
        </p:spPr>
        <p:txBody>
          <a:bodyPr wrap="square" lIns="0" rIns="0" tIns="0" bIns="0" anchor="t">
            <a:spAutoFit/>
          </a:bodyPr>
          <a:lstStyle/>
          <a:p>
            <a:pPr algn="ctr">
              <a:lnSpc>
                <a:spcPct val="115000"/>
              </a:lnSpc>
            </a:pPr>
            <a:r>
              <a:rPr sz="1600" b="1">
                <a:solidFill>
                  <a:srgbClr val="8A8F98"/>
                </a:solidFill>
                <a:latin typeface="맑은 고딕"/>
                <a:ea typeface="맑은 고딕"/>
                <a:cs typeface="맑은 고딕"/>
              </a:rPr>
              <a:t>[그래프 삽입]</a:t>
            </a:r>
          </a:p>
          <a:p>
            <a:pPr algn="ctr">
              <a:lnSpc>
                <a:spcPct val="115000"/>
              </a:lnSpc>
            </a:pPr>
            <a:r>
              <a:rPr sz="1600" b="1">
                <a:solidFill>
                  <a:srgbClr val="8A8F98"/>
                </a:solidFill>
                <a:latin typeface="맑은 고딕"/>
                <a:ea typeface="맑은 고딕"/>
                <a:cs typeface="맑은 고딕"/>
              </a:rPr>
              <a:t>1회차 → 2회차 → 3회차 누적 통과율</a:t>
            </a:r>
          </a:p>
        </p:txBody>
      </p:sp>
      <p:cxnSp>
        <p:nvCxnSpPr>
          <p:cNvPr id="6" name="Connector 5"/>
          <p:cNvCxnSpPr/>
          <p:nvPr/>
        </p:nvCxnSpPr>
        <p:spPr>
          <a:xfrm>
            <a:off x="7863840" y="1828800"/>
            <a:ext cx="3639312" cy="0"/>
          </a:xfrm>
          <a:prstGeom prst="line">
            <a:avLst/>
          </a:prstGeom>
          <a:ln w="12700">
            <a:solidFill>
              <a:srgbClr val="D4D3C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863840" y="1965960"/>
            <a:ext cx="3657600" cy="365760"/>
          </a:xfrm>
          <a:prstGeom prst="rect">
            <a:avLst/>
          </a:prstGeom>
          <a:noFill/>
        </p:spPr>
        <p:txBody>
          <a:bodyPr wrap="square" lIns="0" rIns="0" tIns="0" bIns="0" anchor="t">
            <a:spAutoFit/>
          </a:bodyPr>
          <a:lstStyle/>
          <a:p>
            <a:pPr algn="l">
              <a:lnSpc>
                <a:spcPct val="115000"/>
              </a:lnSpc>
            </a:pPr>
            <a:r>
              <a:rPr sz="1500" b="0">
                <a:solidFill>
                  <a:srgbClr val="4A5363"/>
                </a:solidFill>
                <a:latin typeface="맑은 고딕"/>
                <a:ea typeface="맑은 고딕"/>
                <a:cs typeface="맑은 고딕"/>
              </a:rPr>
              <a:t>1회차 통과율</a:t>
            </a:r>
          </a:p>
        </p:txBody>
      </p:sp>
      <p:sp>
        <p:nvSpPr>
          <p:cNvPr id="8" name="TextBox 7"/>
          <p:cNvSpPr txBox="1"/>
          <p:nvPr/>
        </p:nvSpPr>
        <p:spPr>
          <a:xfrm>
            <a:off x="7863840" y="2331720"/>
            <a:ext cx="3657600" cy="731520"/>
          </a:xfrm>
          <a:prstGeom prst="rect">
            <a:avLst/>
          </a:prstGeom>
          <a:noFill/>
        </p:spPr>
        <p:txBody>
          <a:bodyPr wrap="square" lIns="0" rIns="0" tIns="0" bIns="0" anchor="t">
            <a:spAutoFit/>
          </a:bodyPr>
          <a:lstStyle/>
          <a:p>
            <a:pPr algn="l">
              <a:lnSpc>
                <a:spcPct val="115000"/>
              </a:lnSpc>
            </a:pPr>
            <a:r>
              <a:rPr sz="4000" b="1">
                <a:solidFill>
                  <a:srgbClr val="1B2433"/>
                </a:solidFill>
                <a:latin typeface="맑은 고딕"/>
                <a:ea typeface="맑은 고딕"/>
                <a:cs typeface="맑은 고딕"/>
              </a:rPr>
              <a:t>[__]%</a:t>
            </a:r>
          </a:p>
        </p:txBody>
      </p:sp>
      <p:cxnSp>
        <p:nvCxnSpPr>
          <p:cNvPr id="9" name="Connector 8"/>
          <p:cNvCxnSpPr/>
          <p:nvPr/>
        </p:nvCxnSpPr>
        <p:spPr>
          <a:xfrm>
            <a:off x="7863840" y="3200400"/>
            <a:ext cx="3639312" cy="0"/>
          </a:xfrm>
          <a:prstGeom prst="line">
            <a:avLst/>
          </a:prstGeom>
          <a:ln w="12700">
            <a:solidFill>
              <a:srgbClr val="D4D3C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863840" y="3337560"/>
            <a:ext cx="3657600" cy="365760"/>
          </a:xfrm>
          <a:prstGeom prst="rect">
            <a:avLst/>
          </a:prstGeom>
          <a:noFill/>
        </p:spPr>
        <p:txBody>
          <a:bodyPr wrap="square" lIns="0" rIns="0" tIns="0" bIns="0" anchor="t">
            <a:spAutoFit/>
          </a:bodyPr>
          <a:lstStyle/>
          <a:p>
            <a:pPr algn="l">
              <a:lnSpc>
                <a:spcPct val="115000"/>
              </a:lnSpc>
            </a:pPr>
            <a:r>
              <a:rPr sz="1500" b="0">
                <a:solidFill>
                  <a:srgbClr val="4A5363"/>
                </a:solidFill>
                <a:latin typeface="맑은 고딕"/>
                <a:ea typeface="맑은 고딕"/>
                <a:cs typeface="맑은 고딕"/>
              </a:rPr>
              <a:t>최종 통과율 (최대 3회)</a:t>
            </a:r>
          </a:p>
        </p:txBody>
      </p:sp>
      <p:sp>
        <p:nvSpPr>
          <p:cNvPr id="11" name="TextBox 10"/>
          <p:cNvSpPr txBox="1"/>
          <p:nvPr/>
        </p:nvSpPr>
        <p:spPr>
          <a:xfrm>
            <a:off x="7863840" y="3703320"/>
            <a:ext cx="3657600" cy="731520"/>
          </a:xfrm>
          <a:prstGeom prst="rect">
            <a:avLst/>
          </a:prstGeom>
          <a:noFill/>
        </p:spPr>
        <p:txBody>
          <a:bodyPr wrap="square" lIns="0" rIns="0" tIns="0" bIns="0" anchor="t">
            <a:spAutoFit/>
          </a:bodyPr>
          <a:lstStyle/>
          <a:p>
            <a:pPr algn="l">
              <a:lnSpc>
                <a:spcPct val="115000"/>
              </a:lnSpc>
            </a:pPr>
            <a:r>
              <a:rPr sz="4000" b="1">
                <a:solidFill>
                  <a:srgbClr val="1F5FAE"/>
                </a:solidFill>
                <a:latin typeface="맑은 고딕"/>
                <a:ea typeface="맑은 고딕"/>
                <a:cs typeface="맑은 고딕"/>
              </a:rPr>
              <a:t>[__]%</a:t>
            </a:r>
          </a:p>
        </p:txBody>
      </p:sp>
      <p:cxnSp>
        <p:nvCxnSpPr>
          <p:cNvPr id="12" name="Connector 11"/>
          <p:cNvCxnSpPr/>
          <p:nvPr/>
        </p:nvCxnSpPr>
        <p:spPr>
          <a:xfrm>
            <a:off x="7863840" y="4572000"/>
            <a:ext cx="3639312" cy="0"/>
          </a:xfrm>
          <a:prstGeom prst="line">
            <a:avLst/>
          </a:prstGeom>
          <a:ln w="12700">
            <a:solidFill>
              <a:srgbClr val="D4D3CC"/>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863840" y="4709160"/>
            <a:ext cx="3657600" cy="365760"/>
          </a:xfrm>
          <a:prstGeom prst="rect">
            <a:avLst/>
          </a:prstGeom>
          <a:noFill/>
        </p:spPr>
        <p:txBody>
          <a:bodyPr wrap="square" lIns="0" rIns="0" tIns="0" bIns="0" anchor="t">
            <a:spAutoFit/>
          </a:bodyPr>
          <a:lstStyle/>
          <a:p>
            <a:pPr algn="l">
              <a:lnSpc>
                <a:spcPct val="115000"/>
              </a:lnSpc>
            </a:pPr>
            <a:r>
              <a:rPr sz="1500" b="0">
                <a:solidFill>
                  <a:srgbClr val="4A5363"/>
                </a:solidFill>
                <a:latin typeface="맑은 고딕"/>
                <a:ea typeface="맑은 고딕"/>
                <a:cs typeface="맑은 고딕"/>
              </a:rPr>
              <a:t>통과까지 평균 시도</a:t>
            </a:r>
          </a:p>
        </p:txBody>
      </p:sp>
      <p:sp>
        <p:nvSpPr>
          <p:cNvPr id="14" name="TextBox 13"/>
          <p:cNvSpPr txBox="1"/>
          <p:nvPr/>
        </p:nvSpPr>
        <p:spPr>
          <a:xfrm>
            <a:off x="7863840" y="5074920"/>
            <a:ext cx="3657600" cy="731520"/>
          </a:xfrm>
          <a:prstGeom prst="rect">
            <a:avLst/>
          </a:prstGeom>
          <a:noFill/>
        </p:spPr>
        <p:txBody>
          <a:bodyPr wrap="square" lIns="0" rIns="0" tIns="0" bIns="0" anchor="t">
            <a:spAutoFit/>
          </a:bodyPr>
          <a:lstStyle/>
          <a:p>
            <a:pPr algn="l">
              <a:lnSpc>
                <a:spcPct val="115000"/>
              </a:lnSpc>
            </a:pPr>
            <a:r>
              <a:rPr sz="4000" b="1">
                <a:solidFill>
                  <a:srgbClr val="1B2433"/>
                </a:solidFill>
                <a:latin typeface="맑은 고딕"/>
                <a:ea typeface="맑은 고딕"/>
                <a:cs typeface="맑은 고딕"/>
              </a:rPr>
              <a:t>[__]회</a:t>
            </a:r>
          </a:p>
        </p:txBody>
      </p:sp>
      <p:sp>
        <p:nvSpPr>
          <p:cNvPr id="15" name="TextBox 14"/>
          <p:cNvSpPr txBox="1"/>
          <p:nvPr/>
        </p:nvSpPr>
        <p:spPr>
          <a:xfrm>
            <a:off x="685800" y="6327648"/>
            <a:ext cx="10789920" cy="274320"/>
          </a:xfrm>
          <a:prstGeom prst="rect">
            <a:avLst/>
          </a:prstGeom>
          <a:noFill/>
        </p:spPr>
        <p:txBody>
          <a:bodyPr wrap="square" lIns="0" rIns="0" tIns="0" bIns="0" anchor="t">
            <a:spAutoFit/>
          </a:bodyPr>
          <a:lstStyle/>
          <a:p>
            <a:pPr algn="l">
              <a:lnSpc>
                <a:spcPct val="115000"/>
              </a:lnSpc>
            </a:pPr>
            <a:r>
              <a:rPr sz="1100" b="0">
                <a:solidFill>
                  <a:srgbClr val="8A8F98"/>
                </a:solidFill>
                <a:latin typeface="맑은 고딕"/>
                <a:ea typeface="맑은 고딕"/>
                <a:cs typeface="맑은 고딕"/>
              </a:rPr>
              <a:t>LangChain 마이그레이션 도우미 · 14</a:t>
            </a:r>
          </a:p>
        </p:txBody>
      </p:sp>
      <p:sp>
        <p:nvSpPr>
          <p:cNvPr id="16" name="Rectangle 15"/>
          <p:cNvSpPr/>
          <p:nvPr/>
        </p:nvSpPr>
        <p:spPr>
          <a:xfrm>
            <a:off x="0" y="6803136"/>
            <a:ext cx="12191695" cy="54864"/>
          </a:xfrm>
          <a:prstGeom prst="rect">
            <a:avLst/>
          </a:prstGeom>
          <a:solidFill>
            <a:srgbClr val="E1E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803136"/>
            <a:ext cx="9482429" cy="54864"/>
          </a:xfrm>
          <a:prstGeom prst="rect">
            <a:avLst/>
          </a:prstGeom>
          <a:solidFill>
            <a:srgbClr val="1F5F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35040" y="566928"/>
            <a:ext cx="5486400" cy="274320"/>
          </a:xfrm>
          <a:prstGeom prst="rect">
            <a:avLst/>
          </a:prstGeom>
          <a:noFill/>
        </p:spPr>
        <p:txBody>
          <a:bodyPr wrap="square" lIns="0" rIns="0" tIns="0" bIns="0" anchor="t">
            <a:spAutoFit/>
          </a:bodyPr>
          <a:lstStyle/>
          <a:p>
            <a:pPr algn="r">
              <a:lnSpc>
                <a:spcPct val="115000"/>
              </a:lnSpc>
            </a:pPr>
            <a:r>
              <a:rPr sz="1000" b="0">
                <a:solidFill>
                  <a:srgbClr val="8A8F98"/>
                </a:solidFill>
                <a:latin typeface="맑은 고딕"/>
                <a:ea typeface="맑은 고딕"/>
                <a:cs typeface="맑은 고딕"/>
              </a:rPr>
              <a:t>문제와 해결   만든 것   ● 평가와 결과   배운 것</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5F1"/>
        </a:solidFill>
        <a:effectLst/>
      </p:bgPr>
    </p:bg>
    <p:spTree>
      <p:nvGrpSpPr>
        <p:cNvPr id="1" name=""/>
        <p:cNvGrpSpPr/>
        <p:nvPr/>
      </p:nvGrpSpPr>
      <p:grpSpPr/>
      <p:sp>
        <p:nvSpPr>
          <p:cNvPr id="2" name="TextBox 1"/>
          <p:cNvSpPr txBox="1"/>
          <p:nvPr/>
        </p:nvSpPr>
        <p:spPr>
          <a:xfrm>
            <a:off x="685800" y="566928"/>
            <a:ext cx="10789920" cy="274320"/>
          </a:xfrm>
          <a:prstGeom prst="rect">
            <a:avLst/>
          </a:prstGeom>
          <a:noFill/>
        </p:spPr>
        <p:txBody>
          <a:bodyPr wrap="square" lIns="0" rIns="0" tIns="0" bIns="0" anchor="t">
            <a:spAutoFit/>
          </a:bodyPr>
          <a:lstStyle/>
          <a:p>
            <a:pPr algn="l">
              <a:lnSpc>
                <a:spcPct val="115000"/>
              </a:lnSpc>
            </a:pPr>
            <a:r>
              <a:rPr sz="1300" b="1">
                <a:solidFill>
                  <a:srgbClr val="1F5FAE"/>
                </a:solidFill>
                <a:latin typeface="맑은 고딕"/>
                <a:ea typeface="맑은 고딕"/>
                <a:cs typeface="맑은 고딕"/>
              </a:rPr>
              <a:t>만들면서 발견</a:t>
            </a:r>
          </a:p>
        </p:txBody>
      </p:sp>
      <p:sp>
        <p:nvSpPr>
          <p:cNvPr id="3" name="TextBox 2"/>
          <p:cNvSpPr txBox="1"/>
          <p:nvPr/>
        </p:nvSpPr>
        <p:spPr>
          <a:xfrm>
            <a:off x="685800" y="868680"/>
            <a:ext cx="10789920" cy="731520"/>
          </a:xfrm>
          <a:prstGeom prst="rect">
            <a:avLst/>
          </a:prstGeom>
          <a:noFill/>
        </p:spPr>
        <p:txBody>
          <a:bodyPr wrap="square" lIns="0" rIns="0" tIns="0" bIns="0" anchor="t">
            <a:spAutoFit/>
          </a:bodyPr>
          <a:lstStyle/>
          <a:p>
            <a:pPr algn="l">
              <a:lnSpc>
                <a:spcPct val="115000"/>
              </a:lnSpc>
            </a:pPr>
            <a:r>
              <a:rPr sz="3200" b="1">
                <a:solidFill>
                  <a:srgbClr val="1B2433"/>
                </a:solidFill>
                <a:latin typeface="맑은 고딕"/>
                <a:ea typeface="맑은 고딕"/>
                <a:cs typeface="맑은 고딕"/>
              </a:rPr>
              <a:t>통과했다고 끝이 아니었습니다</a:t>
            </a:r>
          </a:p>
        </p:txBody>
      </p:sp>
      <p:sp>
        <p:nvSpPr>
          <p:cNvPr id="4" name="Rounded Rectangle 3"/>
          <p:cNvSpPr/>
          <p:nvPr/>
        </p:nvSpPr>
        <p:spPr>
          <a:xfrm>
            <a:off x="685800" y="1828800"/>
            <a:ext cx="3429000" cy="310896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60120" y="2057400"/>
            <a:ext cx="2880360" cy="457200"/>
          </a:xfrm>
          <a:prstGeom prst="rect">
            <a:avLst/>
          </a:prstGeom>
          <a:noFill/>
        </p:spPr>
        <p:txBody>
          <a:bodyPr wrap="square" lIns="0" rIns="0" tIns="0" bIns="0" anchor="t">
            <a:spAutoFit/>
          </a:bodyPr>
          <a:lstStyle/>
          <a:p>
            <a:pPr algn="l">
              <a:lnSpc>
                <a:spcPct val="115000"/>
              </a:lnSpc>
            </a:pPr>
            <a:r>
              <a:rPr sz="1900" b="1">
                <a:solidFill>
                  <a:srgbClr val="1B2433"/>
                </a:solidFill>
                <a:latin typeface="맑은 고딕"/>
                <a:ea typeface="맑은 고딕"/>
                <a:cs typeface="맑은 고딕"/>
              </a:rPr>
              <a:t>지원 종료 중인 패키지</a:t>
            </a:r>
          </a:p>
        </p:txBody>
      </p:sp>
      <p:sp>
        <p:nvSpPr>
          <p:cNvPr id="6" name="TextBox 5"/>
          <p:cNvSpPr txBox="1"/>
          <p:nvPr/>
        </p:nvSpPr>
        <p:spPr>
          <a:xfrm>
            <a:off x="960120" y="2606040"/>
            <a:ext cx="2880360" cy="1737360"/>
          </a:xfrm>
          <a:prstGeom prst="rect">
            <a:avLst/>
          </a:prstGeom>
          <a:noFill/>
        </p:spPr>
        <p:txBody>
          <a:bodyPr wrap="square" lIns="0" rIns="0" tIns="0" bIns="0" anchor="t">
            <a:spAutoFit/>
          </a:bodyPr>
          <a:lstStyle/>
          <a:p>
            <a:pPr algn="l">
              <a:lnSpc>
                <a:spcPct val="140000"/>
              </a:lnSpc>
            </a:pPr>
            <a:r>
              <a:rPr sz="1400" b="0">
                <a:solidFill>
                  <a:srgbClr val="4A5363"/>
                </a:solidFill>
                <a:latin typeface="맑은 고딕"/>
                <a:ea typeface="맑은 고딕"/>
                <a:cs typeface="맑은 고딕"/>
              </a:rPr>
              <a:t>langchain-community는 import만 해도 '지원 종료 중' 경고를 냅니다. 지금 통과해도 곧 깨질 수 있어요.</a:t>
            </a:r>
          </a:p>
        </p:txBody>
      </p:sp>
      <p:sp>
        <p:nvSpPr>
          <p:cNvPr id="7" name="TextBox 6"/>
          <p:cNvSpPr txBox="1"/>
          <p:nvPr/>
        </p:nvSpPr>
        <p:spPr>
          <a:xfrm>
            <a:off x="960120" y="4434840"/>
            <a:ext cx="2880360" cy="365760"/>
          </a:xfrm>
          <a:prstGeom prst="rect">
            <a:avLst/>
          </a:prstGeom>
          <a:noFill/>
        </p:spPr>
        <p:txBody>
          <a:bodyPr wrap="square" lIns="0" rIns="0" tIns="0" bIns="0" anchor="t">
            <a:spAutoFit/>
          </a:bodyPr>
          <a:lstStyle/>
          <a:p>
            <a:pPr algn="l">
              <a:lnSpc>
                <a:spcPct val="115000"/>
              </a:lnSpc>
            </a:pPr>
            <a:r>
              <a:rPr sz="1100" b="0">
                <a:solidFill>
                  <a:srgbClr val="8A8F98"/>
                </a:solidFill>
                <a:latin typeface="맑은 고딕"/>
                <a:ea typeface="맑은 고딕"/>
                <a:cs typeface="맑은 고딕"/>
              </a:rPr>
              <a:t>langchain-community 0.4.2 확인</a:t>
            </a:r>
          </a:p>
        </p:txBody>
      </p:sp>
      <p:sp>
        <p:nvSpPr>
          <p:cNvPr id="8" name="Rounded Rectangle 7"/>
          <p:cNvSpPr/>
          <p:nvPr/>
        </p:nvSpPr>
        <p:spPr>
          <a:xfrm>
            <a:off x="4343400" y="1828800"/>
            <a:ext cx="3429000" cy="310896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617720" y="2057400"/>
            <a:ext cx="2880360" cy="457200"/>
          </a:xfrm>
          <a:prstGeom prst="rect">
            <a:avLst/>
          </a:prstGeom>
          <a:noFill/>
        </p:spPr>
        <p:txBody>
          <a:bodyPr wrap="square" lIns="0" rIns="0" tIns="0" bIns="0" anchor="t">
            <a:spAutoFit/>
          </a:bodyPr>
          <a:lstStyle/>
          <a:p>
            <a:pPr algn="l">
              <a:lnSpc>
                <a:spcPct val="115000"/>
              </a:lnSpc>
            </a:pPr>
            <a:r>
              <a:rPr sz="1900" b="1">
                <a:solidFill>
                  <a:srgbClr val="1B2433"/>
                </a:solidFill>
                <a:latin typeface="맑은 고딕"/>
                <a:ea typeface="맑은 고딕"/>
                <a:cs typeface="맑은 고딕"/>
              </a:rPr>
              <a:t>classic 우회</a:t>
            </a:r>
          </a:p>
        </p:txBody>
      </p:sp>
      <p:sp>
        <p:nvSpPr>
          <p:cNvPr id="10" name="TextBox 9"/>
          <p:cNvSpPr txBox="1"/>
          <p:nvPr/>
        </p:nvSpPr>
        <p:spPr>
          <a:xfrm>
            <a:off x="4617720" y="2606040"/>
            <a:ext cx="2880360" cy="1737360"/>
          </a:xfrm>
          <a:prstGeom prst="rect">
            <a:avLst/>
          </a:prstGeom>
          <a:noFill/>
        </p:spPr>
        <p:txBody>
          <a:bodyPr wrap="square" lIns="0" rIns="0" tIns="0" bIns="0" anchor="t">
            <a:spAutoFit/>
          </a:bodyPr>
          <a:lstStyle/>
          <a:p>
            <a:pPr algn="l">
              <a:lnSpc>
                <a:spcPct val="140000"/>
              </a:lnSpc>
            </a:pPr>
            <a:r>
              <a:rPr sz="1400" b="0">
                <a:solidFill>
                  <a:srgbClr val="4A5363"/>
                </a:solidFill>
                <a:latin typeface="맑은 고딕"/>
                <a:ea typeface="맑은 고딕"/>
                <a:cs typeface="맑은 고딕"/>
              </a:rPr>
              <a:t>LLMChain을 langchain_classic에서 가져오면 import는 통과하지만, 최신 방식(LCEL)은 아닙니다.</a:t>
            </a:r>
          </a:p>
        </p:txBody>
      </p:sp>
      <p:sp>
        <p:nvSpPr>
          <p:cNvPr id="11" name="TextBox 10"/>
          <p:cNvSpPr txBox="1"/>
          <p:nvPr/>
        </p:nvSpPr>
        <p:spPr>
          <a:xfrm>
            <a:off x="4617720" y="4434840"/>
            <a:ext cx="2880360" cy="365760"/>
          </a:xfrm>
          <a:prstGeom prst="rect">
            <a:avLst/>
          </a:prstGeom>
          <a:noFill/>
        </p:spPr>
        <p:txBody>
          <a:bodyPr wrap="square" lIns="0" rIns="0" tIns="0" bIns="0" anchor="t">
            <a:spAutoFit/>
          </a:bodyPr>
          <a:lstStyle/>
          <a:p>
            <a:pPr algn="l">
              <a:lnSpc>
                <a:spcPct val="115000"/>
              </a:lnSpc>
            </a:pPr>
            <a:r>
              <a:rPr sz="1100" b="0">
                <a:solidFill>
                  <a:srgbClr val="8A8F98"/>
                </a:solidFill>
                <a:latin typeface="맑은 고딕"/>
                <a:ea typeface="맑은 고딕"/>
                <a:cs typeface="맑은 고딕"/>
              </a:rPr>
              <a:t>대응표 · 화면에 '옛 창고(classic)'로 표시</a:t>
            </a:r>
          </a:p>
        </p:txBody>
      </p:sp>
      <p:sp>
        <p:nvSpPr>
          <p:cNvPr id="12" name="Rounded Rectangle 11"/>
          <p:cNvSpPr/>
          <p:nvPr/>
        </p:nvSpPr>
        <p:spPr>
          <a:xfrm>
            <a:off x="8001000" y="1828800"/>
            <a:ext cx="3429000" cy="3108960"/>
          </a:xfrm>
          <a:prstGeom prst="roundRect">
            <a:avLst>
              <a:gd name="adj" fmla="val 6000"/>
            </a:avLst>
          </a:prstGeom>
          <a:solidFill>
            <a:srgbClr val="FFFFFF"/>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275320" y="2057400"/>
            <a:ext cx="2880360" cy="457200"/>
          </a:xfrm>
          <a:prstGeom prst="rect">
            <a:avLst/>
          </a:prstGeom>
          <a:noFill/>
        </p:spPr>
        <p:txBody>
          <a:bodyPr wrap="square" lIns="0" rIns="0" tIns="0" bIns="0" anchor="t">
            <a:spAutoFit/>
          </a:bodyPr>
          <a:lstStyle/>
          <a:p>
            <a:pPr algn="l">
              <a:lnSpc>
                <a:spcPct val="115000"/>
              </a:lnSpc>
            </a:pPr>
            <a:r>
              <a:rPr sz="1900" b="1">
                <a:solidFill>
                  <a:srgbClr val="1B2433"/>
                </a:solidFill>
                <a:latin typeface="맑은 고딕"/>
                <a:ea typeface="맑은 고딕"/>
                <a:cs typeface="맑은 고딕"/>
              </a:rPr>
              <a:t>옛 버전끼리는 그대로</a:t>
            </a:r>
          </a:p>
        </p:txBody>
      </p:sp>
      <p:sp>
        <p:nvSpPr>
          <p:cNvPr id="14" name="TextBox 13"/>
          <p:cNvSpPr txBox="1"/>
          <p:nvPr/>
        </p:nvSpPr>
        <p:spPr>
          <a:xfrm>
            <a:off x="8275320" y="2606040"/>
            <a:ext cx="2880360" cy="1737360"/>
          </a:xfrm>
          <a:prstGeom prst="rect">
            <a:avLst/>
          </a:prstGeom>
          <a:noFill/>
        </p:spPr>
        <p:txBody>
          <a:bodyPr wrap="square" lIns="0" rIns="0" tIns="0" bIns="0" anchor="t">
            <a:spAutoFit/>
          </a:bodyPr>
          <a:lstStyle/>
          <a:p>
            <a:pPr algn="l">
              <a:lnSpc>
                <a:spcPct val="140000"/>
              </a:lnSpc>
            </a:pPr>
            <a:r>
              <a:rPr sz="1400" b="0">
                <a:solidFill>
                  <a:srgbClr val="4A5363"/>
                </a:solidFill>
                <a:latin typeface="맑은 고딕"/>
                <a:ea typeface="맑은 고딕"/>
                <a:cs typeface="맑은 고딕"/>
              </a:rPr>
              <a:t>0.0.300 ~ 0.3.30 사이에는 자주 쓰는 import 경로가 거의 같습니다. 크게 바뀌는 것은 1.x와의 사이입니다.</a:t>
            </a:r>
          </a:p>
        </p:txBody>
      </p:sp>
      <p:sp>
        <p:nvSpPr>
          <p:cNvPr id="15" name="TextBox 14"/>
          <p:cNvSpPr txBox="1"/>
          <p:nvPr/>
        </p:nvSpPr>
        <p:spPr>
          <a:xfrm>
            <a:off x="8275320" y="4434840"/>
            <a:ext cx="2880360" cy="365760"/>
          </a:xfrm>
          <a:prstGeom prst="rect">
            <a:avLst/>
          </a:prstGeom>
          <a:noFill/>
        </p:spPr>
        <p:txBody>
          <a:bodyPr wrap="square" lIns="0" rIns="0" tIns="0" bIns="0" anchor="t">
            <a:spAutoFit/>
          </a:bodyPr>
          <a:lstStyle/>
          <a:p>
            <a:pPr algn="l">
              <a:lnSpc>
                <a:spcPct val="115000"/>
              </a:lnSpc>
            </a:pPr>
            <a:r>
              <a:rPr sz="1100" b="0">
                <a:solidFill>
                  <a:srgbClr val="8A8F98"/>
                </a:solidFill>
                <a:latin typeface="맑은 고딕"/>
                <a:ea typeface="맑은 고딕"/>
                <a:cs typeface="맑은 고딕"/>
              </a:rPr>
              <a:t>버전별 도구 목록 23개 비교</a:t>
            </a:r>
          </a:p>
        </p:txBody>
      </p:sp>
      <p:sp>
        <p:nvSpPr>
          <p:cNvPr id="16" name="TextBox 15"/>
          <p:cNvSpPr txBox="1"/>
          <p:nvPr/>
        </p:nvSpPr>
        <p:spPr>
          <a:xfrm>
            <a:off x="685800" y="6327648"/>
            <a:ext cx="10789920" cy="274320"/>
          </a:xfrm>
          <a:prstGeom prst="rect">
            <a:avLst/>
          </a:prstGeom>
          <a:noFill/>
        </p:spPr>
        <p:txBody>
          <a:bodyPr wrap="square" lIns="0" rIns="0" tIns="0" bIns="0" anchor="t">
            <a:spAutoFit/>
          </a:bodyPr>
          <a:lstStyle/>
          <a:p>
            <a:pPr algn="l">
              <a:lnSpc>
                <a:spcPct val="115000"/>
              </a:lnSpc>
            </a:pPr>
            <a:r>
              <a:rPr sz="1100" b="0">
                <a:solidFill>
                  <a:srgbClr val="8A8F98"/>
                </a:solidFill>
                <a:latin typeface="맑은 고딕"/>
                <a:ea typeface="맑은 고딕"/>
                <a:cs typeface="맑은 고딕"/>
              </a:rPr>
              <a:t>LangChain 마이그레이션 도우미 · 15</a:t>
            </a:r>
          </a:p>
        </p:txBody>
      </p:sp>
      <p:sp>
        <p:nvSpPr>
          <p:cNvPr id="17" name="Rectangle 16"/>
          <p:cNvSpPr/>
          <p:nvPr/>
        </p:nvSpPr>
        <p:spPr>
          <a:xfrm>
            <a:off x="0" y="6803136"/>
            <a:ext cx="12191695" cy="54864"/>
          </a:xfrm>
          <a:prstGeom prst="rect">
            <a:avLst/>
          </a:prstGeom>
          <a:solidFill>
            <a:srgbClr val="E1E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6803136"/>
            <a:ext cx="10159745" cy="54864"/>
          </a:xfrm>
          <a:prstGeom prst="rect">
            <a:avLst/>
          </a:prstGeom>
          <a:solidFill>
            <a:srgbClr val="1F5F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566928"/>
            <a:ext cx="5486400" cy="274320"/>
          </a:xfrm>
          <a:prstGeom prst="rect">
            <a:avLst/>
          </a:prstGeom>
          <a:noFill/>
        </p:spPr>
        <p:txBody>
          <a:bodyPr wrap="square" lIns="0" rIns="0" tIns="0" bIns="0" anchor="t">
            <a:spAutoFit/>
          </a:bodyPr>
          <a:lstStyle/>
          <a:p>
            <a:pPr algn="r">
              <a:lnSpc>
                <a:spcPct val="115000"/>
              </a:lnSpc>
            </a:pPr>
            <a:r>
              <a:rPr sz="1000" b="0">
                <a:solidFill>
                  <a:srgbClr val="8A8F98"/>
                </a:solidFill>
                <a:latin typeface="맑은 고딕"/>
                <a:ea typeface="맑은 고딕"/>
                <a:cs typeface="맑은 고딕"/>
              </a:rPr>
              <a:t>문제와 해결   만든 것   평가와 결과   ● 배운 것</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5F1"/>
        </a:solidFill>
        <a:effectLst/>
      </p:bgPr>
    </p:bg>
    <p:spTree>
      <p:nvGrpSpPr>
        <p:cNvPr id="1" name=""/>
        <p:cNvGrpSpPr/>
        <p:nvPr/>
      </p:nvGrpSpPr>
      <p:grpSpPr/>
      <p:sp>
        <p:nvSpPr>
          <p:cNvPr id="2" name="TextBox 1"/>
          <p:cNvSpPr txBox="1"/>
          <p:nvPr/>
        </p:nvSpPr>
        <p:spPr>
          <a:xfrm>
            <a:off x="685800" y="566928"/>
            <a:ext cx="10789920" cy="274320"/>
          </a:xfrm>
          <a:prstGeom prst="rect">
            <a:avLst/>
          </a:prstGeom>
          <a:noFill/>
        </p:spPr>
        <p:txBody>
          <a:bodyPr wrap="square" lIns="0" rIns="0" tIns="0" bIns="0" anchor="t">
            <a:spAutoFit/>
          </a:bodyPr>
          <a:lstStyle/>
          <a:p>
            <a:pPr algn="l">
              <a:lnSpc>
                <a:spcPct val="115000"/>
              </a:lnSpc>
            </a:pPr>
            <a:r>
              <a:rPr sz="1300" b="1">
                <a:solidFill>
                  <a:srgbClr val="1F5FAE"/>
                </a:solidFill>
                <a:latin typeface="맑은 고딕"/>
                <a:ea typeface="맑은 고딕"/>
                <a:cs typeface="맑은 고딕"/>
              </a:rPr>
              <a:t>한계와 다음 단계</a:t>
            </a:r>
          </a:p>
        </p:txBody>
      </p:sp>
      <p:sp>
        <p:nvSpPr>
          <p:cNvPr id="3" name="TextBox 2"/>
          <p:cNvSpPr txBox="1"/>
          <p:nvPr/>
        </p:nvSpPr>
        <p:spPr>
          <a:xfrm>
            <a:off x="685800" y="868680"/>
            <a:ext cx="10789920" cy="731520"/>
          </a:xfrm>
          <a:prstGeom prst="rect">
            <a:avLst/>
          </a:prstGeom>
          <a:noFill/>
        </p:spPr>
        <p:txBody>
          <a:bodyPr wrap="square" lIns="0" rIns="0" tIns="0" bIns="0" anchor="t">
            <a:spAutoFit/>
          </a:bodyPr>
          <a:lstStyle/>
          <a:p>
            <a:pPr algn="l">
              <a:lnSpc>
                <a:spcPct val="115000"/>
              </a:lnSpc>
            </a:pPr>
            <a:r>
              <a:rPr sz="3200" b="1">
                <a:solidFill>
                  <a:srgbClr val="1B2433"/>
                </a:solidFill>
                <a:latin typeface="맑은 고딕"/>
                <a:ea typeface="맑은 고딕"/>
                <a:cs typeface="맑은 고딕"/>
              </a:rPr>
              <a:t>통과가 곧 정답은 아닙니다</a:t>
            </a:r>
          </a:p>
        </p:txBody>
      </p:sp>
      <p:graphicFrame>
        <p:nvGraphicFramePr>
          <p:cNvPr id="4" name="Table 3"/>
          <p:cNvGraphicFramePr>
            <a:graphicFrameLocks noGrp="1"/>
          </p:cNvGraphicFramePr>
          <p:nvPr/>
        </p:nvGraphicFramePr>
        <p:xfrm>
          <a:off x="685800" y="1828800"/>
          <a:ext cx="10817352" cy="3200400"/>
        </p:xfrm>
        <a:graphic>
          <a:graphicData uri="http://schemas.openxmlformats.org/drawingml/2006/table">
            <a:tbl>
              <a:tblPr firstRow="1" bandRow="1">
                <a:tableStyleId>{5940675A-B579-460E-94D1-54222C63F5DA}</a:tableStyleId>
              </a:tblPr>
              <a:tblGrid>
                <a:gridCol w="5760720"/>
                <a:gridCol w="5056632"/>
              </a:tblGrid>
              <a:tr h="640080">
                <a:tc>
                  <a:txBody>
                    <a:bodyPr wrap="square"/>
                    <a:lstStyle/>
                    <a:p>
                      <a:r>
                        <a:rPr sz="1500" b="1">
                          <a:solidFill>
                            <a:srgbClr val="1B2433"/>
                          </a:solidFill>
                          <a:latin typeface="맑은 고딕"/>
                          <a:ea typeface="맑은 고딕"/>
                        </a:rPr>
                        <a:t>한계</a:t>
                      </a:r>
                    </a:p>
                  </a:txBody>
                  <a:tcPr marL="109728" marR="109728" marT="45720" marB="45720" anchor="ctr">
                    <a:solidFill>
                      <a:srgbClr val="ECEBE5"/>
                    </a:solidFill>
                  </a:tcPr>
                </a:tc>
                <a:tc>
                  <a:txBody>
                    <a:bodyPr wrap="square"/>
                    <a:lstStyle/>
                    <a:p>
                      <a:r>
                        <a:rPr sz="1500" b="1">
                          <a:solidFill>
                            <a:srgbClr val="1B2433"/>
                          </a:solidFill>
                          <a:latin typeface="맑은 고딕"/>
                          <a:ea typeface="맑은 고딕"/>
                        </a:rPr>
                        <a:t>다음 단계</a:t>
                      </a:r>
                    </a:p>
                  </a:txBody>
                  <a:tcPr marL="109728" marR="109728" marT="45720" marB="45720" anchor="ctr">
                    <a:solidFill>
                      <a:srgbClr val="ECEBE5"/>
                    </a:solidFill>
                  </a:tcPr>
                </a:tc>
              </a:tr>
              <a:tr h="640080">
                <a:tc>
                  <a:txBody>
                    <a:bodyPr wrap="square"/>
                    <a:lstStyle/>
                    <a:p>
                      <a:r>
                        <a:rPr sz="1500" b="0">
                          <a:solidFill>
                            <a:srgbClr val="1B2433"/>
                          </a:solidFill>
                          <a:latin typeface="맑은 고딕"/>
                          <a:ea typeface="맑은 고딕"/>
                        </a:rPr>
                        <a:t>코드 검사까지 하지만, 실제 실행 결과가 맞는지는 확인 못 함</a:t>
                      </a:r>
                    </a:p>
                  </a:txBody>
                  <a:tcPr marL="109728" marR="109728" marT="45720" marB="45720" anchor="ctr">
                    <a:solidFill>
                      <a:srgbClr val="FFFFFF"/>
                    </a:solidFill>
                  </a:tcPr>
                </a:tc>
                <a:tc>
                  <a:txBody>
                    <a:bodyPr wrap="square"/>
                    <a:lstStyle/>
                    <a:p>
                      <a:r>
                        <a:rPr sz="1500" b="0">
                          <a:solidFill>
                            <a:srgbClr val="1B2433"/>
                          </a:solidFill>
                          <a:latin typeface="맑은 고딕"/>
                          <a:ea typeface="맑은 고딕"/>
                        </a:rPr>
                        <a:t>가짜 LLM을 넣어 코드 전체를 실제로 실행</a:t>
                      </a:r>
                    </a:p>
                  </a:txBody>
                  <a:tcPr marL="109728" marR="109728" marT="45720" marB="45720" anchor="ctr">
                    <a:solidFill>
                      <a:srgbClr val="FFFFFF"/>
                    </a:solidFill>
                  </a:tcPr>
                </a:tc>
              </a:tr>
              <a:tr h="640080">
                <a:tc>
                  <a:txBody>
                    <a:bodyPr wrap="square"/>
                    <a:lstStyle/>
                    <a:p>
                      <a:r>
                        <a:rPr sz="1500" b="0">
                          <a:solidFill>
                            <a:srgbClr val="1B2433"/>
                          </a:solidFill>
                          <a:latin typeface="맑은 고딕"/>
                          <a:ea typeface="맑은 고딕"/>
                        </a:rPr>
                        <a:t>다시 쓰기는 1.x로 올리기 중심 (되돌리기는 화면 쪽 임시 처리)</a:t>
                      </a:r>
                    </a:p>
                  </a:txBody>
                  <a:tcPr marL="109728" marR="109728" marT="45720" marB="45720" anchor="ctr">
                    <a:solidFill>
                      <a:srgbClr val="FFFFFF"/>
                    </a:solidFill>
                  </a:tcPr>
                </a:tc>
                <a:tc>
                  <a:txBody>
                    <a:bodyPr wrap="square"/>
                    <a:lstStyle/>
                    <a:p>
                      <a:r>
                        <a:rPr sz="1500" b="0">
                          <a:solidFill>
                            <a:srgbClr val="1B2433"/>
                          </a:solidFill>
                          <a:latin typeface="맑은 고딕"/>
                          <a:ea typeface="맑은 고딕"/>
                        </a:rPr>
                        <a:t>목표 버전을 그래프 전체에 넘겨 모든 방향 지원</a:t>
                      </a:r>
                    </a:p>
                  </a:txBody>
                  <a:tcPr marL="109728" marR="109728" marT="45720" marB="45720" anchor="ctr">
                    <a:solidFill>
                      <a:srgbClr val="FFFFFF"/>
                    </a:solidFill>
                  </a:tcPr>
                </a:tc>
              </a:tr>
              <a:tr h="640080">
                <a:tc>
                  <a:txBody>
                    <a:bodyPr wrap="square"/>
                    <a:lstStyle/>
                    <a:p>
                      <a:r>
                        <a:rPr sz="1500" b="0">
                          <a:solidFill>
                            <a:srgbClr val="1B2433"/>
                          </a:solidFill>
                          <a:latin typeface="맑은 고딕"/>
                          <a:ea typeface="맑은 고딕"/>
                        </a:rPr>
                        <a:t>검사 · 재시도로 한 번 변환에 약 1분</a:t>
                      </a:r>
                    </a:p>
                  </a:txBody>
                  <a:tcPr marL="109728" marR="109728" marT="45720" marB="45720" anchor="ctr">
                    <a:solidFill>
                      <a:srgbClr val="FFFFFF"/>
                    </a:solidFill>
                  </a:tcPr>
                </a:tc>
                <a:tc>
                  <a:txBody>
                    <a:bodyPr wrap="square"/>
                    <a:lstStyle/>
                    <a:p>
                      <a:r>
                        <a:rPr sz="1500" b="0">
                          <a:solidFill>
                            <a:srgbClr val="1B2433"/>
                          </a:solidFill>
                          <a:latin typeface="맑은 고딕"/>
                          <a:ea typeface="맑은 고딕"/>
                        </a:rPr>
                        <a:t>진행 단계 표시, 쉬운 import는 대응표만으로 바로 답하기</a:t>
                      </a:r>
                    </a:p>
                  </a:txBody>
                  <a:tcPr marL="109728" marR="109728" marT="45720" marB="45720" anchor="ctr">
                    <a:solidFill>
                      <a:srgbClr val="FFFFFF"/>
                    </a:solidFill>
                  </a:tcPr>
                </a:tc>
              </a:tr>
              <a:tr h="640080">
                <a:tc>
                  <a:txBody>
                    <a:bodyPr wrap="square"/>
                    <a:lstStyle/>
                    <a:p>
                      <a:r>
                        <a:rPr sz="1500" b="0">
                          <a:solidFill>
                            <a:srgbClr val="1B2433"/>
                          </a:solidFill>
                          <a:latin typeface="맑은 고딕"/>
                          <a:ea typeface="맑은 고딕"/>
                        </a:rPr>
                        <a:t>질문 30개, 팀이 직접 구축 · LangChain만 대상</a:t>
                      </a:r>
                    </a:p>
                  </a:txBody>
                  <a:tcPr marL="109728" marR="109728" marT="45720" marB="45720" anchor="ctr">
                    <a:solidFill>
                      <a:srgbClr val="FFFFFF"/>
                    </a:solidFill>
                  </a:tcPr>
                </a:tc>
                <a:tc>
                  <a:txBody>
                    <a:bodyPr wrap="square"/>
                    <a:lstStyle/>
                    <a:p>
                      <a:r>
                        <a:rPr sz="1500" b="0">
                          <a:solidFill>
                            <a:srgbClr val="1B2433"/>
                          </a:solidFill>
                          <a:latin typeface="맑은 고딕"/>
                          <a:ea typeface="맑은 고딕"/>
                        </a:rPr>
                        <a:t>실사용 코드로 확장, pydantic · OpenAI SDK 등으로 확장</a:t>
                      </a:r>
                    </a:p>
                  </a:txBody>
                  <a:tcPr marL="109728" marR="109728" marT="45720" marB="45720" anchor="ctr">
                    <a:solidFill>
                      <a:srgbClr val="FFFFFF"/>
                    </a:solidFill>
                  </a:tcPr>
                </a:tc>
              </a:tr>
            </a:tbl>
          </a:graphicData>
        </a:graphic>
      </p:graphicFrame>
      <p:sp>
        <p:nvSpPr>
          <p:cNvPr id="5" name="TextBox 4"/>
          <p:cNvSpPr txBox="1"/>
          <p:nvPr/>
        </p:nvSpPr>
        <p:spPr>
          <a:xfrm>
            <a:off x="685800" y="6327648"/>
            <a:ext cx="10789920" cy="274320"/>
          </a:xfrm>
          <a:prstGeom prst="rect">
            <a:avLst/>
          </a:prstGeom>
          <a:noFill/>
        </p:spPr>
        <p:txBody>
          <a:bodyPr wrap="square" lIns="0" rIns="0" tIns="0" bIns="0" anchor="t">
            <a:spAutoFit/>
          </a:bodyPr>
          <a:lstStyle/>
          <a:p>
            <a:pPr algn="l">
              <a:lnSpc>
                <a:spcPct val="115000"/>
              </a:lnSpc>
            </a:pPr>
            <a:r>
              <a:rPr sz="1100" b="0">
                <a:solidFill>
                  <a:srgbClr val="8A8F98"/>
                </a:solidFill>
                <a:latin typeface="맑은 고딕"/>
                <a:ea typeface="맑은 고딕"/>
                <a:cs typeface="맑은 고딕"/>
              </a:rPr>
              <a:t>LangChain 마이그레이션 도우미 · 16</a:t>
            </a:r>
          </a:p>
        </p:txBody>
      </p:sp>
      <p:sp>
        <p:nvSpPr>
          <p:cNvPr id="6" name="Rectangle 5"/>
          <p:cNvSpPr/>
          <p:nvPr/>
        </p:nvSpPr>
        <p:spPr>
          <a:xfrm>
            <a:off x="0" y="6803136"/>
            <a:ext cx="12191695" cy="54864"/>
          </a:xfrm>
          <a:prstGeom prst="rect">
            <a:avLst/>
          </a:prstGeom>
          <a:solidFill>
            <a:srgbClr val="E1E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803136"/>
            <a:ext cx="10837062" cy="54864"/>
          </a:xfrm>
          <a:prstGeom prst="rect">
            <a:avLst/>
          </a:prstGeom>
          <a:solidFill>
            <a:srgbClr val="1F5F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0" y="566928"/>
            <a:ext cx="5486400" cy="274320"/>
          </a:xfrm>
          <a:prstGeom prst="rect">
            <a:avLst/>
          </a:prstGeom>
          <a:noFill/>
        </p:spPr>
        <p:txBody>
          <a:bodyPr wrap="square" lIns="0" rIns="0" tIns="0" bIns="0" anchor="t">
            <a:spAutoFit/>
          </a:bodyPr>
          <a:lstStyle/>
          <a:p>
            <a:pPr algn="r">
              <a:lnSpc>
                <a:spcPct val="115000"/>
              </a:lnSpc>
            </a:pPr>
            <a:r>
              <a:rPr sz="1000" b="0">
                <a:solidFill>
                  <a:srgbClr val="8A8F98"/>
                </a:solidFill>
                <a:latin typeface="맑은 고딕"/>
                <a:ea typeface="맑은 고딕"/>
                <a:cs typeface="맑은 고딕"/>
              </a:rPr>
              <a:t>문제와 해결   만든 것   평가와 결과   ● 배운 것</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F5FAE"/>
        </a:solidFill>
        <a:effectLst/>
      </p:bgPr>
    </p:bg>
    <p:spTree>
      <p:nvGrpSpPr>
        <p:cNvPr id="1" name=""/>
        <p:cNvGrpSpPr/>
        <p:nvPr/>
      </p:nvGrpSpPr>
      <p:grpSpPr/>
      <p:sp>
        <p:nvSpPr>
          <p:cNvPr id="2" name="TextBox 1"/>
          <p:cNvSpPr txBox="1"/>
          <p:nvPr/>
        </p:nvSpPr>
        <p:spPr>
          <a:xfrm>
            <a:off x="685800" y="566928"/>
            <a:ext cx="10789920" cy="274320"/>
          </a:xfrm>
          <a:prstGeom prst="rect">
            <a:avLst/>
          </a:prstGeom>
          <a:noFill/>
        </p:spPr>
        <p:txBody>
          <a:bodyPr wrap="square" lIns="0" rIns="0" tIns="0" bIns="0" anchor="t">
            <a:spAutoFit/>
          </a:bodyPr>
          <a:lstStyle/>
          <a:p>
            <a:pPr algn="l">
              <a:lnSpc>
                <a:spcPct val="115000"/>
              </a:lnSpc>
            </a:pPr>
            <a:r>
              <a:rPr sz="1300" b="1">
                <a:solidFill>
                  <a:srgbClr val="D6E5F8"/>
                </a:solidFill>
                <a:latin typeface="맑은 고딕"/>
                <a:ea typeface="맑은 고딕"/>
                <a:cs typeface="맑은 고딕"/>
              </a:rPr>
              <a:t>가치</a:t>
            </a:r>
          </a:p>
        </p:txBody>
      </p:sp>
      <p:sp>
        <p:nvSpPr>
          <p:cNvPr id="3" name="TextBox 2"/>
          <p:cNvSpPr txBox="1"/>
          <p:nvPr/>
        </p:nvSpPr>
        <p:spPr>
          <a:xfrm>
            <a:off x="685800" y="914400"/>
            <a:ext cx="10789920" cy="1645920"/>
          </a:xfrm>
          <a:prstGeom prst="rect">
            <a:avLst/>
          </a:prstGeom>
          <a:noFill/>
        </p:spPr>
        <p:txBody>
          <a:bodyPr wrap="square" lIns="0" rIns="0" tIns="0" bIns="0" anchor="t">
            <a:spAutoFit/>
          </a:bodyPr>
          <a:lstStyle/>
          <a:p>
            <a:pPr algn="l">
              <a:lnSpc>
                <a:spcPct val="110000"/>
              </a:lnSpc>
            </a:pPr>
            <a:r>
              <a:rPr sz="4200" b="1">
                <a:solidFill>
                  <a:srgbClr val="FFFFFF"/>
                </a:solidFill>
                <a:latin typeface="맑은 고딕"/>
                <a:ea typeface="맑은 고딕"/>
                <a:cs typeface="맑은 고딕"/>
              </a:rPr>
              <a:t>라이브러리가 바뀔 때마다,</a:t>
            </a:r>
          </a:p>
          <a:p>
            <a:pPr algn="l">
              <a:lnSpc>
                <a:spcPct val="110000"/>
              </a:lnSpc>
            </a:pPr>
            <a:r>
              <a:rPr sz="4200" b="1">
                <a:solidFill>
                  <a:srgbClr val="FFFFFF"/>
                </a:solidFill>
                <a:latin typeface="맑은 고딕"/>
                <a:ea typeface="맑은 고딕"/>
                <a:cs typeface="맑은 고딕"/>
              </a:rPr>
              <a:t>근거와 함께 확인된 코드</a:t>
            </a:r>
          </a:p>
        </p:txBody>
      </p:sp>
      <p:cxnSp>
        <p:nvCxnSpPr>
          <p:cNvPr id="4" name="Connector 3"/>
          <p:cNvCxnSpPr/>
          <p:nvPr/>
        </p:nvCxnSpPr>
        <p:spPr>
          <a:xfrm>
            <a:off x="685800" y="4297680"/>
            <a:ext cx="3429000" cy="0"/>
          </a:xfrm>
          <a:prstGeom prst="line">
            <a:avLst/>
          </a:prstGeom>
          <a:ln w="19050">
            <a:solidFill>
              <a:srgbClr val="8DB6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85800" y="4480560"/>
            <a:ext cx="3429000" cy="411480"/>
          </a:xfrm>
          <a:prstGeom prst="rect">
            <a:avLst/>
          </a:prstGeom>
          <a:noFill/>
        </p:spPr>
        <p:txBody>
          <a:bodyPr wrap="square" lIns="0" rIns="0" tIns="0" bIns="0" anchor="t">
            <a:spAutoFit/>
          </a:bodyPr>
          <a:lstStyle/>
          <a:p>
            <a:pPr algn="l">
              <a:lnSpc>
                <a:spcPct val="115000"/>
              </a:lnSpc>
            </a:pPr>
            <a:r>
              <a:rPr sz="1900" b="1">
                <a:solidFill>
                  <a:srgbClr val="FFFFFF"/>
                </a:solidFill>
                <a:latin typeface="맑은 고딕"/>
                <a:ea typeface="맑은 고딕"/>
                <a:cs typeface="맑은 고딕"/>
              </a:rPr>
              <a:t>시간 절감</a:t>
            </a:r>
          </a:p>
        </p:txBody>
      </p:sp>
      <p:sp>
        <p:nvSpPr>
          <p:cNvPr id="6" name="TextBox 5"/>
          <p:cNvSpPr txBox="1"/>
          <p:nvPr/>
        </p:nvSpPr>
        <p:spPr>
          <a:xfrm>
            <a:off x="685800" y="4937760"/>
            <a:ext cx="3429000" cy="822960"/>
          </a:xfrm>
          <a:prstGeom prst="rect">
            <a:avLst/>
          </a:prstGeom>
          <a:noFill/>
        </p:spPr>
        <p:txBody>
          <a:bodyPr wrap="square" lIns="0" rIns="0" tIns="0" bIns="0" anchor="t">
            <a:spAutoFit/>
          </a:bodyPr>
          <a:lstStyle/>
          <a:p>
            <a:pPr algn="l">
              <a:lnSpc>
                <a:spcPct val="135000"/>
              </a:lnSpc>
            </a:pPr>
            <a:r>
              <a:rPr sz="1400" b="0">
                <a:solidFill>
                  <a:srgbClr val="E4EEFB"/>
                </a:solidFill>
                <a:latin typeface="맑은 고딕"/>
                <a:ea typeface="맑은 고딕"/>
                <a:cs typeface="맑은 고딕"/>
              </a:rPr>
              <a:t>에러를 하나씩 검색하는 대신, 근거가 붙은 답을 바로 확인</a:t>
            </a:r>
          </a:p>
        </p:txBody>
      </p:sp>
      <p:cxnSp>
        <p:nvCxnSpPr>
          <p:cNvPr id="7" name="Connector 6"/>
          <p:cNvCxnSpPr/>
          <p:nvPr/>
        </p:nvCxnSpPr>
        <p:spPr>
          <a:xfrm>
            <a:off x="4343400" y="4297680"/>
            <a:ext cx="3429000" cy="0"/>
          </a:xfrm>
          <a:prstGeom prst="line">
            <a:avLst/>
          </a:prstGeom>
          <a:ln w="19050">
            <a:solidFill>
              <a:srgbClr val="8DB6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343400" y="4480560"/>
            <a:ext cx="3429000" cy="411480"/>
          </a:xfrm>
          <a:prstGeom prst="rect">
            <a:avLst/>
          </a:prstGeom>
          <a:noFill/>
        </p:spPr>
        <p:txBody>
          <a:bodyPr wrap="square" lIns="0" rIns="0" tIns="0" bIns="0" anchor="t">
            <a:spAutoFit/>
          </a:bodyPr>
          <a:lstStyle/>
          <a:p>
            <a:pPr algn="l">
              <a:lnSpc>
                <a:spcPct val="115000"/>
              </a:lnSpc>
            </a:pPr>
            <a:r>
              <a:rPr sz="1900" b="1">
                <a:solidFill>
                  <a:srgbClr val="FFFFFF"/>
                </a:solidFill>
                <a:latin typeface="맑은 고딕"/>
                <a:ea typeface="맑은 고딕"/>
                <a:cs typeface="맑은 고딕"/>
              </a:rPr>
              <a:t>신뢰</a:t>
            </a:r>
          </a:p>
        </p:txBody>
      </p:sp>
      <p:sp>
        <p:nvSpPr>
          <p:cNvPr id="9" name="TextBox 8"/>
          <p:cNvSpPr txBox="1"/>
          <p:nvPr/>
        </p:nvSpPr>
        <p:spPr>
          <a:xfrm>
            <a:off x="4343400" y="4937760"/>
            <a:ext cx="3429000" cy="822960"/>
          </a:xfrm>
          <a:prstGeom prst="rect">
            <a:avLst/>
          </a:prstGeom>
          <a:noFill/>
        </p:spPr>
        <p:txBody>
          <a:bodyPr wrap="square" lIns="0" rIns="0" tIns="0" bIns="0" anchor="t">
            <a:spAutoFit/>
          </a:bodyPr>
          <a:lstStyle/>
          <a:p>
            <a:pPr algn="l">
              <a:lnSpc>
                <a:spcPct val="135000"/>
              </a:lnSpc>
            </a:pPr>
            <a:r>
              <a:rPr sz="1400" b="0">
                <a:solidFill>
                  <a:srgbClr val="E4EEFB"/>
                </a:solidFill>
                <a:latin typeface="맑은 고딕"/>
                <a:ea typeface="맑은 고딕"/>
                <a:cs typeface="맑은 고딕"/>
              </a:rPr>
              <a:t>바뀐 줄마다 근거 ID와 이유, 몇 번 만에 검사를 통과했는지 함께 제시</a:t>
            </a:r>
          </a:p>
        </p:txBody>
      </p:sp>
      <p:cxnSp>
        <p:nvCxnSpPr>
          <p:cNvPr id="10" name="Connector 9"/>
          <p:cNvCxnSpPr/>
          <p:nvPr/>
        </p:nvCxnSpPr>
        <p:spPr>
          <a:xfrm>
            <a:off x="8001000" y="4297680"/>
            <a:ext cx="3429000" cy="0"/>
          </a:xfrm>
          <a:prstGeom prst="line">
            <a:avLst/>
          </a:prstGeom>
          <a:ln w="19050">
            <a:solidFill>
              <a:srgbClr val="8DB6E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001000" y="4480560"/>
            <a:ext cx="3429000" cy="411480"/>
          </a:xfrm>
          <a:prstGeom prst="rect">
            <a:avLst/>
          </a:prstGeom>
          <a:noFill/>
        </p:spPr>
        <p:txBody>
          <a:bodyPr wrap="square" lIns="0" rIns="0" tIns="0" bIns="0" anchor="t">
            <a:spAutoFit/>
          </a:bodyPr>
          <a:lstStyle/>
          <a:p>
            <a:pPr algn="l">
              <a:lnSpc>
                <a:spcPct val="115000"/>
              </a:lnSpc>
            </a:pPr>
            <a:r>
              <a:rPr sz="1900" b="1">
                <a:solidFill>
                  <a:srgbClr val="FFFFFF"/>
                </a:solidFill>
                <a:latin typeface="맑은 고딕"/>
                <a:ea typeface="맑은 고딕"/>
                <a:cs typeface="맑은 고딕"/>
              </a:rPr>
              <a:t>확장</a:t>
            </a:r>
          </a:p>
        </p:txBody>
      </p:sp>
      <p:sp>
        <p:nvSpPr>
          <p:cNvPr id="12" name="TextBox 11"/>
          <p:cNvSpPr txBox="1"/>
          <p:nvPr/>
        </p:nvSpPr>
        <p:spPr>
          <a:xfrm>
            <a:off x="8001000" y="4937760"/>
            <a:ext cx="3429000" cy="822960"/>
          </a:xfrm>
          <a:prstGeom prst="rect">
            <a:avLst/>
          </a:prstGeom>
          <a:noFill/>
        </p:spPr>
        <p:txBody>
          <a:bodyPr wrap="square" lIns="0" rIns="0" tIns="0" bIns="0" anchor="t">
            <a:spAutoFit/>
          </a:bodyPr>
          <a:lstStyle/>
          <a:p>
            <a:pPr algn="l">
              <a:lnSpc>
                <a:spcPct val="135000"/>
              </a:lnSpc>
            </a:pPr>
            <a:r>
              <a:rPr sz="1400" b="0">
                <a:solidFill>
                  <a:srgbClr val="E4EEFB"/>
                </a:solidFill>
                <a:latin typeface="맑은 고딕"/>
                <a:ea typeface="맑은 고딕"/>
                <a:cs typeface="맑은 고딕"/>
              </a:rPr>
              <a:t>대응표 · 문서 · 검사 기준만 바꾸면 다른 라이브러리에도 적용</a:t>
            </a:r>
          </a:p>
        </p:txBody>
      </p:sp>
      <p:sp>
        <p:nvSpPr>
          <p:cNvPr id="13" name="TextBox 12"/>
          <p:cNvSpPr txBox="1"/>
          <p:nvPr/>
        </p:nvSpPr>
        <p:spPr>
          <a:xfrm>
            <a:off x="685800" y="6327648"/>
            <a:ext cx="10789920" cy="274320"/>
          </a:xfrm>
          <a:prstGeom prst="rect">
            <a:avLst/>
          </a:prstGeom>
          <a:noFill/>
        </p:spPr>
        <p:txBody>
          <a:bodyPr wrap="square" lIns="0" rIns="0" tIns="0" bIns="0" anchor="t">
            <a:spAutoFit/>
          </a:bodyPr>
          <a:lstStyle/>
          <a:p>
            <a:pPr algn="l">
              <a:lnSpc>
                <a:spcPct val="115000"/>
              </a:lnSpc>
            </a:pPr>
            <a:r>
              <a:rPr sz="1100" b="0">
                <a:solidFill>
                  <a:srgbClr val="D6E5F8"/>
                </a:solidFill>
                <a:latin typeface="맑은 고딕"/>
                <a:ea typeface="맑은 고딕"/>
                <a:cs typeface="맑은 고딕"/>
              </a:rPr>
              <a:t>LangChain 마이그레이션 도우미 · 17</a:t>
            </a:r>
          </a:p>
        </p:txBody>
      </p:sp>
      <p:sp>
        <p:nvSpPr>
          <p:cNvPr id="14" name="Rectangle 13"/>
          <p:cNvSpPr/>
          <p:nvPr/>
        </p:nvSpPr>
        <p:spPr>
          <a:xfrm>
            <a:off x="0" y="6803136"/>
            <a:ext cx="12191695" cy="54864"/>
          </a:xfrm>
          <a:prstGeom prst="rect">
            <a:avLst/>
          </a:prstGeom>
          <a:solidFill>
            <a:srgbClr val="4A8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6803136"/>
            <a:ext cx="11514378"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35040" y="566928"/>
            <a:ext cx="5486400" cy="274320"/>
          </a:xfrm>
          <a:prstGeom prst="rect">
            <a:avLst/>
          </a:prstGeom>
          <a:noFill/>
        </p:spPr>
        <p:txBody>
          <a:bodyPr wrap="square" lIns="0" rIns="0" tIns="0" bIns="0" anchor="t">
            <a:spAutoFit/>
          </a:bodyPr>
          <a:lstStyle/>
          <a:p>
            <a:pPr algn="r">
              <a:lnSpc>
                <a:spcPct val="115000"/>
              </a:lnSpc>
            </a:pPr>
            <a:r>
              <a:rPr sz="1000" b="0">
                <a:solidFill>
                  <a:srgbClr val="D6E5F8"/>
                </a:solidFill>
                <a:latin typeface="맑은 고딕"/>
                <a:ea typeface="맑은 고딕"/>
                <a:cs typeface="맑은 고딕"/>
              </a:rPr>
              <a:t>문제와 해결   만든 것   평가와 결과   ● 배운 것</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4202E"/>
        </a:solidFill>
        <a:effectLst/>
      </p:bgPr>
    </p:bg>
    <p:spTree>
      <p:nvGrpSpPr>
        <p:cNvPr id="1" name=""/>
        <p:cNvGrpSpPr/>
        <p:nvPr/>
      </p:nvGrpSpPr>
      <p:grpSpPr/>
      <p:sp>
        <p:nvSpPr>
          <p:cNvPr id="2" name="TextBox 1"/>
          <p:cNvSpPr txBox="1"/>
          <p:nvPr/>
        </p:nvSpPr>
        <p:spPr>
          <a:xfrm>
            <a:off x="685800" y="566928"/>
            <a:ext cx="10789920" cy="274320"/>
          </a:xfrm>
          <a:prstGeom prst="rect">
            <a:avLst/>
          </a:prstGeom>
          <a:noFill/>
        </p:spPr>
        <p:txBody>
          <a:bodyPr wrap="square" lIns="0" rIns="0" tIns="0" bIns="0" anchor="t">
            <a:spAutoFit/>
          </a:bodyPr>
          <a:lstStyle/>
          <a:p>
            <a:pPr algn="l">
              <a:lnSpc>
                <a:spcPct val="115000"/>
              </a:lnSpc>
            </a:pPr>
            <a:r>
              <a:rPr sz="1300" b="1">
                <a:solidFill>
                  <a:srgbClr val="7FB2F0"/>
                </a:solidFill>
                <a:latin typeface="맑은 고딕"/>
                <a:ea typeface="맑은 고딕"/>
                <a:cs typeface="맑은 고딕"/>
              </a:rPr>
              <a:t>팀</a:t>
            </a:r>
          </a:p>
        </p:txBody>
      </p:sp>
      <p:sp>
        <p:nvSpPr>
          <p:cNvPr id="3" name="Rounded Rectangle 2"/>
          <p:cNvSpPr/>
          <p:nvPr/>
        </p:nvSpPr>
        <p:spPr>
          <a:xfrm>
            <a:off x="685800" y="960120"/>
            <a:ext cx="2560320" cy="1783080"/>
          </a:xfrm>
          <a:prstGeom prst="roundRect">
            <a:avLst>
              <a:gd name="adj" fmla="val 6000"/>
            </a:avLst>
          </a:prstGeom>
          <a:solidFill>
            <a:srgbClr val="1E2D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14400" y="1097280"/>
            <a:ext cx="2103120" cy="274320"/>
          </a:xfrm>
          <a:prstGeom prst="rect">
            <a:avLst/>
          </a:prstGeom>
          <a:noFill/>
        </p:spPr>
        <p:txBody>
          <a:bodyPr wrap="square" lIns="0" rIns="0" tIns="0" bIns="0" anchor="t">
            <a:spAutoFit/>
          </a:bodyPr>
          <a:lstStyle/>
          <a:p>
            <a:pPr algn="l">
              <a:lnSpc>
                <a:spcPct val="115000"/>
              </a:lnSpc>
            </a:pPr>
            <a:r>
              <a:rPr sz="1200" b="0">
                <a:solidFill>
                  <a:srgbClr val="8A9AAD"/>
                </a:solidFill>
                <a:latin typeface="맑은 고딕"/>
                <a:ea typeface="맑은 고딕"/>
                <a:cs typeface="맑은 고딕"/>
              </a:rPr>
              <a:t>1번 · [이름]</a:t>
            </a:r>
          </a:p>
        </p:txBody>
      </p:sp>
      <p:sp>
        <p:nvSpPr>
          <p:cNvPr id="5" name="TextBox 4"/>
          <p:cNvSpPr txBox="1"/>
          <p:nvPr/>
        </p:nvSpPr>
        <p:spPr>
          <a:xfrm>
            <a:off x="914400" y="1417320"/>
            <a:ext cx="2103120" cy="411480"/>
          </a:xfrm>
          <a:prstGeom prst="rect">
            <a:avLst/>
          </a:prstGeom>
          <a:noFill/>
        </p:spPr>
        <p:txBody>
          <a:bodyPr wrap="square" lIns="0" rIns="0" tIns="0" bIns="0" anchor="t">
            <a:spAutoFit/>
          </a:bodyPr>
          <a:lstStyle/>
          <a:p>
            <a:pPr algn="l">
              <a:lnSpc>
                <a:spcPct val="115000"/>
              </a:lnSpc>
            </a:pPr>
            <a:r>
              <a:rPr sz="1600" b="1">
                <a:solidFill>
                  <a:srgbClr val="F2F1EC"/>
                </a:solidFill>
                <a:latin typeface="맑은 고딕"/>
                <a:ea typeface="맑은 고딕"/>
                <a:cs typeface="맑은 고딕"/>
              </a:rPr>
              <a:t>그래프 · 백엔드</a:t>
            </a:r>
          </a:p>
        </p:txBody>
      </p:sp>
      <p:sp>
        <p:nvSpPr>
          <p:cNvPr id="6" name="TextBox 5"/>
          <p:cNvSpPr txBox="1"/>
          <p:nvPr/>
        </p:nvSpPr>
        <p:spPr>
          <a:xfrm>
            <a:off x="914400" y="1874519"/>
            <a:ext cx="2103120" cy="731520"/>
          </a:xfrm>
          <a:prstGeom prst="rect">
            <a:avLst/>
          </a:prstGeom>
          <a:noFill/>
        </p:spPr>
        <p:txBody>
          <a:bodyPr wrap="square" lIns="0" rIns="0" tIns="0" bIns="0" anchor="t">
            <a:spAutoFit/>
          </a:bodyPr>
          <a:lstStyle/>
          <a:p>
            <a:pPr algn="l">
              <a:lnSpc>
                <a:spcPct val="130000"/>
              </a:lnSpc>
            </a:pPr>
            <a:r>
              <a:rPr sz="1200" b="0">
                <a:solidFill>
                  <a:srgbClr val="B9C3CF"/>
                </a:solidFill>
                <a:latin typeface="맑은 고딕"/>
                <a:ea typeface="맑은 고딕"/>
                <a:cs typeface="맑은 고딕"/>
              </a:rPr>
              <a:t>LangGraph 연결 · 질문 분류</a:t>
            </a:r>
          </a:p>
          <a:p>
            <a:pPr algn="l">
              <a:lnSpc>
                <a:spcPct val="130000"/>
              </a:lnSpc>
            </a:pPr>
            <a:r>
              <a:rPr sz="1200" b="0">
                <a:solidFill>
                  <a:srgbClr val="B9C3CF"/>
                </a:solidFill>
                <a:latin typeface="맑은 고딕"/>
                <a:ea typeface="맑은 고딕"/>
                <a:cs typeface="맑은 고딕"/>
              </a:rPr>
              <a:t>analyzer · 재시도 판단</a:t>
            </a:r>
          </a:p>
        </p:txBody>
      </p:sp>
      <p:sp>
        <p:nvSpPr>
          <p:cNvPr id="7" name="Rounded Rectangle 6"/>
          <p:cNvSpPr/>
          <p:nvPr/>
        </p:nvSpPr>
        <p:spPr>
          <a:xfrm>
            <a:off x="3429000" y="960120"/>
            <a:ext cx="2560320" cy="1783080"/>
          </a:xfrm>
          <a:prstGeom prst="roundRect">
            <a:avLst>
              <a:gd name="adj" fmla="val 6000"/>
            </a:avLst>
          </a:prstGeom>
          <a:solidFill>
            <a:srgbClr val="1E2D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657600" y="1097280"/>
            <a:ext cx="2103120" cy="274320"/>
          </a:xfrm>
          <a:prstGeom prst="rect">
            <a:avLst/>
          </a:prstGeom>
          <a:noFill/>
        </p:spPr>
        <p:txBody>
          <a:bodyPr wrap="square" lIns="0" rIns="0" tIns="0" bIns="0" anchor="t">
            <a:spAutoFit/>
          </a:bodyPr>
          <a:lstStyle/>
          <a:p>
            <a:pPr algn="l">
              <a:lnSpc>
                <a:spcPct val="115000"/>
              </a:lnSpc>
            </a:pPr>
            <a:r>
              <a:rPr sz="1200" b="0">
                <a:solidFill>
                  <a:srgbClr val="8A9AAD"/>
                </a:solidFill>
                <a:latin typeface="맑은 고딕"/>
                <a:ea typeface="맑은 고딕"/>
                <a:cs typeface="맑은 고딕"/>
              </a:rPr>
              <a:t>2번 · [이름]</a:t>
            </a:r>
          </a:p>
        </p:txBody>
      </p:sp>
      <p:sp>
        <p:nvSpPr>
          <p:cNvPr id="9" name="TextBox 8"/>
          <p:cNvSpPr txBox="1"/>
          <p:nvPr/>
        </p:nvSpPr>
        <p:spPr>
          <a:xfrm>
            <a:off x="3657600" y="1417320"/>
            <a:ext cx="2103120" cy="411480"/>
          </a:xfrm>
          <a:prstGeom prst="rect">
            <a:avLst/>
          </a:prstGeom>
          <a:noFill/>
        </p:spPr>
        <p:txBody>
          <a:bodyPr wrap="square" lIns="0" rIns="0" tIns="0" bIns="0" anchor="t">
            <a:spAutoFit/>
          </a:bodyPr>
          <a:lstStyle/>
          <a:p>
            <a:pPr algn="l">
              <a:lnSpc>
                <a:spcPct val="115000"/>
              </a:lnSpc>
            </a:pPr>
            <a:r>
              <a:rPr sz="1600" b="1">
                <a:solidFill>
                  <a:srgbClr val="F2F1EC"/>
                </a:solidFill>
                <a:latin typeface="맑은 고딕"/>
                <a:ea typeface="맑은 고딕"/>
                <a:cs typeface="맑은 고딕"/>
              </a:rPr>
              <a:t>데이터 · 검색</a:t>
            </a:r>
          </a:p>
        </p:txBody>
      </p:sp>
      <p:sp>
        <p:nvSpPr>
          <p:cNvPr id="10" name="TextBox 9"/>
          <p:cNvSpPr txBox="1"/>
          <p:nvPr/>
        </p:nvSpPr>
        <p:spPr>
          <a:xfrm>
            <a:off x="3657600" y="1874519"/>
            <a:ext cx="2103120" cy="731520"/>
          </a:xfrm>
          <a:prstGeom prst="rect">
            <a:avLst/>
          </a:prstGeom>
          <a:noFill/>
        </p:spPr>
        <p:txBody>
          <a:bodyPr wrap="square" lIns="0" rIns="0" tIns="0" bIns="0" anchor="t">
            <a:spAutoFit/>
          </a:bodyPr>
          <a:lstStyle/>
          <a:p>
            <a:pPr algn="l">
              <a:lnSpc>
                <a:spcPct val="130000"/>
              </a:lnSpc>
            </a:pPr>
            <a:r>
              <a:rPr sz="1200" b="0">
                <a:solidFill>
                  <a:srgbClr val="B9C3CF"/>
                </a:solidFill>
                <a:latin typeface="맑은 고딕"/>
                <a:ea typeface="맑은 고딕"/>
                <a:cs typeface="맑은 고딕"/>
              </a:rPr>
              <a:t>대응표 · 청킹 · Chroma</a:t>
            </a:r>
          </a:p>
          <a:p>
            <a:pPr algn="l">
              <a:lnSpc>
                <a:spcPct val="130000"/>
              </a:lnSpc>
            </a:pPr>
            <a:r>
              <a:rPr sz="1200" b="0">
                <a:solidFill>
                  <a:srgbClr val="B9C3CF"/>
                </a:solidFill>
                <a:latin typeface="맑은 고딕"/>
                <a:ea typeface="맑은 고딕"/>
                <a:cs typeface="맑은 고딕"/>
              </a:rPr>
              <a:t>하이브리드 검색 · retriever</a:t>
            </a:r>
          </a:p>
        </p:txBody>
      </p:sp>
      <p:sp>
        <p:nvSpPr>
          <p:cNvPr id="11" name="Rounded Rectangle 10"/>
          <p:cNvSpPr/>
          <p:nvPr/>
        </p:nvSpPr>
        <p:spPr>
          <a:xfrm>
            <a:off x="6172200" y="960120"/>
            <a:ext cx="2560320" cy="1783080"/>
          </a:xfrm>
          <a:prstGeom prst="roundRect">
            <a:avLst>
              <a:gd name="adj" fmla="val 6000"/>
            </a:avLst>
          </a:prstGeom>
          <a:solidFill>
            <a:srgbClr val="1E2D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00800" y="1097280"/>
            <a:ext cx="2103120" cy="274320"/>
          </a:xfrm>
          <a:prstGeom prst="rect">
            <a:avLst/>
          </a:prstGeom>
          <a:noFill/>
        </p:spPr>
        <p:txBody>
          <a:bodyPr wrap="square" lIns="0" rIns="0" tIns="0" bIns="0" anchor="t">
            <a:spAutoFit/>
          </a:bodyPr>
          <a:lstStyle/>
          <a:p>
            <a:pPr algn="l">
              <a:lnSpc>
                <a:spcPct val="115000"/>
              </a:lnSpc>
            </a:pPr>
            <a:r>
              <a:rPr sz="1200" b="0">
                <a:solidFill>
                  <a:srgbClr val="8A9AAD"/>
                </a:solidFill>
                <a:latin typeface="맑은 고딕"/>
                <a:ea typeface="맑은 고딕"/>
                <a:cs typeface="맑은 고딕"/>
              </a:rPr>
              <a:t>3번 · [이름]</a:t>
            </a:r>
          </a:p>
        </p:txBody>
      </p:sp>
      <p:sp>
        <p:nvSpPr>
          <p:cNvPr id="13" name="TextBox 12"/>
          <p:cNvSpPr txBox="1"/>
          <p:nvPr/>
        </p:nvSpPr>
        <p:spPr>
          <a:xfrm>
            <a:off x="6400800" y="1417320"/>
            <a:ext cx="2103120" cy="411480"/>
          </a:xfrm>
          <a:prstGeom prst="rect">
            <a:avLst/>
          </a:prstGeom>
          <a:noFill/>
        </p:spPr>
        <p:txBody>
          <a:bodyPr wrap="square" lIns="0" rIns="0" tIns="0" bIns="0" anchor="t">
            <a:spAutoFit/>
          </a:bodyPr>
          <a:lstStyle/>
          <a:p>
            <a:pPr algn="l">
              <a:lnSpc>
                <a:spcPct val="115000"/>
              </a:lnSpc>
            </a:pPr>
            <a:r>
              <a:rPr sz="1600" b="1">
                <a:solidFill>
                  <a:srgbClr val="F2F1EC"/>
                </a:solidFill>
                <a:latin typeface="맑은 고딕"/>
                <a:ea typeface="맑은 고딕"/>
                <a:cs typeface="맑은 고딕"/>
              </a:rPr>
              <a:t>변환 · 검증</a:t>
            </a:r>
          </a:p>
        </p:txBody>
      </p:sp>
      <p:sp>
        <p:nvSpPr>
          <p:cNvPr id="14" name="TextBox 13"/>
          <p:cNvSpPr txBox="1"/>
          <p:nvPr/>
        </p:nvSpPr>
        <p:spPr>
          <a:xfrm>
            <a:off x="6400800" y="1874519"/>
            <a:ext cx="2103120" cy="731520"/>
          </a:xfrm>
          <a:prstGeom prst="rect">
            <a:avLst/>
          </a:prstGeom>
          <a:noFill/>
        </p:spPr>
        <p:txBody>
          <a:bodyPr wrap="square" lIns="0" rIns="0" tIns="0" bIns="0" anchor="t">
            <a:spAutoFit/>
          </a:bodyPr>
          <a:lstStyle/>
          <a:p>
            <a:pPr algn="l">
              <a:lnSpc>
                <a:spcPct val="130000"/>
              </a:lnSpc>
            </a:pPr>
            <a:r>
              <a:rPr sz="1200" b="0">
                <a:solidFill>
                  <a:srgbClr val="B9C3CF"/>
                </a:solidFill>
                <a:latin typeface="맑은 고딕"/>
                <a:ea typeface="맑은 고딕"/>
                <a:cs typeface="맑은 고딕"/>
              </a:rPr>
              <a:t>State · rewriter</a:t>
            </a:r>
          </a:p>
          <a:p>
            <a:pPr algn="l">
              <a:lnSpc>
                <a:spcPct val="130000"/>
              </a:lnSpc>
            </a:pPr>
            <a:r>
              <a:rPr sz="1200" b="0">
                <a:solidFill>
                  <a:srgbClr val="B9C3CF"/>
                </a:solidFill>
                <a:latin typeface="맑은 고딕"/>
                <a:ea typeface="맑은 고딕"/>
                <a:cs typeface="맑은 고딕"/>
              </a:rPr>
              <a:t>verifier 11가지 검사</a:t>
            </a:r>
          </a:p>
        </p:txBody>
      </p:sp>
      <p:sp>
        <p:nvSpPr>
          <p:cNvPr id="15" name="Rounded Rectangle 14"/>
          <p:cNvSpPr/>
          <p:nvPr/>
        </p:nvSpPr>
        <p:spPr>
          <a:xfrm>
            <a:off x="8915400" y="960120"/>
            <a:ext cx="2560320" cy="1783080"/>
          </a:xfrm>
          <a:prstGeom prst="roundRect">
            <a:avLst>
              <a:gd name="adj" fmla="val 6000"/>
            </a:avLst>
          </a:prstGeom>
          <a:solidFill>
            <a:srgbClr val="1E2D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0" y="1097280"/>
            <a:ext cx="2103120" cy="274320"/>
          </a:xfrm>
          <a:prstGeom prst="rect">
            <a:avLst/>
          </a:prstGeom>
          <a:noFill/>
        </p:spPr>
        <p:txBody>
          <a:bodyPr wrap="square" lIns="0" rIns="0" tIns="0" bIns="0" anchor="t">
            <a:spAutoFit/>
          </a:bodyPr>
          <a:lstStyle/>
          <a:p>
            <a:pPr algn="l">
              <a:lnSpc>
                <a:spcPct val="115000"/>
              </a:lnSpc>
            </a:pPr>
            <a:r>
              <a:rPr sz="1200" b="0">
                <a:solidFill>
                  <a:srgbClr val="8A9AAD"/>
                </a:solidFill>
                <a:latin typeface="맑은 고딕"/>
                <a:ea typeface="맑은 고딕"/>
                <a:cs typeface="맑은 고딕"/>
              </a:rPr>
              <a:t>4번 · [이름]</a:t>
            </a:r>
          </a:p>
        </p:txBody>
      </p:sp>
      <p:sp>
        <p:nvSpPr>
          <p:cNvPr id="17" name="TextBox 16"/>
          <p:cNvSpPr txBox="1"/>
          <p:nvPr/>
        </p:nvSpPr>
        <p:spPr>
          <a:xfrm>
            <a:off x="9144000" y="1417320"/>
            <a:ext cx="2103120" cy="411480"/>
          </a:xfrm>
          <a:prstGeom prst="rect">
            <a:avLst/>
          </a:prstGeom>
          <a:noFill/>
        </p:spPr>
        <p:txBody>
          <a:bodyPr wrap="square" lIns="0" rIns="0" tIns="0" bIns="0" anchor="t">
            <a:spAutoFit/>
          </a:bodyPr>
          <a:lstStyle/>
          <a:p>
            <a:pPr algn="l">
              <a:lnSpc>
                <a:spcPct val="115000"/>
              </a:lnSpc>
            </a:pPr>
            <a:r>
              <a:rPr sz="1600" b="1">
                <a:solidFill>
                  <a:srgbClr val="F2F1EC"/>
                </a:solidFill>
                <a:latin typeface="맑은 고딕"/>
                <a:ea typeface="맑은 고딕"/>
                <a:cs typeface="맑은 고딕"/>
              </a:rPr>
              <a:t>화면 · DB · 평가 · 발표</a:t>
            </a:r>
          </a:p>
        </p:txBody>
      </p:sp>
      <p:sp>
        <p:nvSpPr>
          <p:cNvPr id="18" name="TextBox 17"/>
          <p:cNvSpPr txBox="1"/>
          <p:nvPr/>
        </p:nvSpPr>
        <p:spPr>
          <a:xfrm>
            <a:off x="9144000" y="1874519"/>
            <a:ext cx="2103120" cy="731520"/>
          </a:xfrm>
          <a:prstGeom prst="rect">
            <a:avLst/>
          </a:prstGeom>
          <a:noFill/>
        </p:spPr>
        <p:txBody>
          <a:bodyPr wrap="square" lIns="0" rIns="0" tIns="0" bIns="0" anchor="t">
            <a:spAutoFit/>
          </a:bodyPr>
          <a:lstStyle/>
          <a:p>
            <a:pPr algn="l">
              <a:lnSpc>
                <a:spcPct val="130000"/>
              </a:lnSpc>
            </a:pPr>
            <a:r>
              <a:rPr sz="1200" b="0">
                <a:solidFill>
                  <a:srgbClr val="B9C3CF"/>
                </a:solidFill>
                <a:latin typeface="맑은 고딕"/>
                <a:ea typeface="맑은 고딕"/>
                <a:cs typeface="맑은 고딕"/>
              </a:rPr>
              <a:t>Streamlit 화면 · TiDB</a:t>
            </a:r>
          </a:p>
          <a:p>
            <a:pPr algn="l">
              <a:lnSpc>
                <a:spcPct val="130000"/>
              </a:lnSpc>
            </a:pPr>
            <a:r>
              <a:rPr sz="1200" b="0">
                <a:solidFill>
                  <a:srgbClr val="B9C3CF"/>
                </a:solidFill>
                <a:latin typeface="맑은 고딕"/>
                <a:ea typeface="맑은 고딕"/>
                <a:cs typeface="맑은 고딕"/>
              </a:rPr>
              <a:t>질문 36개 · 보고서</a:t>
            </a:r>
          </a:p>
        </p:txBody>
      </p:sp>
      <p:sp>
        <p:nvSpPr>
          <p:cNvPr id="19" name="TextBox 18"/>
          <p:cNvSpPr txBox="1"/>
          <p:nvPr/>
        </p:nvSpPr>
        <p:spPr>
          <a:xfrm>
            <a:off x="685800" y="4206240"/>
            <a:ext cx="10789920" cy="1005840"/>
          </a:xfrm>
          <a:prstGeom prst="rect">
            <a:avLst/>
          </a:prstGeom>
          <a:noFill/>
        </p:spPr>
        <p:txBody>
          <a:bodyPr wrap="square" lIns="0" rIns="0" tIns="0" bIns="0" anchor="t">
            <a:spAutoFit/>
          </a:bodyPr>
          <a:lstStyle/>
          <a:p>
            <a:pPr algn="l">
              <a:lnSpc>
                <a:spcPct val="115000"/>
              </a:lnSpc>
            </a:pPr>
            <a:r>
              <a:rPr sz="5400" b="1">
                <a:solidFill>
                  <a:srgbClr val="F2F1EC"/>
                </a:solidFill>
                <a:latin typeface="맑은 고딕"/>
                <a:ea typeface="맑은 고딕"/>
                <a:cs typeface="맑은 고딕"/>
              </a:rPr>
              <a:t>감사합니다</a:t>
            </a:r>
          </a:p>
        </p:txBody>
      </p:sp>
      <p:sp>
        <p:nvSpPr>
          <p:cNvPr id="20" name="TextBox 19"/>
          <p:cNvSpPr txBox="1"/>
          <p:nvPr/>
        </p:nvSpPr>
        <p:spPr>
          <a:xfrm>
            <a:off x="685800" y="5303520"/>
            <a:ext cx="10789920" cy="365760"/>
          </a:xfrm>
          <a:prstGeom prst="rect">
            <a:avLst/>
          </a:prstGeom>
          <a:noFill/>
        </p:spPr>
        <p:txBody>
          <a:bodyPr wrap="square" lIns="0" rIns="0" tIns="0" bIns="0" anchor="t">
            <a:spAutoFit/>
          </a:bodyPr>
          <a:lstStyle/>
          <a:p>
            <a:pPr algn="l">
              <a:lnSpc>
                <a:spcPct val="115000"/>
              </a:lnSpc>
            </a:pPr>
            <a:r>
              <a:rPr sz="1700" b="0">
                <a:solidFill>
                  <a:srgbClr val="B9C3CF"/>
                </a:solidFill>
                <a:latin typeface="맑은 고딕"/>
                <a:ea typeface="맑은 고딕"/>
                <a:cs typeface="맑은 고딕"/>
              </a:rPr>
              <a:t>질문 받겠습니다</a:t>
            </a:r>
          </a:p>
        </p:txBody>
      </p:sp>
      <p:sp>
        <p:nvSpPr>
          <p:cNvPr id="21" name="TextBox 20"/>
          <p:cNvSpPr txBox="1"/>
          <p:nvPr/>
        </p:nvSpPr>
        <p:spPr>
          <a:xfrm>
            <a:off x="685800" y="5715000"/>
            <a:ext cx="10789920" cy="548640"/>
          </a:xfrm>
          <a:prstGeom prst="rect">
            <a:avLst/>
          </a:prstGeom>
          <a:noFill/>
        </p:spPr>
        <p:txBody>
          <a:bodyPr wrap="square" lIns="0" rIns="0" tIns="0" bIns="0" anchor="t">
            <a:spAutoFit/>
          </a:bodyPr>
          <a:lstStyle/>
          <a:p>
            <a:pPr algn="l">
              <a:lnSpc>
                <a:spcPct val="130000"/>
              </a:lnSpc>
            </a:pPr>
            <a:r>
              <a:rPr sz="1300" b="0">
                <a:solidFill>
                  <a:srgbClr val="8A9AAD"/>
                </a:solidFill>
                <a:latin typeface="맑은 고딕"/>
                <a:ea typeface="맑은 고딕"/>
                <a:cs typeface="맑은 고딕"/>
              </a:rPr>
              <a:t>팀 저장소 github.com/SKNETWORKS-FAMILY-AICAMP/SKN35-3rd-4Team</a:t>
            </a:r>
          </a:p>
          <a:p>
            <a:pPr algn="l">
              <a:lnSpc>
                <a:spcPct val="130000"/>
              </a:lnSpc>
            </a:pPr>
            <a:r>
              <a:rPr sz="1300" b="0">
                <a:solidFill>
                  <a:srgbClr val="8A9AAD"/>
                </a:solidFill>
                <a:latin typeface="맑은 고딕"/>
                <a:ea typeface="맑은 고딕"/>
                <a:cs typeface="맑은 고딕"/>
              </a:rPr>
              <a:t>배포 github.com/SKN35shimsungwook/langchain-migration-assistant · [배포 주소]</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