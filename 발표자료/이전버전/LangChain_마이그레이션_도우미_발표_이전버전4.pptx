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~ 0:30]  화면: 표지</a:t>
            </a:r>
          </a:p>
          <a:p>
            <a:r>
              <a:t>훅: LLM이 준 코드, 그대로 믿어도 될까요?</a:t>
            </a:r>
          </a:p>
          <a:p/>
          <a:p>
            <a:r>
              <a:t>안녕하세요, 4팀 발표를 맡은 [이름]입니다.</a:t>
            </a:r>
          </a:p>
          <a:p>
            <a:r>
              <a:t>저희는 옛 버전 LangChain 코드를 넣으면, 원하는 버전에서 돌아가는 코드로 고쳐 주고 정말 맞는지 검사까지 하는 챗봇을 만들었습니다.</a:t>
            </a:r>
          </a:p>
          <a:p>
            <a:r>
              <a:t>오늘 핵심 단어는 두 개, 근거와 검증입니다.</a:t>
            </a:r>
          </a:p>
          <a:p/>
          <a:p>
            <a:r>
              <a:t>→ 넘기는 말: 먼저 순서를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~ 0:50]  화면: 목차</a:t>
            </a:r>
          </a:p>
          <a:p>
            <a:r>
              <a:t>훅: 네 부분으로 말씀드리겠습니다.</a:t>
            </a:r>
          </a:p>
          <a:p/>
          <a:p>
            <a:r>
              <a:t>어떤 문제를 풀었는지, 팀이 무엇을 만들었는지, 어떻게 평가했고 결과가 어땠는지, 마지막으로 만들면서 배운 것입니다.</a:t>
            </a:r>
          </a:p>
          <a:p/>
          <a:p>
            <a:r>
              <a:t>→ 넘기는 말: 먼저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 ~ 1:40]  화면: 에러 코드</a:t>
            </a:r>
          </a:p>
          <a:p>
            <a:r>
              <a:t>훅: 첫 줄부터 에러입니다.</a:t>
            </a:r>
          </a:p>
          <a:p/>
          <a:p>
            <a:r>
              <a:t>ChatGPT에게 LangChain 코드를 부탁하면 이런 코드를 줍니다.</a:t>
            </a:r>
          </a:p>
          <a:p>
            <a:r>
              <a:t>최신 LangChain에서 실행하면 첫 줄 import부터 에러가 납니다.</a:t>
            </a:r>
          </a:p>
          <a:p>
            <a:r>
              <a:t>1.0에서 패키지가 나뉘고, LLMChain 같은 옛 체인이 빠졌기 때문입니다.</a:t>
            </a:r>
          </a:p>
          <a:p>
            <a:r>
              <a:t>더 큰 문제는 LLM이 이 답이 틀렸다는 걸 모른다는 점입니다.</a:t>
            </a:r>
          </a:p>
          <a:p/>
          <a:p>
            <a:r>
              <a:t>→ 넘기는 말: 왜 이런 일이 생길까요?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 ~ 2:30]  화면: 숫자 세 개</a:t>
            </a:r>
          </a:p>
          <a:p>
            <a:r>
              <a:t>훅: 문서를 줘도 66%입니다.</a:t>
            </a:r>
          </a:p>
          <a:p/>
          <a:p>
            <a:r>
              <a:t>인터넷 코드는 대부분 옛 버전이라, LLM은 옛 방식을 답합니다. 이걸 버전 지체 환각이라고 부릅니다.</a:t>
            </a:r>
          </a:p>
          <a:p>
            <a:r>
              <a:t>연구에서도 문서가 부족하면 42%, 구조화된 문서를 줘도 66%만 목표 버전에서 실행됐습니다.</a:t>
            </a:r>
          </a:p>
          <a:p>
            <a:r>
              <a:t>문서를 주는 것만으로는 부족하고, 고친 코드를 확인하는 단계가 필요하다는 뜻입니다.</a:t>
            </a:r>
          </a:p>
          <a:p/>
          <a:p>
            <a:r>
              <a:t>→ 넘기는 말: 그래서 저희는 두 가지를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~ 3:20]  화면: 비교 표</a:t>
            </a:r>
          </a:p>
          <a:p>
            <a:r>
              <a:t>훅: 근거로 고치고, 검사로 한 번 더 확인합니다.</a:t>
            </a:r>
          </a:p>
          <a:p/>
          <a:p>
            <a:r>
              <a:t>첫째, 기억이 아니라 대응표와 최신 공식 문서를 근거로 고칩니다.</a:t>
            </a:r>
          </a:p>
          <a:p>
            <a:r>
              <a:t>둘째, 고친 코드를 LLM 없이 11가지로 검사하고, 틀리면 이유를 들고 다시 고칩니다. 최대 세 번입니다.</a:t>
            </a:r>
          </a:p>
          <a:p>
            <a:r>
              <a:t>버전도 사용자가 질문에 적은 대로 맞춥니다. '0.2로 되돌려 줘'라고 하면 0.2로, 적지 않으면 최신으로 바꿉니다.</a:t>
            </a:r>
          </a:p>
          <a:p/>
          <a:p>
            <a:r>
              <a:t>→ 넘기는 말: 이제 팀이 무엇을 만들었는지 보겠습니다. 먼저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 ~ 4:10]  화면: 데이터 숫자</a:t>
            </a:r>
          </a:p>
          <a:p>
            <a:r>
              <a:t>훅: 근거 9,155줄을 미리 만들어 두었습니다.</a:t>
            </a:r>
          </a:p>
          <a:p/>
          <a:p>
            <a:r>
              <a:t>2번이 만든 근거입니다. 옛 import 경로를 새 경로로 잇는 대응표가 9,155줄, 옛 메서드를 잇는 대응표가 42개입니다.</a:t>
            </a:r>
          </a:p>
          <a:p>
            <a:r>
              <a:t>공식 문서 295개를 11,945개 조각으로 나눠 검색할 수 있게 했고, 버전마다 실제로 있는 기능 목록도 42개 만들었습니다.</a:t>
            </a:r>
          </a:p>
          <a:p>
            <a:r>
              <a:t>그래서 최신으로 올리는 것뿐 아니라 옛 버전으로 되돌릴 때도 근거를 찾을 수 있습니다.</a:t>
            </a:r>
          </a:p>
          <a:p/>
          <a:p>
            <a:r>
              <a:t>→ 넘기는 말: 이 근거를 어떻게 쓰는지, 흐름을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~ 5:20]  화면: 흐름 그림</a:t>
            </a:r>
          </a:p>
          <a:p>
            <a:r>
              <a:t>훅: 검사에 실패하면, 이유를 들고 다시 찾습니다.</a:t>
            </a:r>
          </a:p>
          <a:p/>
          <a:p>
            <a:r>
              <a:t>질문이 들어오면 1번이 만든 최상위 그래프가 먼저 질문을 분류합니다. 코드 변환, LangChain 질문, 일반 질문 세 갈래입니다.</a:t>
            </a:r>
          </a:p>
          <a:p>
            <a:r>
              <a:t>코드 변환이면 네 단계를 거칩니다. 바꿀 부분을 찾고, 근거를 찾고, 근거로 고치고, 검사합니다.</a:t>
            </a:r>
          </a:p>
          <a:p>
            <a:r>
              <a:t>검사에 실패하면 실패 이유를 들고 다시 근거를 찾습니다. 최대 세 번입니다.</a:t>
            </a:r>
          </a:p>
          <a:p>
            <a:r>
              <a:t>LangChain 질문은 같은 문서를 검색해서 답하고, 일반 질문은 바로 답합니다.</a:t>
            </a:r>
          </a:p>
          <a:p/>
          <a:p>
            <a:r>
              <a:t>→ 넘기는 말: 핵심인 검사를 조금 더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[5:20 ~ 6:10]  화면: 검사 11가지</a:t>
            </a:r>
          </a:p>
          <a:p>
            <a:r>
              <a:t>훅: 검사에는 LLM을 쓰지 않습니다.</a:t>
            </a:r>
          </a:p>
          <a:p/>
          <a:p>
            <a:r>
              <a:t>3번이 만든 검사는 11가지인데, LLM을 쓰지 않습니다. 검사하는 LLM도 같은 옛 지식을 갖고 있기 때문입니다.</a:t>
            </a:r>
          </a:p>
          <a:p>
            <a:r>
              <a:t>새 경로가 정말 있는지, 근거 없이 바뀐 줄은 없는지, 결과 모양을 잃지 않았는지를 코드로 확인합니다.</a:t>
            </a:r>
          </a:p>
          <a:p>
            <a:r>
              <a:t>근거 없이 바뀐 줄은 곧 환각이라서, 바로 걸러 냅니다.</a:t>
            </a:r>
          </a:p>
          <a:p/>
          <a:p>
            <a:r>
              <a:t>→ 넘기는 말: 이 결과를 사용자는 어떻게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[6:10 ~ 7:10]  화면: 화면</a:t>
            </a:r>
          </a:p>
          <a:p>
            <a:r>
              <a:t>훅: 기다리는 동안 무엇을 하는지 보입니다.</a:t>
            </a:r>
          </a:p>
          <a:p/>
          <a:p>
            <a:r>
              <a:t>제가 맡은 화면입니다. 코드를 넣고 말로 부탁하면 됩니다.</a:t>
            </a:r>
          </a:p>
          <a:p>
            <a:r>
              <a:t>기다리는 동안 지금 어느 단계인지, 검사에서 떨어져 다시 고치는 중인지가 실시간으로 보입니다.</a:t>
            </a:r>
          </a:p>
          <a:p>
            <a:r>
              <a:t>결과가 나오면 지운 줄은 빨강, 새 줄은 초록으로 보이고, 변경 사항, 근거, 11가지 검사 결과를 탭으로 볼 수 있습니다.</a:t>
            </a:r>
          </a:p>
          <a:p>
            <a:r>
              <a:t>바뀐 코드와 변경 리포트는 파일로 내려받을 수 있고, 실패하면 버튼 하나로 다시 시도할 수 있습니다.</a:t>
            </a:r>
          </a:p>
          <a:p/>
          <a:p>
            <a:r>
              <a:t>→ 넘기는 말: 대화는 어디에 남을까요?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[7:10 ~ 7:50]  화면: ERD</a:t>
            </a:r>
          </a:p>
          <a:p>
            <a:r>
              <a:t>훅: 대화는 TiDB에 남습니다.</a:t>
            </a:r>
          </a:p>
          <a:p/>
          <a:p>
            <a:r>
              <a:t>팀에서 정한 대로 테이블은 두 개입니다. 사용자, 그리고 질문과 답 한 쌍이 한 행인 대화 기록입니다.</a:t>
            </a:r>
          </a:p>
          <a:p>
            <a:r>
              <a:t>새 대화를 누르면 세션이 새로 생기고, 가입할 때 아이디 중복을 검사합니다.</a:t>
            </a:r>
          </a:p>
          <a:p>
            <a:r>
              <a:t>DB에 연결할 수 없어도 화면은 멈추지 않고 로컬에 저장하면서 이유를 알려 줍니다.</a:t>
            </a:r>
          </a:p>
          <a:p/>
          <a:p>
            <a:r>
              <a:t>→ 넘기는 말: 이제 어떻게 평가했는지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 ~ 8:40]  화면: 실험 설계</a:t>
            </a:r>
          </a:p>
          <a:p>
            <a:r>
              <a:t>훅: 같은 질문 30개, 같은 조건으로 비교합니다.</a:t>
            </a:r>
          </a:p>
          <a:p/>
          <a:p>
            <a:r>
              <a:t>실제 사용자처럼 요청 문장과 옛 코드로 질문 30개를 만들었습니다. 열 가지 유형을 세 개씩 담았습니다.</a:t>
            </a:r>
          </a:p>
          <a:p>
            <a:r>
              <a:t>모두 최신 버전에서 실제로 깨지는 코드인지 미리 확인했습니다.</a:t>
            </a:r>
          </a:p>
          <a:p>
            <a:r>
              <a:t>일반 LLM과 같은 모델, 같은 질문, 같은 채점 기준으로 비교합니다.</a:t>
            </a:r>
          </a:p>
          <a:p/>
          <a:p>
            <a:r>
              <a:t>→ 넘기는 말: 실제로 돌려 본 결과부터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 ~ 9:40]  화면: 실제 실행 (10-14)</a:t>
            </a:r>
          </a:p>
          <a:p>
            <a:r>
              <a:t>훅: 처음 두 번은 떨어지고, 세 번째에 통과했습니다.</a:t>
            </a:r>
          </a:p>
          <a:p/>
          <a:p>
            <a:r>
              <a:t>왼쪽은 예전 방식의 LLMChain 코드입니다. 오른쪽처럼 최신 방식으로 바뀌었습니다.</a:t>
            </a:r>
          </a:p>
          <a:p>
            <a:r>
              <a:t>처음 두 번은 검사에 걸렸고, 실패 이유를 들고 다시 고쳐서 세 번째에 통과했습니다.</a:t>
            </a:r>
          </a:p>
          <a:p>
            <a:r>
              <a:t>바뀐 여섯 줄 모두 근거가 붙었습니다.</a:t>
            </a:r>
          </a:p>
          <a:p/>
          <a:p>
            <a:r>
              <a:t>→ 넘기는 말: 오늘 아침에는 화면 전체를 최상위 그래프에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[9:40 ~ 10:40]  화면: 세 갈래 연결 (10-15)</a:t>
            </a:r>
          </a:p>
          <a:p>
            <a:r>
              <a:t>훅: 질문 하나로, 알아서 세 갈래로 답합니다.</a:t>
            </a:r>
          </a:p>
          <a:p/>
          <a:p>
            <a:r>
              <a:t>인사를 하면 2초 만에 일반 답을, LangChain 변화를 물으면 문서를 찾아 12초 만에 답합니다.</a:t>
            </a:r>
          </a:p>
          <a:p>
            <a:r>
              <a:t>코드를 주고 최신으로 바꿔 달라고 하면, 질문에서 목표 버전 1.4.5를 읽어 16초 만에 한 번에 통과했습니다.</a:t>
            </a:r>
          </a:p>
          <a:p>
            <a:r>
              <a:t>되돌리기 요청도 목표 버전은 정확히 읽었지만, 아직 검사를 통과하지 못하는 경우가 있습니다. 이 부분은 뒤에서 말씀드리겠습니다.</a:t>
            </a:r>
          </a:p>
          <a:p/>
          <a:p>
            <a:r>
              <a:t>→ 넘기는 말: 그럼 일반 LLM보다 얼마나 나을까요?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[10:40 ~ 11:20]  화면: 결과 숫자</a:t>
            </a:r>
          </a:p>
          <a:p>
            <a:r>
              <a:t>훅: [결과 한 문장]</a:t>
            </a:r>
          </a:p>
          <a:p/>
          <a:p>
            <a:r>
              <a:t>[실험 결과가 나오면 채워 주세요]</a:t>
            </a:r>
          </a:p>
          <a:p>
            <a:r>
              <a:t>일반 LLM은 [__]%, 저희 챗봇은 [__]%였습니다. 특히 [__] 유형에서 차이가 가장 컸습니다.</a:t>
            </a:r>
          </a:p>
          <a:p/>
          <a:p>
            <a:r>
              <a:t>→ 넘기는 말: 다시 고치는 과정은 얼마나 효과가 있었을까요?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~ 11:50]  화면: 재시도 효과</a:t>
            </a:r>
          </a:p>
          <a:p>
            <a:r>
              <a:t>훅: 다시 고치는 루프가 [+__%p]를 만들었습니다.</a:t>
            </a:r>
          </a:p>
          <a:p/>
          <a:p>
            <a:r>
              <a:t>[실험 결과가 나오면 채워 주세요]</a:t>
            </a:r>
          </a:p>
          <a:p>
            <a:r>
              <a:t>첫 시도는 [__]%, 다시 고치는 과정을 거치면 [__]%까지 올라갔습니다.</a:t>
            </a:r>
          </a:p>
          <a:p/>
          <a:p>
            <a:r>
              <a:t>→ 넘기는 말: 만들면서 예상하지 못한 것도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[11:50 ~ 12:50]  화면: 발견 네 가지</a:t>
            </a:r>
          </a:p>
          <a:p>
            <a:r>
              <a:t>훅: 통과했다고 끝이 아니었습니다.</a:t>
            </a:r>
          </a:p>
          <a:p/>
          <a:p>
            <a:r>
              <a:t>지원 종료 중인 패키지는 지금 통과해도 곧 깨질 수 있었고, 옛 창고로 우회하면 통과는 해도 최신 방식은 아니었습니다.</a:t>
            </a:r>
          </a:p>
          <a:p>
            <a:r>
              <a:t>옛 버전끼리는 경로가 거의 그대로였고, 크게 바뀌는 건 1.x와의 사이였습니다.</a:t>
            </a:r>
          </a:p>
          <a:p>
            <a:r>
              <a:t>그리고 오늘 시험에서, 다시 쓰기가 상관없는 문서의 예시 코드를 베낀 경우가 있었는데, 검사기가 이걸 '기록 없는 변경'으로 정확히 잡아냈습니다.</a:t>
            </a:r>
          </a:p>
          <a:p/>
          <a:p>
            <a:r>
              <a:t>→ 넘기는 말: 그래서 한계도 분명히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[12:50 ~ 13:40]  화면: 한계 표</a:t>
            </a:r>
          </a:p>
          <a:p>
            <a:r>
              <a:t>훅: 검사를 통과했다고, 정답은 아닙니다.</a:t>
            </a:r>
          </a:p>
          <a:p/>
          <a:p>
            <a:r>
              <a:t>지금은 코드를 검사할 뿐, 실제로 실행한 결과까지는 보지 않습니다.</a:t>
            </a:r>
          </a:p>
          <a:p>
            <a:r>
              <a:t>옛 버전으로 되돌리기는 아직 통과율이 낮고, 상관없는 문서를 베끼는 경우가 있습니다. 검색을 거르고, 틀린 근거는 다음 시도에서 빼는 방향으로 고칠 계획입니다.</a:t>
            </a:r>
          </a:p>
          <a:p/>
          <a:p>
            <a:r>
              <a:t>→ 넘기는 말: 마지막으로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[13:40 ~ 14:20]  화면: 가치</a:t>
            </a:r>
          </a:p>
          <a:p>
            <a:r>
              <a:t>훅: 라이브러리가 바뀔 때마다, 근거와 함께 확인된 코드.</a:t>
            </a:r>
          </a:p>
          <a:p/>
          <a:p>
            <a:r>
              <a:t>에러를 하나씩 검색하는 대신, 근거가 붙은 답을 바로 확인할 수 있습니다.</a:t>
            </a:r>
          </a:p>
          <a:p>
            <a:r>
              <a:t>바뀐 줄마다 근거와 까닭, 검사 결과가 붙어 있어서 믿고 쓸 수 있습니다.</a:t>
            </a:r>
          </a:p>
          <a:p>
            <a:r>
              <a:t>대응표와 문서, 검사 기준만 바꾸면 다른 라이브러리에도 적용할 수 있습니다.</a:t>
            </a:r>
          </a:p>
          <a:p/>
          <a:p>
            <a:r>
              <a:t>→ 넘기는 말: 함께 만든 팀을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[14:20 ~ 15:00]  화면: 팀 · 감사</a:t>
            </a:r>
          </a:p>
          <a:p>
            <a:r>
              <a:t>훅: 감사합니다. 질문 받겠습니다.</a:t>
            </a:r>
          </a:p>
          <a:p/>
          <a:p>
            <a:r>
              <a:t>1번이 그래프와 질문 분류, 2번이 데이터와 검색, 3번이 변환과 검사, 4번인 제가 화면과 DB, 평가를 맡았습니다.</a:t>
            </a:r>
          </a:p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SKN35 · LLM 연동 내외부 문서 기반 질의응답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LangChain 버전</a:t>
            </a:r>
          </a:p>
          <a:p>
            <a:pPr algn="l">
              <a:lnSpc>
                <a:spcPct val="110000"/>
              </a:lnSpc>
            </a:pPr>
            <a:r>
              <a:rPr sz="50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마이그레이션 코드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옛 버전 코드를 원하는 버전에서 돌아가는 코드로, 근거와 검증까지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SKN35 3rd 4Team · 발표 [이름] ·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15분 동안 이 순서로 말씀드리겠습니다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391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025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9397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옛 코드를 주고 틀려도 모른다 → 근거 + 검사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26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만든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181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데이터 · 그래프 · 검증 11가지 · 화면 · 대화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08736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50791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평가와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422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30개 비교 설계 · 실제 실행 사례 ·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46904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1114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749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배운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663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발견 · 한계 ·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ChatGPT가 준 LangChain 코드, 실행하면 깨집니다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035040" cy="28346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LLM이 흔히 주는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246120"/>
            <a:ext cx="5486400" cy="0"/>
          </a:xfrm>
          <a:prstGeom prst="line">
            <a:avLst/>
          </a:prstGeom>
          <a:ln w="9525">
            <a:solidFill>
              <a:srgbClr val="344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FA0B3"/>
                </a:solidFill>
                <a:latin typeface="Consolas"/>
                <a:ea typeface="Consolas"/>
                <a:cs typeface="Consolas"/>
              </a:rPr>
              <a:t># LangChain 1.4.5에서 실행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ImportError: cannot import name 'ChatOpenAI'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2A27E"/>
                </a:solidFill>
                <a:latin typeface="Consolas"/>
                <a:ea typeface="Consolas"/>
                <a:cs typeface="Consolas"/>
              </a:rPr>
              <a:t>ModuleNotFoundError: No module named 'langchain.chains'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첫 줄부터 에러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860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LangChain 1.0에서 패키지가 나뉘고, 옛 체인과 에이전트가 빠졌습니다.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더 큰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자기 답이 틀렸다는 것을 </a:t>
            </a: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모릅니다.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92500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원인: 버전 지체 환각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인터넷에는 옛 버전 코드가 더 많습니다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LLM은 데이터가 많은 쪽을 따라갑니다. 라이브러리는 빨리 바뀌어도, 학습 데이터 속 코드는 대부분 과거 버전입니다.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문서가 부족할 때, LLM 코드 중 목표 버전에서 실행되는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66.36%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구조화된 문서를 줘도 실행되는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When LLMs Lag Behind,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33172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48~51%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3756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상용 모델의 버전 지정 코드 생성 성공률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GitChameleon 2.0,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→ 문서를 주는 것만으로는 부족하고, 고친 코드를 확인하는 단계가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256667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근거로 고치고, 검사로 한 번 더 확인합니다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3108960"/>
                <a:gridCol w="59710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우리 챗봇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학습 데이터 (옛 버전이 다수)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import · 메서드 대응표 + 최신 공식 문서 검색 (RAG)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verifier가 LLM 없이 11가지 검사 (문법, import 존재, 남은 옛 import …)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틀렸을 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모름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실패 이유로 근거를 다시 찾고, 틀린 근거는 빼고 다시 고침 (최대 3회)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답변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코드만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고친 코드 + 바뀐 줄마다 근거 출처 · 설명 + 시도 횟수 + 설치할 패키지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4A5363"/>
                          </a:solidFill>
                          <a:latin typeface="맑은 고딕"/>
                          <a:ea typeface="맑은 고딕"/>
                        </a:rPr>
                        <a:t>대부분 최신으로만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질문에 적은 버전으로 (적지 않으면 최신 1.4.5), 되돌리기 포함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320834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● 문제와 해결   만든 것   평가와 결과   배운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근거 데이터 · 2번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고칠 때 볼 근거를 미리 만들어 두었습니다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9,155줄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경로 → 1.x 경로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42개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메서드 대응표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.run() → .invoke()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295개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공식 문서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최신 271 · 가이드 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2880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89720" y="205740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11,945개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34640"/>
            <a:ext cx="2011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검색용 조각 (청크)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Chroma Cloud + 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출처 4가지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526280"/>
          <a:ext cx="1081735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724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PyPI 패키지 코드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langchain-cli 변환 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최신 공식 문서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0.3.30 옛 마이그레이션 가이드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버전별 도구 목록 42개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공식 자동 변환 규칙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임베딩: text-embedding-3-small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옛 방식 → 새 방식 설명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6 · 2026-10-15 팀 저장소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385000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시스템 구조 · 1번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네 단계를 거치고, 실패하면 되돌아갑니다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질문 분류 → 코드 변환이면 아래 파이프라인 · LangChain 질문은 문서 검색으로 답 · 일반 질문은 바로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1번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①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바꿀 부분 찾기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9816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2번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② 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대응표 정확 매칭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하이브리드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2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③ rewriter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ID를 붙여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코드 다시 쓰기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8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9208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2088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담당 3번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LLM 없이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11가지 검사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4" y="2944368"/>
            <a:ext cx="28346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0344" y="214884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93224" y="231343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담당 4번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58775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 →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990088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결과 패널 표시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TiDB에 대화 저장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6468" y="3749039"/>
            <a:ext cx="0" cy="594361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854196" y="4343400"/>
            <a:ext cx="4462272" cy="0"/>
          </a:xfrm>
          <a:prstGeom prst="line">
            <a:avLst/>
          </a:prstGeom>
          <a:ln w="19050">
            <a:solidFill>
              <a:srgbClr val="B44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854196" y="3794760"/>
            <a:ext cx="0" cy="548640"/>
          </a:xfrm>
          <a:prstGeom prst="line">
            <a:avLst/>
          </a:prstGeom>
          <a:ln w="19050">
            <a:solidFill>
              <a:srgbClr val="B4471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39796" y="4434840"/>
            <a:ext cx="6291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검증 실패 → 실패 이유 + 틀린 근거 제외로 다시 검색 (최대 3회)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연결 · 재시도 · 질문 분류: 1번 (LangGraph)   ·   목표 버전: 질문에서 읽음 (기본 최신 1.4.5)   ·   모델: gpt-4o-mini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4491677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· 3번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verifier는 LLM 없이 11가지를 검사합니다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파이썬 문법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01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근거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보여 준 근거만 썼는지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변경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기록 없는 변경 = 환각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7830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189280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4048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경로가 남았는지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import 존재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1.x에 그 경로가 있는지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301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남은 옛 메서드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.run() 같은 옛 호출 (경고)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733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안 쓰는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필요 없는 import가 남았나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16568" y="3264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291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반환값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776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문자열 결과를 잃지 않았나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정의 안 된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실행하면 NameError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301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출력 꺼내기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['text'] 잘못 꺼내기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73368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체인 입출력 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5148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키와 같은지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526280"/>
            <a:ext cx="2560320" cy="1207008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16568" y="4690872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오류 → 다시 시도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경고 → 결과에 표시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5133345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화면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결과와 근거를 한 화면에서 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2237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C2B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37559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[화면 캡처]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확인용 예제를 보낸 뒤 결과 패널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(검증 통과 배지 · 원래 → 바꾼 버전 · 전후 비교 빨강 · 초록)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83879" y="1828800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83879" y="192024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말로 부탁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2311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"0.2로 되돌려 줘" · 버전 선택 상자 없음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2596896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83879" y="2688336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진행 단계 실시간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992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찾기 → 근거 → 고치기 → 검사 (다시 시도까지)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83879" y="3364991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83879" y="3456432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 패널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767328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전후 비교 · 변경 사항 · 근거 · 검사 결과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79" y="4133087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79" y="4224527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받기 · 다시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35424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.py · 변경 리포트 .md · 실패 시 버튼 하나로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79" y="4901183"/>
            <a:ext cx="3319273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83879" y="4992623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대화 저장 · 예제 30개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30352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대화마다 세션, 사이드바 예제 바로 보내기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5775013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대화 기록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TiDB에 사용자와 대화를 저장합니다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840480" cy="1655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3840480" cy="2807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3840480" cy="502920"/>
          </a:xfrm>
          <a:prstGeom prst="roundRect">
            <a:avLst>
              <a:gd name="adj" fmla="val 6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49240" y="1938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chat_history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3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uuid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4231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072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07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072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912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session_id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1912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912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7530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35753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7530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9593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9593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593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3434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433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43434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Consolas"/>
                <a:ea typeface="Consolas"/>
                <a:cs typeface="Consolas"/>
              </a:rPr>
              <a:t>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43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IDX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26280" y="2990088"/>
            <a:ext cx="594360" cy="0"/>
          </a:xfrm>
          <a:prstGeom prst="line">
            <a:avLst/>
          </a:prstGeom>
          <a:ln w="25400">
            <a:solidFill>
              <a:srgbClr val="1F5F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480560" y="2606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 :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아이디 중복 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1671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가입 전 확인 + UNIQUE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+ 답 = 한 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대화 = 새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목록 · 다시 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9959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session_id로 묶고 시간순으로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키가 없을 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91032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로컬 저장으로 넘어가고 이유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6416681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● 만든 것   평가와 결과   배운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실험 설계 · 4번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같은 질문 30개, 같은 조건으로 비교합니다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1.x로 올리기 30개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10가지 유형 × 3: import 경로 · 로더 · 임베딩 · LLMChain → LCEL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체인 조합 · RAG · 메모리 · 에이전트 · 출력 파서 · 실무 상황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난이도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쉬움 7 · 중간 15 · 어려움 8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실제 사용자처럼 '요청 문장 + 옛 코드'로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미리 확인 (36/36)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코드가 1.x에서 깨지는지, 기대 import가 되는지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+ 버전 오가기 6개 (되돌리기 · 중간 단계)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828800"/>
          <a:ext cx="5376671" cy="3584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3822191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일반 LLM vs 우리 챗봇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양쪽 같은 [모델명], temperature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같은 요청 문장 + 같은 코드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채점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verifier와 같은 검사 기준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최대 시도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3회 (우리 챗봇)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검증 통과율 · 근거 포함률 · 재시도 효과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7058349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실제 실행 · 2026-10-14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6F5F1"/>
                </a:solidFill>
                <a:latin typeface="맑은 고딕"/>
                <a:ea typeface="맑은 고딕"/>
                <a:cs typeface="맑은 고딕"/>
              </a:rPr>
              <a:t>LLMChain 코드가 3회차에 통과했습니다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변경 전 (옛 코드)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langchain.chat_models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langchain.chains import LLMChain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LLMChain(llm=llm, prompt=PromptTemplate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.from_template('{word}의 반대말은?'))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print(chain.run(word='크다'))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9659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변경 후 (팀 그래프 결과)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28600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langchain_openai import ChatOpenAI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langchain_core.prompts import PromptTemplate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from langchain_core.output_parsers import StrOutputParser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llm = ChatOpenAI(temperature=0)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chain = PromptTemplate.from_template(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    '{word}의 반대말은?') | llm | StrOutputParser()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print(chain.invoke({'word': '크다'}))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3회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검사 통과까지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39312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6줄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바뀐 줄 모두 근거 ID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(imap · mmap · doc)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64224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0줄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근거 부족으로 못 바꾼 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434840"/>
            <a:ext cx="2542032" cy="13258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4526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2A27E"/>
                </a:solidFill>
                <a:latin typeface="맑은 고딕"/>
                <a:ea typeface="맑은 고딕"/>
                <a:cs typeface="맑은 고딕"/>
              </a:rPr>
              <a:t>약 1분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0749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한 번 변환에 걸린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LangChain 마이그레이션 도우미 · 12 · 화면 캡처는 9장 · 같은 코드를 두 번 실행해 두 번 모두 3회차 통과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7700017" cy="54864"/>
          </a:xfrm>
          <a:prstGeom prst="rect">
            <a:avLst/>
          </a:prstGeom>
          <a:solidFill>
            <a:srgbClr val="7FB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실제 실행 · 2026-10-15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질문 하나로, 알아서 세 갈래로 답합니다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일반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"안녕하세요"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2.5초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4767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일반 답변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LangChain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"0.3 → 1.0, LLMChain은 어떻게 바뀌었어?"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437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12.5초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4378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문서를 찾아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7398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최신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옛 코드 + "최신으로 바꿔 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39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16초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3989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목표 1.4.5 · 1회 만에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17136"/>
            <a:ext cx="7040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63600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코드 변환 · 되돌리기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새 코드 + "0.2에서 돌아가게"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360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28초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7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목표 0.2.17 · 3회 모두 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828800"/>
            <a:ext cx="3502152" cy="3438144"/>
          </a:xfrm>
          <a:prstGeom prst="roundRect">
            <a:avLst>
              <a:gd name="adj" fmla="val 6000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화면 진행 표시 (실제 기록)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31720"/>
            <a:ext cx="31089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질문 종류: 코드 변환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① 바꿀 부분 3곳 · 목표 1.4.5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9개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5곳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1회차 실패 → 다시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② 근거 14개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③ 6곳 고침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E8ECF1"/>
                </a:solidFill>
                <a:latin typeface="Consolas"/>
                <a:ea typeface="Consolas"/>
                <a:cs typeface="Consolas"/>
              </a:rPr>
              <a:t>✓ ④ 검사 통과 (2회차)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13 · 화면 → 최상위 그래프(supervisor) 연결 후 시험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8341686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[결과 한 줄 요약]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우리 챗봇 · 검증 통과율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471B"/>
                </a:solidFill>
                <a:latin typeface="맑은 고딕"/>
                <a:ea typeface="맑은 고딕"/>
                <a:cs typeface="맑은 고딕"/>
              </a:rPr>
              <a:t>일반 LLM · 검증 통과율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근거 포함률 [__]%  ·  질문 30개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6656832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C2B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3566160"/>
            <a:ext cx="6656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[그래프 삽입]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난이도 · 유형별 검증 통과율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8983354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검증 루프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다시 고치는 루프가 통과율을 [+__%p] 올렸습니다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C2B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[그래프 삽입]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1회차 → 2회차 → 3회차 누적 통과율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0" y="18288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1회차 통과율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32004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최종 통과율 (최대 3회)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[__]%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572000"/>
            <a:ext cx="3639312" cy="0"/>
          </a:xfrm>
          <a:prstGeom prst="line">
            <a:avLst/>
          </a:prstGeom>
          <a:ln w="12700">
            <a:solidFill>
              <a:srgbClr val="D4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통과까지 평균 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0749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[__]회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9625022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● 평가와 결과   배운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만들면서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통과했다고 끝이 아니었습니다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지원 종료 중인 패키지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langchain-community는 import만 해도 '지원 종료 중' 경고를 냅니다. 지금 통과해도 곧 깨질 수 있어요.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langchain-community 0.4.2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8456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classic 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LLMChain을 langchain_classic에서 가져오면 import는 통과하지만, 최신 방식(LCEL)은 아닙니다.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대응표 · 화면에 '옛 창고(classic)'로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옛 버전끼리는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0.0.300 ~ 0.3.30 사이에는 자주 쓰는 import 경로가 거의 같습니다. 크게 바뀌는 것은 1.x와의 사이입니다.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버전별 도구 목록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828800"/>
            <a:ext cx="2596896" cy="32918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 w="9525">
            <a:solidFill>
              <a:srgbClr val="1F5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16568" y="20116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검사기가 환각을 잡음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7432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363"/>
                </a:solidFill>
                <a:latin typeface="맑은 고딕"/>
                <a:ea typeface="맑은 고딕"/>
                <a:cs typeface="맑은 고딕"/>
              </a:rPr>
              <a:t>다시 쓰기가 상관없는 문서의 예시 코드(ChatCerebras)를 베꼈지만, 검사기가 '기록 없는 변경'으로 정확히 걸러 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2026-10-15 시험 · 2 · 3번에 개선 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0266690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5FAE"/>
                </a:solidFill>
                <a:latin typeface="맑은 고딕"/>
                <a:ea typeface="맑은 고딕"/>
                <a:cs typeface="맑은 고딕"/>
              </a:rPr>
              <a:t>한계와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B2433"/>
                </a:solidFill>
                <a:latin typeface="맑은 고딕"/>
                <a:ea typeface="맑은 고딕"/>
                <a:cs typeface="맑은 고딕"/>
              </a:rPr>
              <a:t>통과가 곧 정답은 아닙니다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817352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720"/>
                <a:gridCol w="505663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다음 단계</a:t>
                      </a:r>
                    </a:p>
                  </a:txBody>
                  <a:tcPr marL="109728" marR="109728" marT="45720" marB="45720" anchor="ctr">
                    <a:solidFill>
                      <a:srgbClr val="ECEBE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코드 검사까지 하지만, 실제 실행 결과가 맞는지는 확인 못 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가짜 LLM을 넣어 코드 전체를 실제로 실행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되돌리기는 아직 통과율이 낮고, 상관없는 문서 예시를 베끼기도 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상관없는 문서 거르기 · 틀린 근거는 다음 시도에서 빼기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검사 · 재시도로 한 번 변환에 약 1분 (진행은 실시간 표시)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쉬운 import는 대응표만으로 바로 답하기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질문 30개, 팀이 직접 구축 · LangChain만 대상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433"/>
                          </a:solidFill>
                          <a:latin typeface="맑은 고딕"/>
                          <a:ea typeface="맑은 고딕"/>
                        </a:rPr>
                        <a:t>실사용 코드로 확장, pydantic · OpenAI SDK 등으로 확장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LangChain 마이그레이션 도우미 ·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0908358" cy="54864"/>
          </a:xfrm>
          <a:prstGeom prst="rect">
            <a:avLst/>
          </a:prstGeom>
          <a:solidFill>
            <a:srgbClr val="1F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라이브러리가 바뀔 때마다,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근거와 함께 확인된 코드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에러를 하나씩 검색하는 대신, 근거가 붙은 답을 바로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434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바뀐 줄마다 근거와 설명, 몇 번 만에 검사를 통과했는지 함께 제시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4297680"/>
            <a:ext cx="3429000" cy="0"/>
          </a:xfrm>
          <a:prstGeom prst="line">
            <a:avLst/>
          </a:prstGeom>
          <a:ln w="19050">
            <a:solidFill>
              <a:srgbClr val="8DB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01000" y="44805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3776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4EEFB"/>
                </a:solidFill>
                <a:latin typeface="맑은 고딕"/>
                <a:ea typeface="맑은 고딕"/>
                <a:cs typeface="맑은 고딕"/>
              </a:rPr>
              <a:t>대응표 · 문서 · 검사 기준만 바꾸면 다른 라이브러리에도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LangChain 마이그레이션 도우미 ·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A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155002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D6E5F8"/>
                </a:solidFill>
                <a:latin typeface="맑은 고딕"/>
                <a:ea typeface="맑은 고딕"/>
                <a:cs typeface="맑은 고딕"/>
              </a:rPr>
              <a:t>문제와 해결   만든 것   평가와 결과   ● 배운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B2F0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1번 · [이름]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그래프 · 백엔드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최상위 그래프 · 질문 분류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analyzer · 재시도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2번 · [이름]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데이터 ·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대응표 · 청킹 · Chroma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하이브리드 검색 · 목표 버전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3번 · [이름]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변환 ·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State · rewriter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verifier 11가지 검사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96012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1E2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4번 · [이름]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417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화면 · DB · 평가 ·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Streamlit 화면 · TiDB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진행 표시 · 질문 36개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1EC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B9C3CF"/>
                </a:solidFill>
                <a:latin typeface="맑은 고딕"/>
                <a:ea typeface="맑은 고딕"/>
                <a:cs typeface="맑은 고딕"/>
              </a:rPr>
              <a:t>질문 받겠습니다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팀 저장소 github.com/SKNETWORKS-FAMILY-AICAMP/SKN35-3rd-4Team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9AAD"/>
                </a:solidFill>
                <a:latin typeface="맑은 고딕"/>
                <a:ea typeface="맑은 고딕"/>
                <a:cs typeface="맑은 고딕"/>
              </a:rPr>
              <a:t>배포 github.com/SKN35shimsungwook/langchain-migration-assistant · [배포 주소]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